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6" r:id="rId22"/>
    <p:sldId id="277" r:id="rId23"/>
    <p:sldId id="287" r:id="rId24"/>
    <p:sldId id="279" r:id="rId25"/>
    <p:sldId id="286" r:id="rId26"/>
    <p:sldId id="278" r:id="rId27"/>
    <p:sldId id="283" r:id="rId28"/>
    <p:sldId id="281" r:id="rId29"/>
    <p:sldId id="280" r:id="rId30"/>
    <p:sldId id="282" r:id="rId31"/>
    <p:sldId id="285" r:id="rId32"/>
    <p:sldId id="293" r:id="rId33"/>
    <p:sldId id="294" r:id="rId34"/>
    <p:sldId id="291" r:id="rId35"/>
    <p:sldId id="292" r:id="rId36"/>
    <p:sldId id="295" r:id="rId37"/>
    <p:sldId id="296" r:id="rId38"/>
    <p:sldId id="297" r:id="rId39"/>
    <p:sldId id="298" r:id="rId40"/>
    <p:sldId id="299" r:id="rId41"/>
    <p:sldId id="300" r:id="rId42"/>
    <p:sldId id="301" r:id="rId43"/>
    <p:sldId id="302" r:id="rId44"/>
    <p:sldId id="304" r:id="rId45"/>
    <p:sldId id="303" r:id="rId46"/>
    <p:sldId id="305" r:id="rId47"/>
    <p:sldId id="306" r:id="rId48"/>
    <p:sldId id="307" r:id="rId49"/>
    <p:sldId id="308" r:id="rId50"/>
    <p:sldId id="309" r:id="rId51"/>
    <p:sldId id="310" r:id="rId52"/>
    <p:sldId id="311" r:id="rId53"/>
    <p:sldId id="312" r:id="rId54"/>
    <p:sldId id="313" r:id="rId55"/>
    <p:sldId id="314" r:id="rId56"/>
    <p:sldId id="316" r:id="rId57"/>
    <p:sldId id="317" r:id="rId58"/>
    <p:sldId id="318" r:id="rId59"/>
    <p:sldId id="319" r:id="rId60"/>
    <p:sldId id="315" r:id="rId61"/>
    <p:sldId id="320" r:id="rId62"/>
    <p:sldId id="321" r:id="rId63"/>
    <p:sldId id="322" r:id="rId64"/>
    <p:sldId id="323" r:id="rId65"/>
    <p:sldId id="324" r:id="rId66"/>
    <p:sldId id="325" r:id="rId67"/>
    <p:sldId id="326" r:id="rId68"/>
    <p:sldId id="327" r:id="rId69"/>
    <p:sldId id="328" r:id="rId70"/>
    <p:sldId id="284" r:id="rId71"/>
    <p:sldId id="288" r:id="rId72"/>
    <p:sldId id="289" r:id="rId73"/>
    <p:sldId id="290" r:id="rId7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98" d="100"/>
          <a:sy n="98" d="100"/>
        </p:scale>
        <p:origin x="55" y="3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E7950-DFEB-B403-2B43-F9452AC82E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37D721CE-FF60-064B-3550-038408DAFB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0099C0C5-098C-1672-8072-B8212462FEAF}"/>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5" name="Footer Placeholder 4">
            <a:extLst>
              <a:ext uri="{FF2B5EF4-FFF2-40B4-BE49-F238E27FC236}">
                <a16:creationId xmlns:a16="http://schemas.microsoft.com/office/drawing/2014/main" id="{0344DCA2-D56C-BBA7-D132-CE12AF00A3F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35DCCF6-8A84-7D92-2A4E-5BDB87D4A882}"/>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2715897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5763-6FC2-9133-4C42-F38A76B9DFCD}"/>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6E8D29D-C1BC-594E-7E04-5C46692B7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6BF37818-AEC3-640D-A3AE-18A5123041BB}"/>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5" name="Footer Placeholder 4">
            <a:extLst>
              <a:ext uri="{FF2B5EF4-FFF2-40B4-BE49-F238E27FC236}">
                <a16:creationId xmlns:a16="http://schemas.microsoft.com/office/drawing/2014/main" id="{F3A937E6-AAF3-7389-3DBC-4EFB9F8E998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ED15ED4-8C0B-4928-878A-59ACA474E76A}"/>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418818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2C1A-2247-C42C-0C96-087FC19588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99609EBC-0093-9414-8B5E-9839172920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E6A18C-4B28-86E8-6566-93FB81A2E52E}"/>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5" name="Footer Placeholder 4">
            <a:extLst>
              <a:ext uri="{FF2B5EF4-FFF2-40B4-BE49-F238E27FC236}">
                <a16:creationId xmlns:a16="http://schemas.microsoft.com/office/drawing/2014/main" id="{ABB446DB-DDE1-4E64-C80C-CC349857A3C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76D3486-7650-1FA8-8E5A-E9356C0B9D6B}"/>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2874344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85C63-A1AD-38A1-8EB1-FC6ED3545C4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003D6244-4481-9245-3FDD-EF9BBD3038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7F5E7398-C8E9-0BA1-F63A-CA76DB9F6C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0440ECFC-86ED-EE82-3A8E-0DFAD027B07E}"/>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6" name="Footer Placeholder 5">
            <a:extLst>
              <a:ext uri="{FF2B5EF4-FFF2-40B4-BE49-F238E27FC236}">
                <a16:creationId xmlns:a16="http://schemas.microsoft.com/office/drawing/2014/main" id="{B977AA9E-33EB-3825-0422-3BD25C3E839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98E24FC-F67D-7F8C-5951-1D3416E0F282}"/>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145794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937A8-AEEE-8737-8C98-B630DE558F91}"/>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FE960DC-5982-D27B-9720-05A0CEEF2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30A0F2-18C0-9442-9633-93CF38133E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83F9F217-A6AE-03FE-6888-F24CC725B2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6CBA3F-C283-A74B-453A-D82B84039E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AA390F9A-7ECA-E763-9B7C-83934F6FC37D}"/>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8" name="Footer Placeholder 7">
            <a:extLst>
              <a:ext uri="{FF2B5EF4-FFF2-40B4-BE49-F238E27FC236}">
                <a16:creationId xmlns:a16="http://schemas.microsoft.com/office/drawing/2014/main" id="{3E6DAA66-A89F-DDB7-FA5C-45E39C98FAB0}"/>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1981A584-FC54-312D-22FF-EBBFA1F66FFB}"/>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2552720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5E381-7ED9-D478-444F-FD18063DE9BE}"/>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6C64DF23-B738-3474-3A9A-573F6D60223D}"/>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4" name="Footer Placeholder 3">
            <a:extLst>
              <a:ext uri="{FF2B5EF4-FFF2-40B4-BE49-F238E27FC236}">
                <a16:creationId xmlns:a16="http://schemas.microsoft.com/office/drawing/2014/main" id="{EE04AAD9-53DA-7958-71FC-A2E177B82725}"/>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11E018A9-7ECA-CCCA-E10F-986329EFCBA0}"/>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520757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D7DCE7-DC21-E252-A54B-90B11BB3C626}"/>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3" name="Footer Placeholder 2">
            <a:extLst>
              <a:ext uri="{FF2B5EF4-FFF2-40B4-BE49-F238E27FC236}">
                <a16:creationId xmlns:a16="http://schemas.microsoft.com/office/drawing/2014/main" id="{CB5EC177-D1CF-0B2B-0791-E54E3641BA5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0619E48D-4265-2F3B-652A-D383E3BB71D0}"/>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84479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7356-933C-57AC-FF38-69B31628C5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278008DF-8709-084F-C801-ABDB1DCF85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D1E8C6F8-1157-1C60-A79E-4919E5ECB3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F72AA4-694A-0DF4-9937-0A7A0CF532F5}"/>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6" name="Footer Placeholder 5">
            <a:extLst>
              <a:ext uri="{FF2B5EF4-FFF2-40B4-BE49-F238E27FC236}">
                <a16:creationId xmlns:a16="http://schemas.microsoft.com/office/drawing/2014/main" id="{772D6DAD-EC07-A144-E8EC-E4C631F8A26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19D0B26-C01E-8232-A110-6D5EC6E2F917}"/>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3076033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6719B-6112-BBF5-5350-4B142966EA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5905BDF-9249-B99A-A12E-414F8DAD20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C596550D-9A99-3BC2-6EA7-7D28C0557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B7B9D6-78BF-55F8-153B-4177B38511B1}"/>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6" name="Footer Placeholder 5">
            <a:extLst>
              <a:ext uri="{FF2B5EF4-FFF2-40B4-BE49-F238E27FC236}">
                <a16:creationId xmlns:a16="http://schemas.microsoft.com/office/drawing/2014/main" id="{97AA043B-FA3D-D1E0-121E-0F5DECC0B62E}"/>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17B3DD4-3E7A-8B53-8598-FA5735EDA266}"/>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93798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FBA95-CE79-6EAE-FF33-A6785DEA3900}"/>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49F82646-7E8B-A5B2-3339-8100BF9448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8665773-0A26-2E9A-AB9B-88183659545A}"/>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5" name="Footer Placeholder 4">
            <a:extLst>
              <a:ext uri="{FF2B5EF4-FFF2-40B4-BE49-F238E27FC236}">
                <a16:creationId xmlns:a16="http://schemas.microsoft.com/office/drawing/2014/main" id="{405A1F04-E223-B198-C0FC-A7B521066FC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4266486-EA68-274C-2362-C0BE3DE4DDEC}"/>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2640716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E4E096-634C-E9CE-CCEB-18AD2A69B8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D4E0A66F-46AF-5538-4F95-84DE77BE74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27B121D5-0D8B-B145-6BB9-ED1A0A2CF1A4}"/>
              </a:ext>
            </a:extLst>
          </p:cNvPr>
          <p:cNvSpPr>
            <a:spLocks noGrp="1"/>
          </p:cNvSpPr>
          <p:nvPr>
            <p:ph type="dt" sz="half" idx="10"/>
          </p:nvPr>
        </p:nvSpPr>
        <p:spPr/>
        <p:txBody>
          <a:bodyPr/>
          <a:lstStyle/>
          <a:p>
            <a:fld id="{83BA4865-A675-4AC5-AB2B-B77A923E6674}" type="datetimeFigureOut">
              <a:rPr lang="en-NL" smtClean="0"/>
              <a:t>06/01/2026</a:t>
            </a:fld>
            <a:endParaRPr lang="en-NL"/>
          </a:p>
        </p:txBody>
      </p:sp>
      <p:sp>
        <p:nvSpPr>
          <p:cNvPr id="5" name="Footer Placeholder 4">
            <a:extLst>
              <a:ext uri="{FF2B5EF4-FFF2-40B4-BE49-F238E27FC236}">
                <a16:creationId xmlns:a16="http://schemas.microsoft.com/office/drawing/2014/main" id="{8A0CA1B2-8D45-B57E-274C-58E642A8D69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7DCC5BF-7C5F-164C-CD1A-38CCF60EF473}"/>
              </a:ext>
            </a:extLst>
          </p:cNvPr>
          <p:cNvSpPr>
            <a:spLocks noGrp="1"/>
          </p:cNvSpPr>
          <p:nvPr>
            <p:ph type="sldNum" sz="quarter" idx="12"/>
          </p:nvPr>
        </p:nvSpPr>
        <p:spPr/>
        <p:txBody>
          <a:bodyPr/>
          <a:lstStyle/>
          <a:p>
            <a:fld id="{7EE7797E-C483-4DE9-A731-8EFBFB757ABD}" type="slidenum">
              <a:rPr lang="en-NL" smtClean="0"/>
              <a:t>‹#›</a:t>
            </a:fld>
            <a:endParaRPr lang="en-NL"/>
          </a:p>
        </p:txBody>
      </p:sp>
    </p:spTree>
    <p:extLst>
      <p:ext uri="{BB962C8B-B14F-4D97-AF65-F5344CB8AC3E}">
        <p14:creationId xmlns:p14="http://schemas.microsoft.com/office/powerpoint/2010/main" val="415484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C67B03-C12C-F310-CE1A-B56C9DFF76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2D15822-1A69-0E7A-6174-D3436BE96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B36CF876-042E-34C6-8FED-F23B721131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BA4865-A675-4AC5-AB2B-B77A923E6674}" type="datetimeFigureOut">
              <a:rPr lang="en-NL" smtClean="0"/>
              <a:t>06/01/2026</a:t>
            </a:fld>
            <a:endParaRPr lang="en-NL"/>
          </a:p>
        </p:txBody>
      </p:sp>
      <p:sp>
        <p:nvSpPr>
          <p:cNvPr id="5" name="Footer Placeholder 4">
            <a:extLst>
              <a:ext uri="{FF2B5EF4-FFF2-40B4-BE49-F238E27FC236}">
                <a16:creationId xmlns:a16="http://schemas.microsoft.com/office/drawing/2014/main" id="{60820749-EEC9-6F4D-035E-B4953E183E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DBAF08C-8AA4-580B-4F3E-9C995BD653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E7797E-C483-4DE9-A731-8EFBFB757ABD}" type="slidenum">
              <a:rPr lang="en-NL" smtClean="0"/>
              <a:t>‹#›</a:t>
            </a:fld>
            <a:endParaRPr lang="en-NL"/>
          </a:p>
        </p:txBody>
      </p:sp>
    </p:spTree>
    <p:extLst>
      <p:ext uri="{BB962C8B-B14F-4D97-AF65-F5344CB8AC3E}">
        <p14:creationId xmlns:p14="http://schemas.microsoft.com/office/powerpoint/2010/main" val="4175584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prefix.cc/popular/all.sparq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hyperlink" Target="https://graphdb.ontotext.co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localhost:7200/"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blazegraph/database/wiki/Quick_Start" TargetMode="External"/><Relationship Id="rId2" Type="http://schemas.openxmlformats.org/officeDocument/2006/relationships/hyperlink" Target="https://blazegraph.com/" TargetMode="External"/><Relationship Id="rId1" Type="http://schemas.openxmlformats.org/officeDocument/2006/relationships/slideLayout" Target="../slideLayouts/slideLayout2.xml"/><Relationship Id="rId4" Type="http://schemas.openxmlformats.org/officeDocument/2006/relationships/hyperlink" Target="http://localhost:9999/blazegraph/"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w3.org/TR/rdf-sparql-query/#funcex-regex" TargetMode="External"/><Relationship Id="rId2" Type="http://schemas.openxmlformats.org/officeDocument/2006/relationships/hyperlink" Target="https://www.w3.org/TR/rdf-sparql-query/#func-langMatche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6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docs.data.world/tutorials/sparql/Your_First_Sparql_Query.html" TargetMode="External"/><Relationship Id="rId2" Type="http://schemas.openxmlformats.org/officeDocument/2006/relationships/hyperlink" Target="https://atomgraph.github.io/SPARQL-Playground/"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rdflib.readthedocs.io/en/stable/index.html" TargetMode="External"/><Relationship Id="rId2" Type="http://schemas.openxmlformats.org/officeDocument/2006/relationships/hyperlink" Target="https://owlready2.readthedocs.io/en/latest/intro.html" TargetMode="External"/><Relationship Id="rId1" Type="http://schemas.openxmlformats.org/officeDocument/2006/relationships/slideLayout" Target="../slideLayouts/slideLayout2.xml"/><Relationship Id="rId4" Type="http://schemas.openxmlformats.org/officeDocument/2006/relationships/hyperlink" Target="https://www.oclc.org/developer/news/2016/making-sense-of-linked-data-with-python.en.html"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www.ldf.fi/service/rdf-grapher" TargetMode="External"/><Relationship Id="rId2" Type="http://schemas.openxmlformats.org/officeDocument/2006/relationships/hyperlink" Target="https://support.microsoft.com/en-gb/office/database-design-basics-eb2159cf-1e30-401a-8084-bd4f9c9ca1f5" TargetMode="External"/><Relationship Id="rId1" Type="http://schemas.openxmlformats.org/officeDocument/2006/relationships/slideLayout" Target="../slideLayouts/slideLayout2.xml"/><Relationship Id="rId4" Type="http://schemas.openxmlformats.org/officeDocument/2006/relationships/hyperlink" Target="https://docs.stardog.com/tutorials/rdf-graph-data-model" TargetMode="External"/></Relationships>
</file>

<file path=ppt/slides/_rels/slide73.xml.rels><?xml version="1.0" encoding="UTF-8" standalone="yes"?>
<Relationships xmlns="http://schemas.openxmlformats.org/package/2006/relationships"><Relationship Id="rId2" Type="http://schemas.openxmlformats.org/officeDocument/2006/relationships/hyperlink" Target="https://raghavam.github.io/teaching/monsoon2018/ontmodelling/intro-owl.html#/1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28737-B856-25C1-D7D5-B854B5718F5F}"/>
              </a:ext>
            </a:extLst>
          </p:cNvPr>
          <p:cNvSpPr>
            <a:spLocks noGrp="1"/>
          </p:cNvSpPr>
          <p:nvPr>
            <p:ph type="ctrTitle"/>
          </p:nvPr>
        </p:nvSpPr>
        <p:spPr/>
        <p:txBody>
          <a:bodyPr/>
          <a:lstStyle/>
          <a:p>
            <a:r>
              <a:rPr lang="en-US" b="1" dirty="0">
                <a:solidFill>
                  <a:srgbClr val="005A9C"/>
                </a:solidFill>
                <a:effectLst/>
                <a:latin typeface="Arial" panose="020B0604020202020204" pitchFamily="34" charset="0"/>
              </a:rPr>
              <a:t>Web Ontology Language</a:t>
            </a:r>
            <a:br>
              <a:rPr lang="en-US" b="1" dirty="0">
                <a:solidFill>
                  <a:srgbClr val="005A9C"/>
                </a:solidFill>
                <a:effectLst/>
                <a:latin typeface="Arial" panose="020B0604020202020204" pitchFamily="34" charset="0"/>
              </a:rPr>
            </a:br>
            <a:endParaRPr lang="en-NL" dirty="0"/>
          </a:p>
        </p:txBody>
      </p:sp>
      <p:sp>
        <p:nvSpPr>
          <p:cNvPr id="3" name="Subtitle 2">
            <a:extLst>
              <a:ext uri="{FF2B5EF4-FFF2-40B4-BE49-F238E27FC236}">
                <a16:creationId xmlns:a16="http://schemas.microsoft.com/office/drawing/2014/main" id="{B0205505-FA9F-E0C7-6FE7-FB6FAC28E6B9}"/>
              </a:ext>
            </a:extLst>
          </p:cNvPr>
          <p:cNvSpPr>
            <a:spLocks noGrp="1"/>
          </p:cNvSpPr>
          <p:nvPr>
            <p:ph type="subTitle" idx="1"/>
          </p:nvPr>
        </p:nvSpPr>
        <p:spPr/>
        <p:txBody>
          <a:bodyPr/>
          <a:lstStyle/>
          <a:p>
            <a:r>
              <a:rPr lang="en-US" dirty="0"/>
              <a:t>Elham</a:t>
            </a:r>
            <a:endParaRPr lang="en-NL" dirty="0"/>
          </a:p>
        </p:txBody>
      </p:sp>
    </p:spTree>
    <p:extLst>
      <p:ext uri="{BB962C8B-B14F-4D97-AF65-F5344CB8AC3E}">
        <p14:creationId xmlns:p14="http://schemas.microsoft.com/office/powerpoint/2010/main" val="3653403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AFFB-A86C-F514-4F1D-EAC3988D8D79}"/>
              </a:ext>
            </a:extLst>
          </p:cNvPr>
          <p:cNvSpPr>
            <a:spLocks noGrp="1"/>
          </p:cNvSpPr>
          <p:nvPr>
            <p:ph type="title"/>
          </p:nvPr>
        </p:nvSpPr>
        <p:spPr/>
        <p:txBody>
          <a:bodyPr/>
          <a:lstStyle/>
          <a:p>
            <a:r>
              <a:rPr lang="en-US" dirty="0"/>
              <a:t>Introduction</a:t>
            </a:r>
            <a:endParaRPr lang="en-NL" dirty="0"/>
          </a:p>
        </p:txBody>
      </p:sp>
      <p:sp>
        <p:nvSpPr>
          <p:cNvPr id="3" name="Content Placeholder 2">
            <a:extLst>
              <a:ext uri="{FF2B5EF4-FFF2-40B4-BE49-F238E27FC236}">
                <a16:creationId xmlns:a16="http://schemas.microsoft.com/office/drawing/2014/main" id="{3EFF8D40-E06B-E9CE-4906-2608A5D33110}"/>
              </a:ext>
            </a:extLst>
          </p:cNvPr>
          <p:cNvSpPr>
            <a:spLocks noGrp="1"/>
          </p:cNvSpPr>
          <p:nvPr>
            <p:ph idx="1"/>
          </p:nvPr>
        </p:nvSpPr>
        <p:spPr/>
        <p:txBody>
          <a:bodyPr/>
          <a:lstStyle/>
          <a:p>
            <a:r>
              <a:rPr lang="en-US" b="0" i="0" dirty="0">
                <a:solidFill>
                  <a:srgbClr val="000000"/>
                </a:solidFill>
                <a:effectLst/>
                <a:latin typeface="Arial" panose="020B0604020202020204" pitchFamily="34" charset="0"/>
              </a:rPr>
              <a:t>Web Ontology Language (OWL) is a Semantic Web language designed to represent rich and complex knowledge about things, groups of things, and relations between things.</a:t>
            </a:r>
          </a:p>
          <a:p>
            <a:r>
              <a:rPr lang="en-US" b="0" i="0" dirty="0">
                <a:solidFill>
                  <a:srgbClr val="000000"/>
                </a:solidFill>
                <a:effectLst/>
                <a:latin typeface="Arial" panose="020B0604020202020204" pitchFamily="34" charset="0"/>
              </a:rPr>
              <a:t>It is a knowledge representation language, designed to formulate, exchange, and reason with knowledge about a domain of interest ( often called vocabulary).</a:t>
            </a:r>
            <a:endParaRPr lang="en-NL" dirty="0"/>
          </a:p>
        </p:txBody>
      </p:sp>
    </p:spTree>
    <p:extLst>
      <p:ext uri="{BB962C8B-B14F-4D97-AF65-F5344CB8AC3E}">
        <p14:creationId xmlns:p14="http://schemas.microsoft.com/office/powerpoint/2010/main" val="3139612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6238-C268-149E-E26F-355904261303}"/>
              </a:ext>
            </a:extLst>
          </p:cNvPr>
          <p:cNvSpPr>
            <a:spLocks noGrp="1"/>
          </p:cNvSpPr>
          <p:nvPr>
            <p:ph type="title"/>
          </p:nvPr>
        </p:nvSpPr>
        <p:spPr/>
        <p:txBody>
          <a:bodyPr/>
          <a:lstStyle/>
          <a:p>
            <a:r>
              <a:rPr lang="en-US" dirty="0">
                <a:solidFill>
                  <a:srgbClr val="000000"/>
                </a:solidFill>
                <a:latin typeface="Arial" panose="020B0604020202020204" pitchFamily="34" charset="0"/>
              </a:rPr>
              <a:t>H</a:t>
            </a:r>
            <a:r>
              <a:rPr lang="en-US" b="0" i="0" dirty="0">
                <a:solidFill>
                  <a:srgbClr val="000000"/>
                </a:solidFill>
                <a:effectLst/>
                <a:latin typeface="Arial" panose="020B0604020202020204" pitchFamily="34" charset="0"/>
              </a:rPr>
              <a:t>ow knowledge is represented in OWL?</a:t>
            </a:r>
            <a:endParaRPr lang="en-NL" dirty="0"/>
          </a:p>
        </p:txBody>
      </p:sp>
      <p:sp>
        <p:nvSpPr>
          <p:cNvPr id="3" name="Content Placeholder 2">
            <a:extLst>
              <a:ext uri="{FF2B5EF4-FFF2-40B4-BE49-F238E27FC236}">
                <a16:creationId xmlns:a16="http://schemas.microsoft.com/office/drawing/2014/main" id="{8016B664-DF14-20B0-1091-815ED5E70926}"/>
              </a:ext>
            </a:extLst>
          </p:cNvPr>
          <p:cNvSpPr>
            <a:spLocks noGrp="1"/>
          </p:cNvSpPr>
          <p:nvPr>
            <p:ph idx="1"/>
          </p:nvPr>
        </p:nvSpPr>
        <p:spPr/>
        <p:txBody>
          <a:bodyPr/>
          <a:lstStyle/>
          <a:p>
            <a:pPr marL="0" indent="0">
              <a:buNone/>
            </a:pPr>
            <a:r>
              <a:rPr lang="en-US" b="0" i="0" dirty="0">
                <a:solidFill>
                  <a:srgbClr val="000000"/>
                </a:solidFill>
                <a:effectLst/>
                <a:latin typeface="Arial" panose="020B0604020202020204" pitchFamily="34" charset="0"/>
              </a:rPr>
              <a:t>The basic notions are:</a:t>
            </a:r>
          </a:p>
          <a:p>
            <a:pPr lvl="1"/>
            <a:r>
              <a:rPr lang="en-US" b="1" i="0" dirty="0">
                <a:solidFill>
                  <a:srgbClr val="000000"/>
                </a:solidFill>
                <a:effectLst/>
                <a:latin typeface="Arial" panose="020B0604020202020204" pitchFamily="34" charset="0"/>
              </a:rPr>
              <a:t> Axioms:</a:t>
            </a:r>
            <a:r>
              <a:rPr lang="en-US" b="0" i="0" dirty="0">
                <a:solidFill>
                  <a:srgbClr val="000000"/>
                </a:solidFill>
                <a:effectLst/>
                <a:latin typeface="Arial" panose="020B0604020202020204" pitchFamily="34" charset="0"/>
              </a:rPr>
              <a:t> the basic statements that an OWL ontology expresses</a:t>
            </a:r>
          </a:p>
          <a:p>
            <a:pPr lvl="1"/>
            <a:r>
              <a:rPr lang="en-US" b="1" i="0" dirty="0">
                <a:solidFill>
                  <a:srgbClr val="000000"/>
                </a:solidFill>
                <a:effectLst/>
                <a:latin typeface="Arial" panose="020B0604020202020204" pitchFamily="34" charset="0"/>
              </a:rPr>
              <a:t>Entities:</a:t>
            </a:r>
            <a:r>
              <a:rPr lang="en-US" b="0" i="0" dirty="0">
                <a:solidFill>
                  <a:srgbClr val="000000"/>
                </a:solidFill>
                <a:effectLst/>
                <a:latin typeface="Arial" panose="020B0604020202020204" pitchFamily="34" charset="0"/>
              </a:rPr>
              <a:t> elements used to refer to real-world objects</a:t>
            </a:r>
          </a:p>
          <a:p>
            <a:pPr lvl="1"/>
            <a:r>
              <a:rPr lang="en-US" b="1" i="0" dirty="0">
                <a:solidFill>
                  <a:srgbClr val="000000"/>
                </a:solidFill>
                <a:effectLst/>
                <a:latin typeface="Arial" panose="020B0604020202020204" pitchFamily="34" charset="0"/>
              </a:rPr>
              <a:t>Expressions:</a:t>
            </a:r>
            <a:r>
              <a:rPr lang="en-US" b="0" i="0" dirty="0">
                <a:solidFill>
                  <a:srgbClr val="000000"/>
                </a:solidFill>
                <a:effectLst/>
                <a:latin typeface="Arial" panose="020B0604020202020204" pitchFamily="34" charset="0"/>
              </a:rPr>
              <a:t> combinations of entities to form complex descriptions from basic ones</a:t>
            </a:r>
          </a:p>
        </p:txBody>
      </p:sp>
    </p:spTree>
    <p:extLst>
      <p:ext uri="{BB962C8B-B14F-4D97-AF65-F5344CB8AC3E}">
        <p14:creationId xmlns:p14="http://schemas.microsoft.com/office/powerpoint/2010/main" val="1139329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CA654-5D21-40DE-72C9-2207BAB2D0FB}"/>
              </a:ext>
            </a:extLst>
          </p:cNvPr>
          <p:cNvSpPr>
            <a:spLocks noGrp="1"/>
          </p:cNvSpPr>
          <p:nvPr>
            <p:ph type="title"/>
          </p:nvPr>
        </p:nvSpPr>
        <p:spPr/>
        <p:txBody>
          <a:bodyPr>
            <a:normAutofit fontScale="90000"/>
          </a:bodyPr>
          <a:lstStyle/>
          <a:p>
            <a:r>
              <a:rPr lang="en-US" b="0" i="0" dirty="0">
                <a:solidFill>
                  <a:srgbClr val="000000"/>
                </a:solidFill>
                <a:effectLst/>
                <a:latin typeface="Arial" panose="020B0604020202020204" pitchFamily="34" charset="0"/>
              </a:rPr>
              <a:t>Having a closer look at statements in OWL</a:t>
            </a:r>
            <a:br>
              <a:rPr lang="en-NL" dirty="0"/>
            </a:br>
            <a:r>
              <a:rPr lang="en-US" dirty="0"/>
              <a:t>Axioms</a:t>
            </a:r>
            <a:endParaRPr lang="en-NL" dirty="0"/>
          </a:p>
        </p:txBody>
      </p:sp>
      <p:sp>
        <p:nvSpPr>
          <p:cNvPr id="3" name="Content Placeholder 2">
            <a:extLst>
              <a:ext uri="{FF2B5EF4-FFF2-40B4-BE49-F238E27FC236}">
                <a16:creationId xmlns:a16="http://schemas.microsoft.com/office/drawing/2014/main" id="{98D8D00A-CC9E-87BF-BEC4-884CA37FD7A2}"/>
              </a:ext>
            </a:extLst>
          </p:cNvPr>
          <p:cNvSpPr>
            <a:spLocks noGrp="1"/>
          </p:cNvSpPr>
          <p:nvPr>
            <p:ph idx="1"/>
          </p:nvPr>
        </p:nvSpPr>
        <p:spPr/>
        <p:txBody>
          <a:bodyPr/>
          <a:lstStyle/>
          <a:p>
            <a:r>
              <a:rPr lang="en-US" dirty="0">
                <a:solidFill>
                  <a:srgbClr val="000000"/>
                </a:solidFill>
                <a:latin typeface="Arial" panose="020B0604020202020204" pitchFamily="34" charset="0"/>
              </a:rPr>
              <a:t>T</a:t>
            </a:r>
            <a:r>
              <a:rPr lang="en-US" b="0" i="0" dirty="0">
                <a:solidFill>
                  <a:srgbClr val="000000"/>
                </a:solidFill>
                <a:effectLst/>
                <a:latin typeface="Arial" panose="020B0604020202020204" pitchFamily="34" charset="0"/>
              </a:rPr>
              <a:t>o formulate knowledge explicitly, it is useful to assume that it consists of elementary pieces that are often referred to as </a:t>
            </a:r>
            <a:r>
              <a:rPr lang="en-US" b="0" i="1" dirty="0">
                <a:solidFill>
                  <a:srgbClr val="000000"/>
                </a:solidFill>
                <a:effectLst/>
                <a:latin typeface="Arial" panose="020B0604020202020204" pitchFamily="34" charset="0"/>
              </a:rPr>
              <a:t>statements</a:t>
            </a:r>
            <a:r>
              <a:rPr lang="en-US" b="0" i="0" dirty="0">
                <a:solidFill>
                  <a:srgbClr val="000000"/>
                </a:solidFill>
                <a:effectLst/>
                <a:latin typeface="Arial" panose="020B0604020202020204" pitchFamily="34" charset="0"/>
              </a:rPr>
              <a:t> or </a:t>
            </a:r>
            <a:r>
              <a:rPr lang="en-US" b="0" i="1" dirty="0">
                <a:solidFill>
                  <a:srgbClr val="000000"/>
                </a:solidFill>
                <a:effectLst/>
                <a:latin typeface="Arial" panose="020B0604020202020204" pitchFamily="34" charset="0"/>
              </a:rPr>
              <a:t>propositions</a:t>
            </a:r>
            <a:r>
              <a:rPr lang="en-US" b="0" i="0" dirty="0">
                <a:solidFill>
                  <a:srgbClr val="000000"/>
                </a:solidFill>
                <a:effectLst/>
                <a:latin typeface="Arial" panose="020B0604020202020204" pitchFamily="34" charset="0"/>
              </a:rPr>
              <a:t>.</a:t>
            </a:r>
          </a:p>
          <a:p>
            <a:r>
              <a:rPr lang="en-US" dirty="0"/>
              <a:t>Axioms are assumed to be always true</a:t>
            </a:r>
            <a:r>
              <a:rPr lang="en-US" b="0" i="0" dirty="0">
                <a:solidFill>
                  <a:srgbClr val="000000"/>
                </a:solidFill>
                <a:effectLst/>
                <a:latin typeface="Arial" panose="020B0604020202020204" pitchFamily="34" charset="0"/>
              </a:rPr>
              <a:t>.</a:t>
            </a:r>
          </a:p>
          <a:p>
            <a:r>
              <a:rPr lang="en-US" b="0" i="0" dirty="0">
                <a:solidFill>
                  <a:srgbClr val="000000"/>
                </a:solidFill>
                <a:effectLst/>
                <a:latin typeface="Arial" panose="020B0604020202020204" pitchFamily="34" charset="0"/>
              </a:rPr>
              <a:t>The way ontological axioms interact can be very subtle and difficult for people to understand. </a:t>
            </a:r>
          </a:p>
          <a:p>
            <a:r>
              <a:rPr lang="en-US" dirty="0">
                <a:solidFill>
                  <a:srgbClr val="000000"/>
                </a:solidFill>
                <a:latin typeface="Arial" panose="020B0604020202020204" pitchFamily="34" charset="0"/>
              </a:rPr>
              <a:t>Example:</a:t>
            </a:r>
          </a:p>
          <a:p>
            <a:pPr lvl="1"/>
            <a:r>
              <a:rPr lang="en-US" b="0" i="0" dirty="0">
                <a:solidFill>
                  <a:srgbClr val="000000"/>
                </a:solidFill>
                <a:effectLst/>
                <a:latin typeface="Arial" panose="020B0604020202020204" pitchFamily="34" charset="0"/>
              </a:rPr>
              <a:t>Mary is female</a:t>
            </a:r>
          </a:p>
          <a:p>
            <a:pPr lvl="1"/>
            <a:r>
              <a:rPr lang="en-US" b="0" i="0" dirty="0">
                <a:solidFill>
                  <a:srgbClr val="000000"/>
                </a:solidFill>
                <a:effectLst/>
                <a:latin typeface="Arial" panose="020B0604020202020204" pitchFamily="34" charset="0"/>
              </a:rPr>
              <a:t>John and Mary are married</a:t>
            </a:r>
            <a:endParaRPr lang="en-NL" dirty="0"/>
          </a:p>
        </p:txBody>
      </p:sp>
    </p:spTree>
    <p:extLst>
      <p:ext uri="{BB962C8B-B14F-4D97-AF65-F5344CB8AC3E}">
        <p14:creationId xmlns:p14="http://schemas.microsoft.com/office/powerpoint/2010/main" val="2678525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3B160-1D02-FF7A-0EAC-2A7C1B3C4E6B}"/>
              </a:ext>
            </a:extLst>
          </p:cNvPr>
          <p:cNvSpPr>
            <a:spLocks noGrp="1"/>
          </p:cNvSpPr>
          <p:nvPr>
            <p:ph type="title"/>
          </p:nvPr>
        </p:nvSpPr>
        <p:spPr/>
        <p:txBody>
          <a:bodyPr/>
          <a:lstStyle/>
          <a:p>
            <a:r>
              <a:rPr lang="en-US" dirty="0"/>
              <a:t>Entities</a:t>
            </a:r>
            <a:endParaRPr lang="en-NL" dirty="0"/>
          </a:p>
        </p:txBody>
      </p:sp>
      <p:sp>
        <p:nvSpPr>
          <p:cNvPr id="3" name="Content Placeholder 2">
            <a:extLst>
              <a:ext uri="{FF2B5EF4-FFF2-40B4-BE49-F238E27FC236}">
                <a16:creationId xmlns:a16="http://schemas.microsoft.com/office/drawing/2014/main" id="{400312FC-6414-DE8F-8FCC-7BBC3A3266A2}"/>
              </a:ext>
            </a:extLst>
          </p:cNvPr>
          <p:cNvSpPr>
            <a:spLocks noGrp="1"/>
          </p:cNvSpPr>
          <p:nvPr>
            <p:ph idx="1"/>
          </p:nvPr>
        </p:nvSpPr>
        <p:spPr/>
        <p:txBody>
          <a:bodyPr/>
          <a:lstStyle/>
          <a:p>
            <a:r>
              <a:rPr lang="en-US" b="0" i="0" dirty="0">
                <a:solidFill>
                  <a:srgbClr val="000000"/>
                </a:solidFill>
                <a:effectLst/>
                <a:latin typeface="Arial" panose="020B0604020202020204" pitchFamily="34" charset="0"/>
              </a:rPr>
              <a:t> All atomic constituents of statements are called </a:t>
            </a:r>
            <a:r>
              <a:rPr lang="en-US" b="0" i="1" dirty="0">
                <a:solidFill>
                  <a:srgbClr val="000000"/>
                </a:solidFill>
                <a:effectLst/>
                <a:latin typeface="Arial" panose="020B0604020202020204" pitchFamily="34" charset="0"/>
              </a:rPr>
              <a:t>entities</a:t>
            </a:r>
            <a:r>
              <a:rPr lang="en-US" b="0" i="0" dirty="0">
                <a:solidFill>
                  <a:srgbClr val="000000"/>
                </a:solidFill>
                <a:effectLst/>
                <a:latin typeface="Arial" panose="020B0604020202020204" pitchFamily="34" charset="0"/>
              </a:rPr>
              <a:t>.</a:t>
            </a:r>
          </a:p>
          <a:p>
            <a:pPr lvl="1"/>
            <a:r>
              <a:rPr lang="en-US" b="0" i="0" dirty="0">
                <a:solidFill>
                  <a:srgbClr val="000000"/>
                </a:solidFill>
                <a:effectLst/>
                <a:latin typeface="Arial" panose="020B0604020202020204" pitchFamily="34" charset="0"/>
              </a:rPr>
              <a:t>objects (John, Mary) </a:t>
            </a:r>
          </a:p>
          <a:p>
            <a:pPr lvl="1"/>
            <a:r>
              <a:rPr lang="en-US" b="0" i="0" dirty="0">
                <a:solidFill>
                  <a:srgbClr val="000000"/>
                </a:solidFill>
                <a:effectLst/>
                <a:latin typeface="Arial" panose="020B0604020202020204" pitchFamily="34" charset="0"/>
              </a:rPr>
              <a:t>categories (female)</a:t>
            </a:r>
          </a:p>
          <a:p>
            <a:pPr lvl="1"/>
            <a:r>
              <a:rPr lang="en-US" b="0" i="0" dirty="0">
                <a:solidFill>
                  <a:srgbClr val="000000"/>
                </a:solidFill>
                <a:effectLst/>
                <a:latin typeface="Arial" panose="020B0604020202020204" pitchFamily="34" charset="0"/>
              </a:rPr>
              <a:t>relations (married)</a:t>
            </a:r>
          </a:p>
          <a:p>
            <a:r>
              <a:rPr lang="en-US" b="0" i="0" dirty="0">
                <a:solidFill>
                  <a:srgbClr val="000000"/>
                </a:solidFill>
                <a:effectLst/>
                <a:latin typeface="Arial" panose="020B0604020202020204" pitchFamily="34" charset="0"/>
              </a:rPr>
              <a:t> we denote objects as </a:t>
            </a:r>
            <a:r>
              <a:rPr lang="en-US" b="0" i="1" dirty="0">
                <a:solidFill>
                  <a:srgbClr val="000000"/>
                </a:solidFill>
                <a:effectLst/>
                <a:latin typeface="Arial" panose="020B0604020202020204" pitchFamily="34" charset="0"/>
              </a:rPr>
              <a:t>individuals</a:t>
            </a:r>
            <a:r>
              <a:rPr lang="en-US" b="0" i="0" dirty="0">
                <a:solidFill>
                  <a:srgbClr val="000000"/>
                </a:solidFill>
                <a:effectLst/>
                <a:latin typeface="Arial" panose="020B0604020202020204" pitchFamily="34" charset="0"/>
              </a:rPr>
              <a:t>, categories as </a:t>
            </a:r>
            <a:r>
              <a:rPr lang="en-US" b="0" i="1" dirty="0">
                <a:solidFill>
                  <a:srgbClr val="000000"/>
                </a:solidFill>
                <a:effectLst/>
                <a:latin typeface="Arial" panose="020B0604020202020204" pitchFamily="34" charset="0"/>
              </a:rPr>
              <a:t>classes</a:t>
            </a:r>
            <a:r>
              <a:rPr lang="en-US" b="0" i="0" dirty="0">
                <a:solidFill>
                  <a:srgbClr val="000000"/>
                </a:solidFill>
                <a:effectLst/>
                <a:latin typeface="Arial" panose="020B0604020202020204" pitchFamily="34" charset="0"/>
              </a:rPr>
              <a:t> and relations as </a:t>
            </a:r>
            <a:r>
              <a:rPr lang="en-US" b="0" i="1" dirty="0">
                <a:solidFill>
                  <a:srgbClr val="000000"/>
                </a:solidFill>
                <a:effectLst/>
                <a:latin typeface="Arial" panose="020B0604020202020204" pitchFamily="34" charset="0"/>
              </a:rPr>
              <a:t>properties</a:t>
            </a:r>
            <a:r>
              <a:rPr lang="en-US" b="0" i="0"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490001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B4E61-19C5-E3D4-2EFA-9115096FE8B9}"/>
              </a:ext>
            </a:extLst>
          </p:cNvPr>
          <p:cNvSpPr>
            <a:spLocks noGrp="1"/>
          </p:cNvSpPr>
          <p:nvPr>
            <p:ph type="title"/>
          </p:nvPr>
        </p:nvSpPr>
        <p:spPr/>
        <p:txBody>
          <a:bodyPr/>
          <a:lstStyle/>
          <a:p>
            <a:r>
              <a:rPr lang="en-US" i="1" dirty="0">
                <a:solidFill>
                  <a:srgbClr val="000000"/>
                </a:solidFill>
                <a:latin typeface="Arial" panose="020B0604020202020204" pitchFamily="34" charset="0"/>
              </a:rPr>
              <a:t>E</a:t>
            </a:r>
            <a:r>
              <a:rPr lang="en-US" b="0" i="1" dirty="0">
                <a:solidFill>
                  <a:srgbClr val="000000"/>
                </a:solidFill>
                <a:effectLst/>
                <a:latin typeface="Arial" panose="020B0604020202020204" pitchFamily="34" charset="0"/>
              </a:rPr>
              <a:t>xpressions</a:t>
            </a:r>
            <a:r>
              <a:rPr lang="en-US" b="0" i="0" dirty="0">
                <a:solidFill>
                  <a:srgbClr val="000000"/>
                </a:solidFill>
                <a:effectLst/>
                <a:latin typeface="Arial" panose="020B0604020202020204" pitchFamily="34" charset="0"/>
              </a:rPr>
              <a:t> </a:t>
            </a:r>
            <a:endParaRPr lang="en-NL" dirty="0"/>
          </a:p>
        </p:txBody>
      </p:sp>
      <p:sp>
        <p:nvSpPr>
          <p:cNvPr id="3" name="Content Placeholder 2">
            <a:extLst>
              <a:ext uri="{FF2B5EF4-FFF2-40B4-BE49-F238E27FC236}">
                <a16:creationId xmlns:a16="http://schemas.microsoft.com/office/drawing/2014/main" id="{18F8D00F-CC89-70BB-D132-9534F384B533}"/>
              </a:ext>
            </a:extLst>
          </p:cNvPr>
          <p:cNvSpPr>
            <a:spLocks noGrp="1"/>
          </p:cNvSpPr>
          <p:nvPr>
            <p:ph idx="1"/>
          </p:nvPr>
        </p:nvSpPr>
        <p:spPr/>
        <p:txBody>
          <a:bodyPr/>
          <a:lstStyle/>
          <a:p>
            <a:r>
              <a:rPr lang="en-US" dirty="0">
                <a:solidFill>
                  <a:srgbClr val="000000"/>
                </a:solidFill>
                <a:latin typeface="Arial" panose="020B0604020202020204" pitchFamily="34" charset="0"/>
              </a:rPr>
              <a:t>N</a:t>
            </a:r>
            <a:r>
              <a:rPr lang="en-US" b="0" i="0" dirty="0">
                <a:solidFill>
                  <a:srgbClr val="000000"/>
                </a:solidFill>
                <a:effectLst/>
                <a:latin typeface="Arial" panose="020B0604020202020204" pitchFamily="34" charset="0"/>
              </a:rPr>
              <a:t>ames of entities can be combined into </a:t>
            </a:r>
            <a:r>
              <a:rPr lang="en-US" b="0" i="1" dirty="0">
                <a:solidFill>
                  <a:srgbClr val="000000"/>
                </a:solidFill>
                <a:effectLst/>
                <a:latin typeface="Arial" panose="020B0604020202020204" pitchFamily="34" charset="0"/>
              </a:rPr>
              <a:t>expressions</a:t>
            </a:r>
            <a:r>
              <a:rPr lang="en-US" b="0" i="0" dirty="0">
                <a:solidFill>
                  <a:srgbClr val="000000"/>
                </a:solidFill>
                <a:effectLst/>
                <a:latin typeface="Arial" panose="020B0604020202020204" pitchFamily="34" charset="0"/>
              </a:rPr>
              <a:t> using so-called </a:t>
            </a:r>
            <a:r>
              <a:rPr lang="en-US" b="0" i="1" dirty="0">
                <a:solidFill>
                  <a:srgbClr val="000000"/>
                </a:solidFill>
                <a:effectLst/>
                <a:latin typeface="Arial" panose="020B0604020202020204" pitchFamily="34" charset="0"/>
              </a:rPr>
              <a:t>constructors</a:t>
            </a:r>
            <a:r>
              <a:rPr lang="en-US" b="0" i="0" dirty="0">
                <a:solidFill>
                  <a:srgbClr val="000000"/>
                </a:solidFill>
                <a:effectLst/>
                <a:latin typeface="Arial" panose="020B0604020202020204" pitchFamily="34" charset="0"/>
              </a:rPr>
              <a:t>.</a:t>
            </a:r>
            <a:endParaRPr lang="en-NL" dirty="0"/>
          </a:p>
        </p:txBody>
      </p:sp>
    </p:spTree>
    <p:extLst>
      <p:ext uri="{BB962C8B-B14F-4D97-AF65-F5344CB8AC3E}">
        <p14:creationId xmlns:p14="http://schemas.microsoft.com/office/powerpoint/2010/main" val="2467557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7B0A0-CF82-04BD-E4C4-BA4581F1BD8A}"/>
              </a:ext>
            </a:extLst>
          </p:cNvPr>
          <p:cNvSpPr>
            <a:spLocks noGrp="1"/>
          </p:cNvSpPr>
          <p:nvPr>
            <p:ph type="title"/>
          </p:nvPr>
        </p:nvSpPr>
        <p:spPr/>
        <p:txBody>
          <a:bodyPr/>
          <a:lstStyle/>
          <a:p>
            <a:r>
              <a:rPr lang="en-US" b="1" dirty="0">
                <a:solidFill>
                  <a:srgbClr val="005A9C"/>
                </a:solidFill>
                <a:effectLst/>
                <a:latin typeface="Arial" panose="020B0604020202020204" pitchFamily="34" charset="0"/>
              </a:rPr>
              <a:t>Classes and Instances</a:t>
            </a:r>
            <a:br>
              <a:rPr lang="en-US" b="1" dirty="0">
                <a:solidFill>
                  <a:srgbClr val="005A9C"/>
                </a:solidFill>
                <a:effectLst/>
                <a:latin typeface="Arial" panose="020B0604020202020204" pitchFamily="34" charset="0"/>
              </a:rPr>
            </a:br>
            <a:endParaRPr lang="en-NL" dirty="0"/>
          </a:p>
        </p:txBody>
      </p:sp>
      <p:sp>
        <p:nvSpPr>
          <p:cNvPr id="3" name="Content Placeholder 2">
            <a:extLst>
              <a:ext uri="{FF2B5EF4-FFF2-40B4-BE49-F238E27FC236}">
                <a16:creationId xmlns:a16="http://schemas.microsoft.com/office/drawing/2014/main" id="{6990A3B8-05A1-4576-55A1-08DBFFEE740B}"/>
              </a:ext>
            </a:extLst>
          </p:cNvPr>
          <p:cNvSpPr>
            <a:spLocks noGrp="1"/>
          </p:cNvSpPr>
          <p:nvPr>
            <p:ph idx="1"/>
          </p:nvPr>
        </p:nvSpPr>
        <p:spPr>
          <a:xfrm>
            <a:off x="692369" y="1962150"/>
            <a:ext cx="10515600" cy="4351338"/>
          </a:xfrm>
        </p:spPr>
        <p:txBody>
          <a:bodyPr/>
          <a:lstStyle/>
          <a:p>
            <a:r>
              <a:rPr lang="en-US" b="0" i="0" dirty="0">
                <a:solidFill>
                  <a:srgbClr val="000000"/>
                </a:solidFill>
                <a:effectLst/>
                <a:latin typeface="Arial" panose="020B0604020202020204" pitchFamily="34" charset="0"/>
              </a:rPr>
              <a:t>This statement talks about an individual named Mary and states that this individual is a person. </a:t>
            </a:r>
            <a:r>
              <a:rPr lang="en-US" b="0" i="0" dirty="0" err="1">
                <a:solidFill>
                  <a:srgbClr val="000000"/>
                </a:solidFill>
                <a:effectLst/>
                <a:latin typeface="Arial" panose="020B0604020202020204" pitchFamily="34" charset="0"/>
              </a:rPr>
              <a:t>Mery</a:t>
            </a:r>
            <a:r>
              <a:rPr lang="en-US" b="0" i="0" dirty="0">
                <a:solidFill>
                  <a:srgbClr val="000000"/>
                </a:solidFill>
                <a:effectLst/>
                <a:latin typeface="Arial" panose="020B0604020202020204" pitchFamily="34" charset="0"/>
              </a:rPr>
              <a:t> “is a member of” the </a:t>
            </a:r>
            <a:r>
              <a:rPr lang="en-US" b="0" i="1" dirty="0">
                <a:solidFill>
                  <a:srgbClr val="000000"/>
                </a:solidFill>
                <a:effectLst/>
                <a:latin typeface="Arial" panose="020B0604020202020204" pitchFamily="34" charset="0"/>
              </a:rPr>
              <a:t>class</a:t>
            </a:r>
            <a:r>
              <a:rPr lang="en-US" b="0" i="0" dirty="0">
                <a:solidFill>
                  <a:srgbClr val="000000"/>
                </a:solidFill>
                <a:effectLst/>
                <a:latin typeface="Arial" panose="020B0604020202020204" pitchFamily="34" charset="0"/>
              </a:rPr>
              <a:t> of all persons.</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 we can use the same type of statement to indicate that Mary is a woman by expressing that she is an instance of the class of women:</a:t>
            </a:r>
          </a:p>
          <a:p>
            <a:endParaRPr lang="en-NL" dirty="0"/>
          </a:p>
        </p:txBody>
      </p:sp>
      <p:sp>
        <p:nvSpPr>
          <p:cNvPr id="5" name="Rectangle 2">
            <a:extLst>
              <a:ext uri="{FF2B5EF4-FFF2-40B4-BE49-F238E27FC236}">
                <a16:creationId xmlns:a16="http://schemas.microsoft.com/office/drawing/2014/main" id="{F23820AF-2889-6C15-E4EB-DCB2C6800A9A}"/>
              </a:ext>
            </a:extLst>
          </p:cNvPr>
          <p:cNvSpPr>
            <a:spLocks noChangeArrowheads="1"/>
          </p:cNvSpPr>
          <p:nvPr/>
        </p:nvSpPr>
        <p:spPr bwMode="auto">
          <a:xfrm>
            <a:off x="1280038" y="3305889"/>
            <a:ext cx="5077407" cy="24622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a:ln>
                  <a:noFill/>
                </a:ln>
                <a:solidFill>
                  <a:srgbClr val="000000"/>
                </a:solidFill>
                <a:effectLst/>
                <a:latin typeface="Arial Unicode MS"/>
              </a:rPr>
              <a:t>ClassAssertion( :Person :Mary ) </a:t>
            </a:r>
            <a:endParaRPr kumimoji="0" lang="en-NL" altLang="en-NL" sz="1800" b="0" i="0" u="none" strike="noStrike" cap="none" normalizeH="0" baseline="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CF6D4A95-BEB8-66EE-6ACF-31D030C1A810}"/>
              </a:ext>
            </a:extLst>
          </p:cNvPr>
          <p:cNvSpPr>
            <a:spLocks noChangeArrowheads="1"/>
          </p:cNvSpPr>
          <p:nvPr/>
        </p:nvSpPr>
        <p:spPr bwMode="auto">
          <a:xfrm>
            <a:off x="984031" y="5149708"/>
            <a:ext cx="8550113" cy="24622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err="1">
                <a:ln>
                  <a:noFill/>
                </a:ln>
                <a:solidFill>
                  <a:srgbClr val="000000"/>
                </a:solidFill>
                <a:effectLst/>
                <a:latin typeface="Arial Unicode MS"/>
              </a:rPr>
              <a:t>ClassAssertion</a:t>
            </a:r>
            <a:r>
              <a:rPr kumimoji="0" lang="en-NL" altLang="en-NL" sz="1000" b="0" i="0" u="none" strike="noStrike" cap="none" normalizeH="0" baseline="0" dirty="0">
                <a:ln>
                  <a:noFill/>
                </a:ln>
                <a:solidFill>
                  <a:srgbClr val="000000"/>
                </a:solidFill>
                <a:effectLst/>
                <a:latin typeface="Arial Unicode MS"/>
              </a:rPr>
              <a:t>( :Woman :Mary )</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30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EB4A5-9D40-35C1-F2FC-03AF5983C275}"/>
              </a:ext>
            </a:extLst>
          </p:cNvPr>
          <p:cNvSpPr>
            <a:spLocks noGrp="1"/>
          </p:cNvSpPr>
          <p:nvPr>
            <p:ph type="title"/>
          </p:nvPr>
        </p:nvSpPr>
        <p:spPr/>
        <p:txBody>
          <a:bodyPr/>
          <a:lstStyle/>
          <a:p>
            <a:r>
              <a:rPr lang="en-US" b="1" dirty="0">
                <a:solidFill>
                  <a:srgbClr val="005A9C"/>
                </a:solidFill>
                <a:effectLst/>
                <a:latin typeface="Arial" panose="020B0604020202020204" pitchFamily="34" charset="0"/>
              </a:rPr>
              <a:t>Object Properties</a:t>
            </a:r>
            <a:br>
              <a:rPr lang="en-US" b="1" dirty="0">
                <a:solidFill>
                  <a:srgbClr val="005A9C"/>
                </a:solidFill>
                <a:effectLst/>
                <a:latin typeface="Arial" panose="020B0604020202020204" pitchFamily="34" charset="0"/>
              </a:rPr>
            </a:br>
            <a:endParaRPr lang="en-NL" dirty="0"/>
          </a:p>
        </p:txBody>
      </p:sp>
      <p:sp>
        <p:nvSpPr>
          <p:cNvPr id="3" name="Content Placeholder 2">
            <a:extLst>
              <a:ext uri="{FF2B5EF4-FFF2-40B4-BE49-F238E27FC236}">
                <a16:creationId xmlns:a16="http://schemas.microsoft.com/office/drawing/2014/main" id="{F654D993-1E89-4A01-DA6A-4341A2716972}"/>
              </a:ext>
            </a:extLst>
          </p:cNvPr>
          <p:cNvSpPr>
            <a:spLocks noGrp="1"/>
          </p:cNvSpPr>
          <p:nvPr>
            <p:ph idx="1"/>
          </p:nvPr>
        </p:nvSpPr>
        <p:spPr>
          <a:xfrm>
            <a:off x="747548" y="1865039"/>
            <a:ext cx="10515600" cy="4351338"/>
          </a:xfrm>
        </p:spPr>
        <p:txBody>
          <a:bodyPr/>
          <a:lstStyle/>
          <a:p>
            <a:r>
              <a:rPr lang="en-US" dirty="0">
                <a:solidFill>
                  <a:srgbClr val="000000"/>
                </a:solidFill>
                <a:latin typeface="Arial" panose="020B0604020202020204" pitchFamily="34" charset="0"/>
              </a:rPr>
              <a:t>A</a:t>
            </a:r>
            <a:r>
              <a:rPr lang="en-US" b="0" i="0" dirty="0">
                <a:solidFill>
                  <a:srgbClr val="000000"/>
                </a:solidFill>
                <a:effectLst/>
                <a:latin typeface="Arial" panose="020B0604020202020204" pitchFamily="34" charset="0"/>
              </a:rPr>
              <a:t>n ontology is also meant to specify how the individuals relate to other individuals. For example: “Mary is John's wife”</a:t>
            </a:r>
          </a:p>
          <a:p>
            <a:endParaRPr lang="en-US" dirty="0"/>
          </a:p>
          <a:p>
            <a:r>
              <a:rPr lang="en-US" dirty="0">
                <a:solidFill>
                  <a:srgbClr val="000000"/>
                </a:solidFill>
                <a:latin typeface="Arial" panose="020B0604020202020204" pitchFamily="34" charset="0"/>
              </a:rPr>
              <a:t>T</a:t>
            </a:r>
            <a:r>
              <a:rPr lang="en-US" b="0" i="0" dirty="0">
                <a:solidFill>
                  <a:srgbClr val="000000"/>
                </a:solidFill>
                <a:effectLst/>
                <a:latin typeface="Arial" panose="020B0604020202020204" pitchFamily="34" charset="0"/>
              </a:rPr>
              <a:t>he entities describing in which way the individuals are related – like </a:t>
            </a:r>
            <a:r>
              <a:rPr lang="en-US" b="0" i="0" dirty="0" err="1">
                <a:solidFill>
                  <a:srgbClr val="000000"/>
                </a:solidFill>
                <a:effectLst/>
                <a:latin typeface="Arial" panose="020B0604020202020204" pitchFamily="34" charset="0"/>
              </a:rPr>
              <a:t>hasWife</a:t>
            </a:r>
            <a:r>
              <a:rPr lang="en-US" b="0" i="0" dirty="0">
                <a:solidFill>
                  <a:srgbClr val="000000"/>
                </a:solidFill>
                <a:effectLst/>
                <a:latin typeface="Arial" panose="020B0604020202020204" pitchFamily="34" charset="0"/>
              </a:rPr>
              <a:t> in our case, are called </a:t>
            </a:r>
            <a:r>
              <a:rPr lang="en-US" b="0" i="1" dirty="0">
                <a:solidFill>
                  <a:srgbClr val="000000"/>
                </a:solidFill>
                <a:effectLst/>
                <a:latin typeface="Arial" panose="020B0604020202020204" pitchFamily="34" charset="0"/>
              </a:rPr>
              <a:t>properties.</a:t>
            </a:r>
            <a:endParaRPr lang="en-NL" dirty="0"/>
          </a:p>
        </p:txBody>
      </p:sp>
      <p:sp>
        <p:nvSpPr>
          <p:cNvPr id="4" name="Rectangle 1">
            <a:extLst>
              <a:ext uri="{FF2B5EF4-FFF2-40B4-BE49-F238E27FC236}">
                <a16:creationId xmlns:a16="http://schemas.microsoft.com/office/drawing/2014/main" id="{1BE3458D-3DAB-FDE0-EAD3-FC389BC73AFB}"/>
              </a:ext>
            </a:extLst>
          </p:cNvPr>
          <p:cNvSpPr>
            <a:spLocks noChangeArrowheads="1"/>
          </p:cNvSpPr>
          <p:nvPr/>
        </p:nvSpPr>
        <p:spPr bwMode="auto">
          <a:xfrm>
            <a:off x="898424" y="2857833"/>
            <a:ext cx="7774152" cy="246221"/>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err="1">
                <a:ln>
                  <a:noFill/>
                </a:ln>
                <a:solidFill>
                  <a:srgbClr val="000000"/>
                </a:solidFill>
                <a:effectLst/>
                <a:latin typeface="Arial Unicode MS"/>
              </a:rPr>
              <a:t>ObjectPropertyAssertion</a:t>
            </a:r>
            <a:r>
              <a:rPr kumimoji="0" lang="en-NL" altLang="en-NL" sz="1000" b="0" i="0" u="none" strike="noStrike" cap="none" normalizeH="0" baseline="0" dirty="0">
                <a:ln>
                  <a:noFill/>
                </a:ln>
                <a:solidFill>
                  <a:srgbClr val="000000"/>
                </a:solidFill>
                <a:effectLst/>
                <a:latin typeface="Arial Unicode MS"/>
              </a:rPr>
              <a:t>( :</a:t>
            </a:r>
            <a:r>
              <a:rPr kumimoji="0" lang="en-NL" altLang="en-NL" sz="1000" b="0" i="0" u="none" strike="noStrike" cap="none" normalizeH="0" baseline="0" dirty="0" err="1">
                <a:ln>
                  <a:noFill/>
                </a:ln>
                <a:solidFill>
                  <a:srgbClr val="000000"/>
                </a:solidFill>
                <a:effectLst/>
                <a:latin typeface="Arial Unicode MS"/>
              </a:rPr>
              <a:t>hasWife</a:t>
            </a:r>
            <a:r>
              <a:rPr kumimoji="0" lang="en-NL" altLang="en-NL" sz="1000" b="0" i="0" u="none" strike="noStrike" cap="none" normalizeH="0" baseline="0" dirty="0">
                <a:ln>
                  <a:noFill/>
                </a:ln>
                <a:solidFill>
                  <a:srgbClr val="000000"/>
                </a:solidFill>
                <a:effectLst/>
                <a:latin typeface="Arial Unicode MS"/>
              </a:rPr>
              <a:t> :John :Mary )</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1095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7358C-9149-D3D8-DEEA-546EEF69CC2B}"/>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F2A36569-CCB2-9B3A-2AC5-502DEC3992C3}"/>
              </a:ext>
            </a:extLst>
          </p:cNvPr>
          <p:cNvPicPr>
            <a:picLocks noGrp="1" noChangeAspect="1"/>
          </p:cNvPicPr>
          <p:nvPr>
            <p:ph idx="1"/>
          </p:nvPr>
        </p:nvPicPr>
        <p:blipFill>
          <a:blip r:embed="rId2"/>
          <a:stretch>
            <a:fillRect/>
          </a:stretch>
        </p:blipFill>
        <p:spPr>
          <a:xfrm>
            <a:off x="1265039" y="1969485"/>
            <a:ext cx="5779989" cy="4351338"/>
          </a:xfrm>
        </p:spPr>
      </p:pic>
    </p:spTree>
    <p:extLst>
      <p:ext uri="{BB962C8B-B14F-4D97-AF65-F5344CB8AC3E}">
        <p14:creationId xmlns:p14="http://schemas.microsoft.com/office/powerpoint/2010/main" val="2486120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3B4F2-32D6-B1AA-940D-F19B8212CF36}"/>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9815840F-22C8-CD1A-1CC0-CD167381019A}"/>
              </a:ext>
            </a:extLst>
          </p:cNvPr>
          <p:cNvPicPr>
            <a:picLocks noGrp="1" noChangeAspect="1"/>
          </p:cNvPicPr>
          <p:nvPr>
            <p:ph idx="1"/>
          </p:nvPr>
        </p:nvPicPr>
        <p:blipFill>
          <a:blip r:embed="rId2"/>
          <a:stretch>
            <a:fillRect/>
          </a:stretch>
        </p:blipFill>
        <p:spPr>
          <a:xfrm>
            <a:off x="1386440" y="1825625"/>
            <a:ext cx="9419119" cy="4351338"/>
          </a:xfrm>
        </p:spPr>
      </p:pic>
    </p:spTree>
    <p:extLst>
      <p:ext uri="{BB962C8B-B14F-4D97-AF65-F5344CB8AC3E}">
        <p14:creationId xmlns:p14="http://schemas.microsoft.com/office/powerpoint/2010/main" val="270303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28737-B856-25C1-D7D5-B854B5718F5F}"/>
              </a:ext>
            </a:extLst>
          </p:cNvPr>
          <p:cNvSpPr>
            <a:spLocks noGrp="1"/>
          </p:cNvSpPr>
          <p:nvPr>
            <p:ph type="ctrTitle"/>
          </p:nvPr>
        </p:nvSpPr>
        <p:spPr>
          <a:xfrm>
            <a:off x="1555531" y="868362"/>
            <a:ext cx="9144000" cy="2387600"/>
          </a:xfrm>
        </p:spPr>
        <p:txBody>
          <a:bodyPr/>
          <a:lstStyle/>
          <a:p>
            <a:pPr algn="l"/>
            <a:r>
              <a:rPr lang="en-US" b="1" dirty="0">
                <a:solidFill>
                  <a:srgbClr val="005A9C"/>
                </a:solidFill>
                <a:latin typeface="Arial" panose="020B0604020202020204" pitchFamily="34" charset="0"/>
              </a:rPr>
              <a:t>Understanding</a:t>
            </a:r>
            <a:r>
              <a:rPr lang="en-US" b="1" i="0" dirty="0">
                <a:solidFill>
                  <a:srgbClr val="242424"/>
                </a:solidFill>
                <a:effectLst/>
                <a:latin typeface="sohne"/>
              </a:rPr>
              <a:t> </a:t>
            </a:r>
            <a:r>
              <a:rPr lang="en-US" b="1" dirty="0">
                <a:solidFill>
                  <a:srgbClr val="005A9C"/>
                </a:solidFill>
                <a:latin typeface="Arial" panose="020B0604020202020204" pitchFamily="34" charset="0"/>
              </a:rPr>
              <a:t>Linked Data Formats</a:t>
            </a:r>
          </a:p>
        </p:txBody>
      </p:sp>
      <p:sp>
        <p:nvSpPr>
          <p:cNvPr id="3" name="Subtitle 2">
            <a:extLst>
              <a:ext uri="{FF2B5EF4-FFF2-40B4-BE49-F238E27FC236}">
                <a16:creationId xmlns:a16="http://schemas.microsoft.com/office/drawing/2014/main" id="{B0205505-FA9F-E0C7-6FE7-FB6FAC28E6B9}"/>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2303139319"/>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29EAA-C144-2C49-F54A-8D146D844D5A}"/>
              </a:ext>
            </a:extLst>
          </p:cNvPr>
          <p:cNvSpPr>
            <a:spLocks noGrp="1"/>
          </p:cNvSpPr>
          <p:nvPr>
            <p:ph type="title"/>
          </p:nvPr>
        </p:nvSpPr>
        <p:spPr/>
        <p:txBody>
          <a:bodyPr/>
          <a:lstStyle/>
          <a:p>
            <a:r>
              <a:rPr lang="en-US" b="1" i="0" dirty="0">
                <a:solidFill>
                  <a:srgbClr val="242424"/>
                </a:solidFill>
                <a:effectLst/>
                <a:latin typeface="sohne"/>
              </a:rPr>
              <a:t>Introduction</a:t>
            </a:r>
            <a:br>
              <a:rPr lang="en-US" b="1" i="0" dirty="0">
                <a:solidFill>
                  <a:srgbClr val="242424"/>
                </a:solidFill>
                <a:effectLst/>
                <a:latin typeface="sohne"/>
              </a:rPr>
            </a:br>
            <a:endParaRPr lang="en-NL" dirty="0"/>
          </a:p>
        </p:txBody>
      </p:sp>
      <p:sp>
        <p:nvSpPr>
          <p:cNvPr id="3" name="Content Placeholder 2">
            <a:extLst>
              <a:ext uri="{FF2B5EF4-FFF2-40B4-BE49-F238E27FC236}">
                <a16:creationId xmlns:a16="http://schemas.microsoft.com/office/drawing/2014/main" id="{B593ABC4-82A4-D104-7794-360888790AD7}"/>
              </a:ext>
            </a:extLst>
          </p:cNvPr>
          <p:cNvSpPr>
            <a:spLocks noGrp="1"/>
          </p:cNvSpPr>
          <p:nvPr>
            <p:ph idx="1"/>
          </p:nvPr>
        </p:nvSpPr>
        <p:spPr/>
        <p:txBody>
          <a:bodyPr>
            <a:normAutofit lnSpcReduction="10000"/>
          </a:bodyPr>
          <a:lstStyle/>
          <a:p>
            <a:r>
              <a:rPr lang="en-US" b="0" i="0" dirty="0">
                <a:solidFill>
                  <a:srgbClr val="242424"/>
                </a:solidFill>
                <a:effectLst/>
                <a:latin typeface="source-serif-pro"/>
              </a:rPr>
              <a:t>Very simply, linked data is stored as triples that consist of a subject, predicate, and object.</a:t>
            </a:r>
          </a:p>
          <a:p>
            <a:r>
              <a:rPr lang="en-US" b="0" i="0" dirty="0">
                <a:solidFill>
                  <a:srgbClr val="242424"/>
                </a:solidFill>
                <a:effectLst/>
                <a:latin typeface="source-serif-pro"/>
              </a:rPr>
              <a:t>These triples connect entities to other entities to create a directed knowledge graph:</a:t>
            </a:r>
          </a:p>
          <a:p>
            <a:endParaRPr lang="en-US" dirty="0">
              <a:solidFill>
                <a:srgbClr val="242424"/>
              </a:solidFill>
              <a:latin typeface="source-serif-pro"/>
            </a:endParaRPr>
          </a:p>
          <a:p>
            <a:endParaRPr lang="en-US" dirty="0">
              <a:solidFill>
                <a:srgbClr val="242424"/>
              </a:solidFill>
              <a:latin typeface="source-serif-pro"/>
            </a:endParaRPr>
          </a:p>
          <a:p>
            <a:endParaRPr lang="en-US" dirty="0">
              <a:solidFill>
                <a:srgbClr val="242424"/>
              </a:solidFill>
              <a:latin typeface="source-serif-pro"/>
            </a:endParaRPr>
          </a:p>
          <a:p>
            <a:endParaRPr lang="en-US" dirty="0">
              <a:solidFill>
                <a:srgbClr val="242424"/>
              </a:solidFill>
              <a:latin typeface="source-serif-pro"/>
            </a:endParaRPr>
          </a:p>
          <a:p>
            <a:r>
              <a:rPr lang="en-US" b="0" i="0" dirty="0">
                <a:solidFill>
                  <a:srgbClr val="242424"/>
                </a:solidFill>
                <a:effectLst/>
                <a:latin typeface="source-serif-pro"/>
              </a:rPr>
              <a:t>RDF is commonly stored in one of four formats: N-Triples (.</a:t>
            </a:r>
            <a:r>
              <a:rPr lang="en-US" b="0" i="0" dirty="0" err="1">
                <a:solidFill>
                  <a:srgbClr val="242424"/>
                </a:solidFill>
                <a:effectLst/>
                <a:latin typeface="source-serif-pro"/>
              </a:rPr>
              <a:t>nt</a:t>
            </a:r>
            <a:r>
              <a:rPr lang="en-US" b="0" i="0" dirty="0">
                <a:solidFill>
                  <a:srgbClr val="242424"/>
                </a:solidFill>
                <a:effectLst/>
                <a:latin typeface="source-serif-pro"/>
              </a:rPr>
              <a:t>), Turtle (.</a:t>
            </a:r>
            <a:r>
              <a:rPr lang="en-US" b="0" i="0" dirty="0" err="1">
                <a:solidFill>
                  <a:srgbClr val="242424"/>
                </a:solidFill>
                <a:effectLst/>
                <a:latin typeface="source-serif-pro"/>
              </a:rPr>
              <a:t>ttl</a:t>
            </a:r>
            <a:r>
              <a:rPr lang="en-US" b="0" i="0" dirty="0">
                <a:solidFill>
                  <a:srgbClr val="242424"/>
                </a:solidFill>
                <a:effectLst/>
                <a:latin typeface="source-serif-pro"/>
              </a:rPr>
              <a:t>), JSON-LD (.</a:t>
            </a:r>
            <a:r>
              <a:rPr lang="en-US" b="0" i="0" dirty="0" err="1">
                <a:solidFill>
                  <a:srgbClr val="242424"/>
                </a:solidFill>
                <a:effectLst/>
                <a:latin typeface="source-serif-pro"/>
              </a:rPr>
              <a:t>json</a:t>
            </a:r>
            <a:r>
              <a:rPr lang="en-US" b="0" i="0" dirty="0">
                <a:solidFill>
                  <a:srgbClr val="242424"/>
                </a:solidFill>
                <a:effectLst/>
                <a:latin typeface="source-serif-pro"/>
              </a:rPr>
              <a:t>) or RDF/XML (.</a:t>
            </a:r>
            <a:r>
              <a:rPr lang="en-US" b="0" i="0" dirty="0" err="1">
                <a:solidFill>
                  <a:srgbClr val="242424"/>
                </a:solidFill>
                <a:effectLst/>
                <a:latin typeface="source-serif-pro"/>
              </a:rPr>
              <a:t>rdf</a:t>
            </a:r>
            <a:r>
              <a:rPr lang="en-US" b="0" i="0" dirty="0">
                <a:solidFill>
                  <a:srgbClr val="242424"/>
                </a:solidFill>
                <a:effectLst/>
                <a:latin typeface="source-serif-pro"/>
              </a:rPr>
              <a:t>).</a:t>
            </a:r>
            <a:endParaRPr lang="en-NL" dirty="0"/>
          </a:p>
          <a:p>
            <a:endParaRPr lang="en-NL" dirty="0"/>
          </a:p>
        </p:txBody>
      </p:sp>
      <p:pic>
        <p:nvPicPr>
          <p:cNvPr id="5" name="Picture 4">
            <a:extLst>
              <a:ext uri="{FF2B5EF4-FFF2-40B4-BE49-F238E27FC236}">
                <a16:creationId xmlns:a16="http://schemas.microsoft.com/office/drawing/2014/main" id="{B97F935C-0E03-064A-70AA-DF9B719C46F6}"/>
              </a:ext>
            </a:extLst>
          </p:cNvPr>
          <p:cNvPicPr>
            <a:picLocks noChangeAspect="1"/>
          </p:cNvPicPr>
          <p:nvPr/>
        </p:nvPicPr>
        <p:blipFill>
          <a:blip r:embed="rId2"/>
          <a:stretch>
            <a:fillRect/>
          </a:stretch>
        </p:blipFill>
        <p:spPr>
          <a:xfrm>
            <a:off x="4052888" y="3131549"/>
            <a:ext cx="6191949" cy="2016941"/>
          </a:xfrm>
          <a:prstGeom prst="rect">
            <a:avLst/>
          </a:prstGeom>
        </p:spPr>
      </p:pic>
    </p:spTree>
    <p:extLst>
      <p:ext uri="{BB962C8B-B14F-4D97-AF65-F5344CB8AC3E}">
        <p14:creationId xmlns:p14="http://schemas.microsoft.com/office/powerpoint/2010/main" val="3264845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4B77-70CD-903E-74D8-2A50531A6D30}"/>
              </a:ext>
            </a:extLst>
          </p:cNvPr>
          <p:cNvSpPr>
            <a:spLocks noGrp="1"/>
          </p:cNvSpPr>
          <p:nvPr>
            <p:ph type="title"/>
          </p:nvPr>
        </p:nvSpPr>
        <p:spPr/>
        <p:txBody>
          <a:bodyPr/>
          <a:lstStyle/>
          <a:p>
            <a:r>
              <a:rPr lang="en-US" b="1" i="0" dirty="0">
                <a:solidFill>
                  <a:srgbClr val="242424"/>
                </a:solidFill>
                <a:effectLst/>
                <a:latin typeface="sohne"/>
              </a:rPr>
              <a:t>N-Triples</a:t>
            </a:r>
            <a:br>
              <a:rPr lang="en-US" b="1" i="0" dirty="0">
                <a:solidFill>
                  <a:srgbClr val="242424"/>
                </a:solidFill>
                <a:effectLst/>
                <a:latin typeface="sohne"/>
              </a:rPr>
            </a:br>
            <a:endParaRPr lang="en-NL" dirty="0"/>
          </a:p>
        </p:txBody>
      </p:sp>
      <p:sp>
        <p:nvSpPr>
          <p:cNvPr id="3" name="Content Placeholder 2">
            <a:extLst>
              <a:ext uri="{FF2B5EF4-FFF2-40B4-BE49-F238E27FC236}">
                <a16:creationId xmlns:a16="http://schemas.microsoft.com/office/drawing/2014/main" id="{19B2420F-99DF-3687-C9AA-927D211B2E2F}"/>
              </a:ext>
            </a:extLst>
          </p:cNvPr>
          <p:cNvSpPr>
            <a:spLocks noGrp="1"/>
          </p:cNvSpPr>
          <p:nvPr>
            <p:ph idx="1"/>
          </p:nvPr>
        </p:nvSpPr>
        <p:spPr/>
        <p:txBody>
          <a:bodyPr/>
          <a:lstStyle/>
          <a:p>
            <a:r>
              <a:rPr lang="en-US" b="0" i="0" dirty="0">
                <a:solidFill>
                  <a:srgbClr val="242424"/>
                </a:solidFill>
                <a:effectLst/>
                <a:latin typeface="source-serif-pro"/>
              </a:rPr>
              <a:t>Storing and reading RDF as N-Triples is simple as every line of a .</a:t>
            </a:r>
            <a:r>
              <a:rPr lang="en-US" b="0" i="0" dirty="0" err="1">
                <a:solidFill>
                  <a:srgbClr val="242424"/>
                </a:solidFill>
                <a:effectLst/>
                <a:latin typeface="source-serif-pro"/>
              </a:rPr>
              <a:t>nt</a:t>
            </a:r>
            <a:r>
              <a:rPr lang="en-US" b="0" i="0" dirty="0">
                <a:solidFill>
                  <a:srgbClr val="242424"/>
                </a:solidFill>
                <a:effectLst/>
                <a:latin typeface="source-serif-pro"/>
              </a:rPr>
              <a:t> file is a single triple (&lt;subject&gt; &lt;predicate&gt; &lt;object&gt;) that together form a directed knowledge graph:</a:t>
            </a:r>
          </a:p>
          <a:p>
            <a:r>
              <a:rPr lang="en-US" b="0" i="0" dirty="0">
                <a:solidFill>
                  <a:srgbClr val="242424"/>
                </a:solidFill>
                <a:effectLst/>
                <a:latin typeface="source-serif-pro"/>
              </a:rPr>
              <a:t>circles represent entities,</a:t>
            </a:r>
          </a:p>
          <a:p>
            <a:r>
              <a:rPr lang="en-US" b="0" i="0" dirty="0">
                <a:solidFill>
                  <a:srgbClr val="242424"/>
                </a:solidFill>
                <a:effectLst/>
                <a:latin typeface="source-serif-pro"/>
              </a:rPr>
              <a:t> rectangles represent literals </a:t>
            </a:r>
          </a:p>
          <a:p>
            <a:r>
              <a:rPr lang="en-US" b="0" i="0" dirty="0">
                <a:solidFill>
                  <a:srgbClr val="242424"/>
                </a:solidFill>
                <a:effectLst/>
                <a:latin typeface="source-serif-pro"/>
              </a:rPr>
              <a:t>arrows illustrate the predicates.</a:t>
            </a:r>
            <a:endParaRPr lang="en-NL" dirty="0"/>
          </a:p>
        </p:txBody>
      </p:sp>
      <p:pic>
        <p:nvPicPr>
          <p:cNvPr id="5" name="Picture 4">
            <a:extLst>
              <a:ext uri="{FF2B5EF4-FFF2-40B4-BE49-F238E27FC236}">
                <a16:creationId xmlns:a16="http://schemas.microsoft.com/office/drawing/2014/main" id="{6681CD66-47B0-A9E9-C05B-9DD671B7C548}"/>
              </a:ext>
            </a:extLst>
          </p:cNvPr>
          <p:cNvPicPr>
            <a:picLocks noChangeAspect="1"/>
          </p:cNvPicPr>
          <p:nvPr/>
        </p:nvPicPr>
        <p:blipFill>
          <a:blip r:embed="rId2"/>
          <a:stretch>
            <a:fillRect/>
          </a:stretch>
        </p:blipFill>
        <p:spPr>
          <a:xfrm>
            <a:off x="5639276" y="3334406"/>
            <a:ext cx="5072329" cy="2638155"/>
          </a:xfrm>
          <a:prstGeom prst="rect">
            <a:avLst/>
          </a:prstGeom>
        </p:spPr>
      </p:pic>
    </p:spTree>
    <p:extLst>
      <p:ext uri="{BB962C8B-B14F-4D97-AF65-F5344CB8AC3E}">
        <p14:creationId xmlns:p14="http://schemas.microsoft.com/office/powerpoint/2010/main" val="928275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632B1-893B-A06A-37B1-DF4A58BE98AA}"/>
              </a:ext>
            </a:extLst>
          </p:cNvPr>
          <p:cNvSpPr>
            <a:spLocks noGrp="1"/>
          </p:cNvSpPr>
          <p:nvPr>
            <p:ph type="title"/>
          </p:nvPr>
        </p:nvSpPr>
        <p:spPr/>
        <p:txBody>
          <a:bodyPr/>
          <a:lstStyle/>
          <a:p>
            <a:r>
              <a:rPr lang="en-US" b="0" i="0" dirty="0">
                <a:solidFill>
                  <a:srgbClr val="242424"/>
                </a:solidFill>
                <a:effectLst/>
                <a:latin typeface="source-serif-pro"/>
              </a:rPr>
              <a:t>N-Triples format </a:t>
            </a:r>
            <a:endParaRPr lang="en-NL" dirty="0"/>
          </a:p>
        </p:txBody>
      </p:sp>
      <p:pic>
        <p:nvPicPr>
          <p:cNvPr id="3074" name="Picture 2">
            <a:extLst>
              <a:ext uri="{FF2B5EF4-FFF2-40B4-BE49-F238E27FC236}">
                <a16:creationId xmlns:a16="http://schemas.microsoft.com/office/drawing/2014/main" id="{9120147C-8AC0-8A7B-904C-94045B28F9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841122"/>
            <a:ext cx="10515600" cy="232034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D797925-2D09-A880-1ACA-7672421AB628}"/>
              </a:ext>
            </a:extLst>
          </p:cNvPr>
          <p:cNvSpPr txBox="1"/>
          <p:nvPr/>
        </p:nvSpPr>
        <p:spPr>
          <a:xfrm>
            <a:off x="641624" y="1655046"/>
            <a:ext cx="9883993" cy="369332"/>
          </a:xfrm>
          <a:prstGeom prst="rect">
            <a:avLst/>
          </a:prstGeom>
          <a:noFill/>
        </p:spPr>
        <p:txBody>
          <a:bodyPr wrap="square">
            <a:spAutoFit/>
          </a:bodyPr>
          <a:lstStyle/>
          <a:p>
            <a:r>
              <a:rPr lang="en-US" b="0" i="0" dirty="0">
                <a:solidFill>
                  <a:srgbClr val="242424"/>
                </a:solidFill>
                <a:effectLst/>
                <a:latin typeface="source-serif-pro"/>
              </a:rPr>
              <a:t>Here we have 11 triples containing information about Bob Marley and Jamaica extracted from </a:t>
            </a:r>
            <a:r>
              <a:rPr lang="en-US" b="0" i="0" dirty="0" err="1">
                <a:solidFill>
                  <a:srgbClr val="242424"/>
                </a:solidFill>
                <a:effectLst/>
                <a:latin typeface="source-serif-pro"/>
              </a:rPr>
              <a:t>DBpedia</a:t>
            </a:r>
            <a:endParaRPr lang="en-NL" dirty="0"/>
          </a:p>
        </p:txBody>
      </p:sp>
      <p:cxnSp>
        <p:nvCxnSpPr>
          <p:cNvPr id="7" name="Straight Arrow Connector 6">
            <a:extLst>
              <a:ext uri="{FF2B5EF4-FFF2-40B4-BE49-F238E27FC236}">
                <a16:creationId xmlns:a16="http://schemas.microsoft.com/office/drawing/2014/main" id="{7972D49E-7DD2-6633-57EF-9F7FE8B91653}"/>
              </a:ext>
            </a:extLst>
          </p:cNvPr>
          <p:cNvCxnSpPr/>
          <p:nvPr/>
        </p:nvCxnSpPr>
        <p:spPr>
          <a:xfrm flipV="1">
            <a:off x="6861941" y="4863662"/>
            <a:ext cx="721273" cy="433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EA7ABB37-11A4-4F0D-EB20-C96DE174A7EA}"/>
              </a:ext>
            </a:extLst>
          </p:cNvPr>
          <p:cNvSpPr txBox="1"/>
          <p:nvPr/>
        </p:nvSpPr>
        <p:spPr>
          <a:xfrm>
            <a:off x="3314699" y="5714267"/>
            <a:ext cx="1174531" cy="369332"/>
          </a:xfrm>
          <a:prstGeom prst="rect">
            <a:avLst/>
          </a:prstGeom>
          <a:noFill/>
        </p:spPr>
        <p:txBody>
          <a:bodyPr wrap="square" rtlCol="0">
            <a:spAutoFit/>
          </a:bodyPr>
          <a:lstStyle/>
          <a:p>
            <a:r>
              <a:rPr lang="en-US" dirty="0">
                <a:solidFill>
                  <a:schemeClr val="accent5">
                    <a:lumMod val="60000"/>
                    <a:lumOff val="40000"/>
                  </a:schemeClr>
                </a:solidFill>
              </a:rPr>
              <a:t>Predicate</a:t>
            </a:r>
            <a:endParaRPr lang="en-NL" dirty="0">
              <a:solidFill>
                <a:schemeClr val="accent5">
                  <a:lumMod val="60000"/>
                  <a:lumOff val="40000"/>
                </a:schemeClr>
              </a:solidFill>
            </a:endParaRPr>
          </a:p>
        </p:txBody>
      </p:sp>
      <p:sp>
        <p:nvSpPr>
          <p:cNvPr id="9" name="TextBox 8">
            <a:extLst>
              <a:ext uri="{FF2B5EF4-FFF2-40B4-BE49-F238E27FC236}">
                <a16:creationId xmlns:a16="http://schemas.microsoft.com/office/drawing/2014/main" id="{A267A331-7E1E-76DA-ECA5-407253900B4F}"/>
              </a:ext>
            </a:extLst>
          </p:cNvPr>
          <p:cNvSpPr txBox="1"/>
          <p:nvPr/>
        </p:nvSpPr>
        <p:spPr>
          <a:xfrm>
            <a:off x="806668" y="5718208"/>
            <a:ext cx="1174531" cy="369332"/>
          </a:xfrm>
          <a:prstGeom prst="rect">
            <a:avLst/>
          </a:prstGeom>
          <a:noFill/>
        </p:spPr>
        <p:txBody>
          <a:bodyPr wrap="square" rtlCol="0">
            <a:spAutoFit/>
          </a:bodyPr>
          <a:lstStyle/>
          <a:p>
            <a:r>
              <a:rPr lang="en-US" dirty="0">
                <a:solidFill>
                  <a:srgbClr val="FF0000"/>
                </a:solidFill>
              </a:rPr>
              <a:t>Entity</a:t>
            </a:r>
            <a:endParaRPr lang="en-NL" dirty="0">
              <a:solidFill>
                <a:srgbClr val="FF0000"/>
              </a:solidFill>
            </a:endParaRPr>
          </a:p>
        </p:txBody>
      </p:sp>
      <p:cxnSp>
        <p:nvCxnSpPr>
          <p:cNvPr id="10" name="Straight Arrow Connector 9">
            <a:extLst>
              <a:ext uri="{FF2B5EF4-FFF2-40B4-BE49-F238E27FC236}">
                <a16:creationId xmlns:a16="http://schemas.microsoft.com/office/drawing/2014/main" id="{FCFA1171-FCBB-8CF5-F50E-9F8632AEE980}"/>
              </a:ext>
            </a:extLst>
          </p:cNvPr>
          <p:cNvCxnSpPr/>
          <p:nvPr/>
        </p:nvCxnSpPr>
        <p:spPr>
          <a:xfrm flipV="1">
            <a:off x="3723290" y="5221090"/>
            <a:ext cx="721273" cy="433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26C85AC-2016-AC3D-C314-7743FE754472}"/>
              </a:ext>
            </a:extLst>
          </p:cNvPr>
          <p:cNvCxnSpPr/>
          <p:nvPr/>
        </p:nvCxnSpPr>
        <p:spPr>
          <a:xfrm flipV="1">
            <a:off x="1393934" y="5366845"/>
            <a:ext cx="721273" cy="433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B27EBAC-EFF4-838D-9429-020FFBEF5053}"/>
              </a:ext>
            </a:extLst>
          </p:cNvPr>
          <p:cNvSpPr txBox="1"/>
          <p:nvPr/>
        </p:nvSpPr>
        <p:spPr>
          <a:xfrm rot="21239127">
            <a:off x="6068762" y="5182179"/>
            <a:ext cx="1174531" cy="369332"/>
          </a:xfrm>
          <a:prstGeom prst="rect">
            <a:avLst/>
          </a:prstGeom>
          <a:noFill/>
        </p:spPr>
        <p:txBody>
          <a:bodyPr wrap="square" rtlCol="0">
            <a:spAutoFit/>
          </a:bodyPr>
          <a:lstStyle/>
          <a:p>
            <a:r>
              <a:rPr lang="en-US" dirty="0">
                <a:solidFill>
                  <a:schemeClr val="accent3">
                    <a:lumMod val="60000"/>
                    <a:lumOff val="40000"/>
                  </a:schemeClr>
                </a:solidFill>
              </a:rPr>
              <a:t>Literal</a:t>
            </a:r>
            <a:endParaRPr lang="en-NL" dirty="0">
              <a:solidFill>
                <a:schemeClr val="accent3">
                  <a:lumMod val="60000"/>
                  <a:lumOff val="40000"/>
                </a:schemeClr>
              </a:solidFill>
            </a:endParaRPr>
          </a:p>
        </p:txBody>
      </p:sp>
      <p:sp>
        <p:nvSpPr>
          <p:cNvPr id="13" name="TextBox 12">
            <a:extLst>
              <a:ext uri="{FF2B5EF4-FFF2-40B4-BE49-F238E27FC236}">
                <a16:creationId xmlns:a16="http://schemas.microsoft.com/office/drawing/2014/main" id="{8E37D814-5507-1441-8A3F-3800387BB995}"/>
              </a:ext>
            </a:extLst>
          </p:cNvPr>
          <p:cNvSpPr txBox="1"/>
          <p:nvPr/>
        </p:nvSpPr>
        <p:spPr>
          <a:xfrm>
            <a:off x="8346527" y="5285310"/>
            <a:ext cx="1174531" cy="369332"/>
          </a:xfrm>
          <a:prstGeom prst="rect">
            <a:avLst/>
          </a:prstGeom>
          <a:noFill/>
        </p:spPr>
        <p:txBody>
          <a:bodyPr wrap="square" rtlCol="0">
            <a:spAutoFit/>
          </a:bodyPr>
          <a:lstStyle/>
          <a:p>
            <a:r>
              <a:rPr lang="en-US" dirty="0">
                <a:solidFill>
                  <a:srgbClr val="FFC000"/>
                </a:solidFill>
              </a:rPr>
              <a:t>Literal tag</a:t>
            </a:r>
            <a:endParaRPr lang="en-NL" dirty="0">
              <a:solidFill>
                <a:srgbClr val="FFC000"/>
              </a:solidFill>
            </a:endParaRPr>
          </a:p>
        </p:txBody>
      </p:sp>
      <p:cxnSp>
        <p:nvCxnSpPr>
          <p:cNvPr id="14" name="Straight Arrow Connector 13">
            <a:extLst>
              <a:ext uri="{FF2B5EF4-FFF2-40B4-BE49-F238E27FC236}">
                <a16:creationId xmlns:a16="http://schemas.microsoft.com/office/drawing/2014/main" id="{D7E317BF-5D59-BD47-939C-51CD1FFCCA85}"/>
              </a:ext>
            </a:extLst>
          </p:cNvPr>
          <p:cNvCxnSpPr/>
          <p:nvPr/>
        </p:nvCxnSpPr>
        <p:spPr>
          <a:xfrm flipV="1">
            <a:off x="8675236" y="4933293"/>
            <a:ext cx="721273" cy="4335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951AA8C6-1C82-989C-175F-02F6778B8D57}"/>
              </a:ext>
            </a:extLst>
          </p:cNvPr>
          <p:cNvCxnSpPr/>
          <p:nvPr/>
        </p:nvCxnSpPr>
        <p:spPr>
          <a:xfrm flipV="1">
            <a:off x="3685190" y="2530366"/>
            <a:ext cx="977462" cy="310756"/>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3AE3BE54-AB2F-4CFC-2C5E-A6103048692A}"/>
              </a:ext>
            </a:extLst>
          </p:cNvPr>
          <p:cNvSpPr txBox="1"/>
          <p:nvPr/>
        </p:nvSpPr>
        <p:spPr>
          <a:xfrm>
            <a:off x="4783520" y="2127187"/>
            <a:ext cx="2078421" cy="369332"/>
          </a:xfrm>
          <a:prstGeom prst="rect">
            <a:avLst/>
          </a:prstGeom>
          <a:noFill/>
        </p:spPr>
        <p:txBody>
          <a:bodyPr wrap="square" rtlCol="0">
            <a:spAutoFit/>
          </a:bodyPr>
          <a:lstStyle/>
          <a:p>
            <a:r>
              <a:rPr lang="en-US" b="0" i="0" dirty="0">
                <a:solidFill>
                  <a:srgbClr val="242424"/>
                </a:solidFill>
                <a:effectLst/>
                <a:latin typeface="source-serif-pro"/>
              </a:rPr>
              <a:t>is of type </a:t>
            </a:r>
            <a:r>
              <a:rPr lang="en-US" b="0" i="0" dirty="0" err="1">
                <a:solidFill>
                  <a:srgbClr val="242424"/>
                </a:solidFill>
                <a:effectLst/>
                <a:latin typeface="source-serif-pro"/>
              </a:rPr>
              <a:t>Persois</a:t>
            </a:r>
            <a:r>
              <a:rPr lang="en-US" b="0" i="0" dirty="0">
                <a:solidFill>
                  <a:srgbClr val="242424"/>
                </a:solidFill>
                <a:effectLst/>
                <a:latin typeface="source-serif-pro"/>
              </a:rPr>
              <a:t> </a:t>
            </a:r>
            <a:endParaRPr lang="en-NL" dirty="0">
              <a:solidFill>
                <a:schemeClr val="accent5">
                  <a:lumMod val="60000"/>
                  <a:lumOff val="40000"/>
                </a:schemeClr>
              </a:solidFill>
            </a:endParaRPr>
          </a:p>
        </p:txBody>
      </p:sp>
      <p:sp>
        <p:nvSpPr>
          <p:cNvPr id="40" name="TextBox 39">
            <a:extLst>
              <a:ext uri="{FF2B5EF4-FFF2-40B4-BE49-F238E27FC236}">
                <a16:creationId xmlns:a16="http://schemas.microsoft.com/office/drawing/2014/main" id="{65AB9D2A-7394-6CB7-D5AE-1CC78141150E}"/>
              </a:ext>
            </a:extLst>
          </p:cNvPr>
          <p:cNvSpPr txBox="1"/>
          <p:nvPr/>
        </p:nvSpPr>
        <p:spPr>
          <a:xfrm>
            <a:off x="7122072" y="2184266"/>
            <a:ext cx="5119852" cy="646331"/>
          </a:xfrm>
          <a:prstGeom prst="rect">
            <a:avLst/>
          </a:prstGeom>
          <a:noFill/>
        </p:spPr>
        <p:txBody>
          <a:bodyPr wrap="square" rtlCol="0">
            <a:spAutoFit/>
          </a:bodyPr>
          <a:lstStyle/>
          <a:p>
            <a:r>
              <a:rPr lang="en-US" b="0" i="0" dirty="0">
                <a:solidFill>
                  <a:srgbClr val="242424"/>
                </a:solidFill>
                <a:effectLst/>
                <a:latin typeface="source-serif-pro"/>
              </a:rPr>
              <a:t>we use the </a:t>
            </a:r>
            <a:r>
              <a:rPr lang="en-US" b="0" i="0" dirty="0" err="1">
                <a:solidFill>
                  <a:srgbClr val="242424"/>
                </a:solidFill>
                <a:effectLst/>
                <a:latin typeface="source-serif-pro"/>
              </a:rPr>
              <a:t>foaf</a:t>
            </a:r>
            <a:r>
              <a:rPr lang="en-US" b="0" i="0" dirty="0">
                <a:solidFill>
                  <a:srgbClr val="242424"/>
                </a:solidFill>
                <a:effectLst/>
                <a:latin typeface="source-serif-pro"/>
              </a:rPr>
              <a:t> (friend of a friend) ontology as the URI for this type</a:t>
            </a:r>
            <a:endParaRPr lang="en-NL" dirty="0"/>
          </a:p>
        </p:txBody>
      </p:sp>
      <p:sp>
        <p:nvSpPr>
          <p:cNvPr id="42" name="TextBox 41">
            <a:extLst>
              <a:ext uri="{FF2B5EF4-FFF2-40B4-BE49-F238E27FC236}">
                <a16:creationId xmlns:a16="http://schemas.microsoft.com/office/drawing/2014/main" id="{78B9F371-597B-D152-5BEC-7DB8AC06A2FA}"/>
              </a:ext>
            </a:extLst>
          </p:cNvPr>
          <p:cNvSpPr txBox="1"/>
          <p:nvPr/>
        </p:nvSpPr>
        <p:spPr>
          <a:xfrm>
            <a:off x="4489230" y="5655043"/>
            <a:ext cx="6120962" cy="646331"/>
          </a:xfrm>
          <a:prstGeom prst="rect">
            <a:avLst/>
          </a:prstGeom>
          <a:noFill/>
        </p:spPr>
        <p:txBody>
          <a:bodyPr wrap="square">
            <a:spAutoFit/>
          </a:bodyPr>
          <a:lstStyle/>
          <a:p>
            <a:r>
              <a:rPr lang="en-US" b="0" i="0" dirty="0">
                <a:solidFill>
                  <a:srgbClr val="242424"/>
                </a:solidFill>
                <a:effectLst/>
                <a:latin typeface="source-serif-pro"/>
              </a:rPr>
              <a:t>we can see the </a:t>
            </a:r>
            <a:r>
              <a:rPr lang="en-US" b="0" i="0" dirty="0" err="1">
                <a:solidFill>
                  <a:srgbClr val="242424"/>
                </a:solidFill>
                <a:effectLst/>
                <a:latin typeface="source-serif-pro"/>
              </a:rPr>
              <a:t>foaf</a:t>
            </a:r>
            <a:r>
              <a:rPr lang="en-US" b="0" i="0" dirty="0">
                <a:solidFill>
                  <a:srgbClr val="242424"/>
                </a:solidFill>
                <a:effectLst/>
                <a:latin typeface="source-serif-pro"/>
              </a:rPr>
              <a:t> ontology used once more to connect the entity of Jamaica to its homepage URL (subset of URI).</a:t>
            </a:r>
            <a:endParaRPr lang="en-NL" dirty="0"/>
          </a:p>
        </p:txBody>
      </p:sp>
    </p:spTree>
    <p:extLst>
      <p:ext uri="{BB962C8B-B14F-4D97-AF65-F5344CB8AC3E}">
        <p14:creationId xmlns:p14="http://schemas.microsoft.com/office/powerpoint/2010/main" val="1455516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D7674-CFF7-6047-1E6F-4B5334C39FDF}"/>
              </a:ext>
            </a:extLst>
          </p:cNvPr>
          <p:cNvSpPr>
            <a:spLocks noGrp="1"/>
          </p:cNvSpPr>
          <p:nvPr>
            <p:ph type="title"/>
          </p:nvPr>
        </p:nvSpPr>
        <p:spPr/>
        <p:txBody>
          <a:bodyPr/>
          <a:lstStyle/>
          <a:p>
            <a:r>
              <a:rPr lang="en-US" b="1" i="0" dirty="0">
                <a:solidFill>
                  <a:srgbClr val="242424"/>
                </a:solidFill>
                <a:effectLst/>
                <a:latin typeface="sohne"/>
              </a:rPr>
              <a:t>Turtle</a:t>
            </a:r>
            <a:br>
              <a:rPr lang="en-US" b="1" i="0" dirty="0">
                <a:solidFill>
                  <a:srgbClr val="242424"/>
                </a:solidFill>
                <a:effectLst/>
                <a:latin typeface="sohne"/>
              </a:rPr>
            </a:br>
            <a:endParaRPr lang="en-NL" dirty="0"/>
          </a:p>
        </p:txBody>
      </p:sp>
      <p:sp>
        <p:nvSpPr>
          <p:cNvPr id="3" name="Content Placeholder 2">
            <a:extLst>
              <a:ext uri="{FF2B5EF4-FFF2-40B4-BE49-F238E27FC236}">
                <a16:creationId xmlns:a16="http://schemas.microsoft.com/office/drawing/2014/main" id="{B5C5ED23-4EC9-84E4-4F66-2C2A9D234939}"/>
              </a:ext>
            </a:extLst>
          </p:cNvPr>
          <p:cNvSpPr>
            <a:spLocks noGrp="1"/>
          </p:cNvSpPr>
          <p:nvPr>
            <p:ph idx="1"/>
          </p:nvPr>
        </p:nvSpPr>
        <p:spPr/>
        <p:txBody>
          <a:bodyPr/>
          <a:lstStyle/>
          <a:p>
            <a:r>
              <a:rPr lang="en-US" b="0" i="0" dirty="0">
                <a:solidFill>
                  <a:srgbClr val="242424"/>
                </a:solidFill>
                <a:effectLst/>
                <a:latin typeface="source-serif-pro"/>
              </a:rPr>
              <a:t>you can define prefixes at the beginning of the .</a:t>
            </a:r>
            <a:r>
              <a:rPr lang="en-US" b="0" i="0" dirty="0" err="1">
                <a:solidFill>
                  <a:srgbClr val="242424"/>
                </a:solidFill>
                <a:effectLst/>
                <a:latin typeface="source-serif-pro"/>
              </a:rPr>
              <a:t>ttl</a:t>
            </a:r>
            <a:r>
              <a:rPr lang="en-US" b="0" i="0" dirty="0">
                <a:solidFill>
                  <a:srgbClr val="242424"/>
                </a:solidFill>
                <a:effectLst/>
                <a:latin typeface="source-serif-pro"/>
              </a:rPr>
              <a:t> file.</a:t>
            </a:r>
            <a:endParaRPr lang="en-NL" dirty="0"/>
          </a:p>
        </p:txBody>
      </p:sp>
      <p:pic>
        <p:nvPicPr>
          <p:cNvPr id="5" name="Picture 4">
            <a:extLst>
              <a:ext uri="{FF2B5EF4-FFF2-40B4-BE49-F238E27FC236}">
                <a16:creationId xmlns:a16="http://schemas.microsoft.com/office/drawing/2014/main" id="{3450884A-B615-BB63-AB20-04E2941E0BAA}"/>
              </a:ext>
            </a:extLst>
          </p:cNvPr>
          <p:cNvPicPr>
            <a:picLocks noChangeAspect="1"/>
          </p:cNvPicPr>
          <p:nvPr/>
        </p:nvPicPr>
        <p:blipFill>
          <a:blip r:embed="rId2"/>
          <a:stretch>
            <a:fillRect/>
          </a:stretch>
        </p:blipFill>
        <p:spPr>
          <a:xfrm>
            <a:off x="993227" y="2705443"/>
            <a:ext cx="4120371" cy="4046284"/>
          </a:xfrm>
          <a:prstGeom prst="rect">
            <a:avLst/>
          </a:prstGeom>
        </p:spPr>
      </p:pic>
      <p:cxnSp>
        <p:nvCxnSpPr>
          <p:cNvPr id="7" name="Straight Arrow Connector 6">
            <a:extLst>
              <a:ext uri="{FF2B5EF4-FFF2-40B4-BE49-F238E27FC236}">
                <a16:creationId xmlns:a16="http://schemas.microsoft.com/office/drawing/2014/main" id="{6AA6B00B-6233-0AB0-D2D5-B584A25FA0C7}"/>
              </a:ext>
            </a:extLst>
          </p:cNvPr>
          <p:cNvCxnSpPr/>
          <p:nvPr/>
        </p:nvCxnSpPr>
        <p:spPr>
          <a:xfrm flipV="1">
            <a:off x="4114800" y="3302876"/>
            <a:ext cx="1765738" cy="512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94D527A-6259-98E7-E5C4-0CC51B29743C}"/>
              </a:ext>
            </a:extLst>
          </p:cNvPr>
          <p:cNvSpPr txBox="1"/>
          <p:nvPr/>
        </p:nvSpPr>
        <p:spPr>
          <a:xfrm>
            <a:off x="5816492" y="2979710"/>
            <a:ext cx="6095342" cy="646331"/>
          </a:xfrm>
          <a:prstGeom prst="rect">
            <a:avLst/>
          </a:prstGeom>
          <a:noFill/>
        </p:spPr>
        <p:txBody>
          <a:bodyPr wrap="square">
            <a:spAutoFit/>
          </a:bodyPr>
          <a:lstStyle/>
          <a:p>
            <a:r>
              <a:rPr lang="en-US" b="0" i="0" dirty="0">
                <a:solidFill>
                  <a:srgbClr val="242424"/>
                </a:solidFill>
                <a:effectLst/>
                <a:latin typeface="source-serif-pro"/>
              </a:rPr>
              <a:t>the long repeated sections of the URIs can be written in their short form.</a:t>
            </a:r>
            <a:endParaRPr lang="en-NL" dirty="0"/>
          </a:p>
        </p:txBody>
      </p:sp>
      <p:sp>
        <p:nvSpPr>
          <p:cNvPr id="10" name="Rectangle 1">
            <a:extLst>
              <a:ext uri="{FF2B5EF4-FFF2-40B4-BE49-F238E27FC236}">
                <a16:creationId xmlns:a16="http://schemas.microsoft.com/office/drawing/2014/main" id="{97C663FF-17AB-D8E2-BC09-F8102668BD43}"/>
              </a:ext>
            </a:extLst>
          </p:cNvPr>
          <p:cNvSpPr>
            <a:spLocks noChangeArrowheads="1"/>
          </p:cNvSpPr>
          <p:nvPr/>
        </p:nvSpPr>
        <p:spPr bwMode="auto">
          <a:xfrm>
            <a:off x="5407572" y="3779783"/>
            <a:ext cx="12192000" cy="0"/>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This allows the subject </a:t>
            </a:r>
            <a:r>
              <a:rPr kumimoji="0" lang="en-NL" altLang="en-NL" sz="1100" b="0" i="0" u="none" strike="noStrike" cap="none" normalizeH="0" baseline="0" dirty="0">
                <a:ln>
                  <a:noFill/>
                </a:ln>
                <a:solidFill>
                  <a:srgbClr val="242424"/>
                </a:solidFill>
                <a:effectLst/>
                <a:latin typeface="source-code-pro"/>
              </a:rPr>
              <a:t>&lt;http://xmlns.com/foaf/0.1/Person&gt;</a:t>
            </a:r>
            <a:r>
              <a:rPr kumimoji="0" lang="en-NL" altLang="en-NL" sz="1500" b="0" i="0" u="none" strike="noStrike" cap="none" normalizeH="0" baseline="0" dirty="0">
                <a:ln>
                  <a:noFill/>
                </a:ln>
                <a:solidFill>
                  <a:srgbClr val="242424"/>
                </a:solidFill>
                <a:effectLst/>
                <a:latin typeface="source-serif-pro"/>
              </a:rPr>
              <a:t> to be shortened to </a:t>
            </a:r>
            <a:r>
              <a:rPr kumimoji="0" lang="en-NL" altLang="en-NL" sz="1100" b="0" i="0" u="none" strike="noStrike" cap="none" normalizeH="0" baseline="0" dirty="0" err="1">
                <a:ln>
                  <a:noFill/>
                </a:ln>
                <a:solidFill>
                  <a:srgbClr val="242424"/>
                </a:solidFill>
                <a:effectLst/>
                <a:latin typeface="source-code-pro"/>
              </a:rPr>
              <a:t>foaf:Person</a:t>
            </a:r>
            <a:r>
              <a:rPr kumimoji="0" lang="en-NL" altLang="en-NL" sz="1500" b="0" i="0" u="none" strike="noStrike" cap="none" normalizeH="0" baseline="0" dirty="0">
                <a:ln>
                  <a:noFill/>
                </a:ln>
                <a:solidFill>
                  <a:srgbClr val="242424"/>
                </a:solidFill>
                <a:effectLst/>
                <a:latin typeface="source-serif-pro"/>
              </a:rPr>
              <a:t>.</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4EBD7B14-A9FA-4AB4-5C35-21678B943C8C}"/>
              </a:ext>
            </a:extLst>
          </p:cNvPr>
          <p:cNvSpPr>
            <a:spLocks noChangeArrowheads="1"/>
          </p:cNvSpPr>
          <p:nvPr/>
        </p:nvSpPr>
        <p:spPr bwMode="auto">
          <a:xfrm>
            <a:off x="3387782" y="4051710"/>
            <a:ext cx="7123386" cy="553998"/>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One unique shortening is the predicate </a:t>
            </a:r>
            <a:r>
              <a:rPr kumimoji="0" lang="en-NL" altLang="en-NL" sz="1100" b="0" i="0" u="none" strike="noStrike" cap="none" normalizeH="0" baseline="0" dirty="0">
                <a:ln>
                  <a:noFill/>
                </a:ln>
                <a:solidFill>
                  <a:srgbClr val="242424"/>
                </a:solidFill>
                <a:effectLst/>
                <a:latin typeface="source-code-pro"/>
              </a:rPr>
              <a:t>&lt;http://www.w3.org/1999/02/22-rdf-syntax-ns#type&gt;</a:t>
            </a:r>
            <a:r>
              <a:rPr kumimoji="0" lang="en-NL" altLang="en-NL" sz="1500" b="0" i="0" u="none" strike="noStrike" cap="none" normalizeH="0" baseline="0" dirty="0">
                <a:ln>
                  <a:noFill/>
                </a:ln>
                <a:solidFill>
                  <a:srgbClr val="242424"/>
                </a:solidFill>
                <a:effectLst/>
                <a:latin typeface="source-serif-pro"/>
              </a:rPr>
              <a:t> which is so common, it is represented simply with the letter </a:t>
            </a:r>
            <a:r>
              <a:rPr kumimoji="0" lang="en-NL" altLang="en-NL" sz="1100" b="0" i="0" u="none" strike="noStrike" cap="none" normalizeH="0" baseline="0" dirty="0">
                <a:ln>
                  <a:noFill/>
                </a:ln>
                <a:solidFill>
                  <a:srgbClr val="242424"/>
                </a:solidFill>
                <a:effectLst/>
                <a:latin typeface="source-code-pro"/>
              </a:rPr>
              <a:t>a</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B8CEC3D2-ED19-65A9-1D95-F2D60DA46551}"/>
              </a:ext>
            </a:extLst>
          </p:cNvPr>
          <p:cNvPicPr>
            <a:picLocks noChangeAspect="1"/>
          </p:cNvPicPr>
          <p:nvPr/>
        </p:nvPicPr>
        <p:blipFill>
          <a:blip r:embed="rId3"/>
          <a:stretch>
            <a:fillRect/>
          </a:stretch>
        </p:blipFill>
        <p:spPr>
          <a:xfrm>
            <a:off x="3093050" y="4769524"/>
            <a:ext cx="3495937" cy="665373"/>
          </a:xfrm>
          <a:prstGeom prst="rect">
            <a:avLst/>
          </a:prstGeom>
        </p:spPr>
      </p:pic>
      <p:sp>
        <p:nvSpPr>
          <p:cNvPr id="15" name="TextBox 14">
            <a:extLst>
              <a:ext uri="{FF2B5EF4-FFF2-40B4-BE49-F238E27FC236}">
                <a16:creationId xmlns:a16="http://schemas.microsoft.com/office/drawing/2014/main" id="{A9590D3F-53FD-2832-24CD-A3A00864641D}"/>
              </a:ext>
            </a:extLst>
          </p:cNvPr>
          <p:cNvSpPr txBox="1"/>
          <p:nvPr/>
        </p:nvSpPr>
        <p:spPr>
          <a:xfrm>
            <a:off x="6516086" y="4773416"/>
            <a:ext cx="1886935" cy="646331"/>
          </a:xfrm>
          <a:prstGeom prst="rect">
            <a:avLst/>
          </a:prstGeom>
          <a:noFill/>
        </p:spPr>
        <p:txBody>
          <a:bodyPr wrap="square">
            <a:spAutoFit/>
          </a:bodyPr>
          <a:lstStyle/>
          <a:p>
            <a:r>
              <a:rPr lang="en-US" b="0" i="0" dirty="0">
                <a:solidFill>
                  <a:srgbClr val="242424"/>
                </a:solidFill>
                <a:effectLst/>
                <a:latin typeface="source-serif-pro"/>
              </a:rPr>
              <a:t>can be shortened in Turtle to</a:t>
            </a:r>
            <a:endParaRPr lang="en-NL" dirty="0"/>
          </a:p>
        </p:txBody>
      </p:sp>
      <p:pic>
        <p:nvPicPr>
          <p:cNvPr id="17" name="Picture 16">
            <a:extLst>
              <a:ext uri="{FF2B5EF4-FFF2-40B4-BE49-F238E27FC236}">
                <a16:creationId xmlns:a16="http://schemas.microsoft.com/office/drawing/2014/main" id="{A63F5C34-DA89-F036-75A7-8A9E8B0025BF}"/>
              </a:ext>
            </a:extLst>
          </p:cNvPr>
          <p:cNvPicPr>
            <a:picLocks noChangeAspect="1"/>
          </p:cNvPicPr>
          <p:nvPr/>
        </p:nvPicPr>
        <p:blipFill>
          <a:blip r:embed="rId4"/>
          <a:stretch>
            <a:fillRect/>
          </a:stretch>
        </p:blipFill>
        <p:spPr>
          <a:xfrm>
            <a:off x="8332458" y="4856244"/>
            <a:ext cx="3168329" cy="486859"/>
          </a:xfrm>
          <a:prstGeom prst="rect">
            <a:avLst/>
          </a:prstGeom>
        </p:spPr>
      </p:pic>
      <p:sp>
        <p:nvSpPr>
          <p:cNvPr id="19" name="TextBox 18">
            <a:extLst>
              <a:ext uri="{FF2B5EF4-FFF2-40B4-BE49-F238E27FC236}">
                <a16:creationId xmlns:a16="http://schemas.microsoft.com/office/drawing/2014/main" id="{9A146E1B-D953-DAED-A4CF-874ECF4C9EC0}"/>
              </a:ext>
            </a:extLst>
          </p:cNvPr>
          <p:cNvSpPr txBox="1"/>
          <p:nvPr/>
        </p:nvSpPr>
        <p:spPr>
          <a:xfrm>
            <a:off x="3642853" y="5736090"/>
            <a:ext cx="7259003" cy="954107"/>
          </a:xfrm>
          <a:prstGeom prst="rect">
            <a:avLst/>
          </a:prstGeom>
          <a:noFill/>
        </p:spPr>
        <p:txBody>
          <a:bodyPr wrap="square">
            <a:spAutoFit/>
          </a:bodyPr>
          <a:lstStyle/>
          <a:p>
            <a:r>
              <a:rPr lang="en-US" sz="1400" b="0" i="0" dirty="0">
                <a:solidFill>
                  <a:srgbClr val="242424"/>
                </a:solidFill>
                <a:effectLst/>
                <a:latin typeface="source-serif-pro"/>
              </a:rPr>
              <a:t>data about Bob Marley and Jamaica is separated into separate blocks. This grouping along with defined prefixes, makes Turtle format a lot easier to understand than N-Triples. </a:t>
            </a:r>
            <a:r>
              <a:rPr lang="en-US" sz="1400" dirty="0">
                <a:solidFill>
                  <a:srgbClr val="242424"/>
                </a:solidFill>
                <a:latin typeface="source-serif-pro"/>
              </a:rPr>
              <a:t>R</a:t>
            </a:r>
            <a:r>
              <a:rPr lang="en-US" sz="1400" b="0" i="0" dirty="0">
                <a:solidFill>
                  <a:srgbClr val="242424"/>
                </a:solidFill>
                <a:effectLst/>
                <a:latin typeface="source-serif-pro"/>
              </a:rPr>
              <a:t>elated information to the subject is separated with a semi-colon and finished with a full-stop and a new line to indicate a new subject.</a:t>
            </a:r>
            <a:endParaRPr lang="en-NL" sz="1400" dirty="0"/>
          </a:p>
        </p:txBody>
      </p:sp>
    </p:spTree>
    <p:extLst>
      <p:ext uri="{BB962C8B-B14F-4D97-AF65-F5344CB8AC3E}">
        <p14:creationId xmlns:p14="http://schemas.microsoft.com/office/powerpoint/2010/main" val="2457457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5AD77-FA2A-B1E5-B45D-DAE8B8573077}"/>
              </a:ext>
            </a:extLst>
          </p:cNvPr>
          <p:cNvSpPr>
            <a:spLocks noGrp="1"/>
          </p:cNvSpPr>
          <p:nvPr>
            <p:ph type="title"/>
          </p:nvPr>
        </p:nvSpPr>
        <p:spPr/>
        <p:txBody>
          <a:bodyPr/>
          <a:lstStyle/>
          <a:p>
            <a:r>
              <a:rPr lang="en-US" b="1" i="0" dirty="0">
                <a:solidFill>
                  <a:srgbClr val="242424"/>
                </a:solidFill>
                <a:effectLst/>
                <a:latin typeface="sohne"/>
              </a:rPr>
              <a:t>RDF/XML</a:t>
            </a:r>
            <a:br>
              <a:rPr lang="en-US" b="1" i="0" dirty="0">
                <a:solidFill>
                  <a:srgbClr val="242424"/>
                </a:solidFill>
                <a:effectLst/>
                <a:latin typeface="sohne"/>
              </a:rPr>
            </a:br>
            <a:endParaRPr lang="en-NL" dirty="0"/>
          </a:p>
        </p:txBody>
      </p:sp>
      <p:pic>
        <p:nvPicPr>
          <p:cNvPr id="5" name="Content Placeholder 4">
            <a:extLst>
              <a:ext uri="{FF2B5EF4-FFF2-40B4-BE49-F238E27FC236}">
                <a16:creationId xmlns:a16="http://schemas.microsoft.com/office/drawing/2014/main" id="{A7DDAC03-10ED-384D-B66C-9B0D2FFC87AC}"/>
              </a:ext>
            </a:extLst>
          </p:cNvPr>
          <p:cNvPicPr>
            <a:picLocks noGrp="1" noChangeAspect="1"/>
          </p:cNvPicPr>
          <p:nvPr>
            <p:ph idx="1"/>
          </p:nvPr>
        </p:nvPicPr>
        <p:blipFill>
          <a:blip r:embed="rId2"/>
          <a:stretch>
            <a:fillRect/>
          </a:stretch>
        </p:blipFill>
        <p:spPr>
          <a:xfrm>
            <a:off x="596582" y="1955690"/>
            <a:ext cx="5599148" cy="4351338"/>
          </a:xfrm>
        </p:spPr>
      </p:pic>
      <p:sp>
        <p:nvSpPr>
          <p:cNvPr id="7" name="TextBox 6">
            <a:extLst>
              <a:ext uri="{FF2B5EF4-FFF2-40B4-BE49-F238E27FC236}">
                <a16:creationId xmlns:a16="http://schemas.microsoft.com/office/drawing/2014/main" id="{CCDF0477-EA5E-8A32-AC5E-3E01D6CE638A}"/>
              </a:ext>
            </a:extLst>
          </p:cNvPr>
          <p:cNvSpPr txBox="1"/>
          <p:nvPr/>
        </p:nvSpPr>
        <p:spPr>
          <a:xfrm>
            <a:off x="4671520" y="1757884"/>
            <a:ext cx="6923898" cy="646331"/>
          </a:xfrm>
          <a:prstGeom prst="rect">
            <a:avLst/>
          </a:prstGeom>
          <a:noFill/>
        </p:spPr>
        <p:txBody>
          <a:bodyPr wrap="square">
            <a:spAutoFit/>
          </a:bodyPr>
          <a:lstStyle/>
          <a:p>
            <a:r>
              <a:rPr lang="en-US" b="0" i="0" dirty="0">
                <a:solidFill>
                  <a:srgbClr val="242424"/>
                </a:solidFill>
                <a:effectLst/>
                <a:latin typeface="source-serif-pro"/>
              </a:rPr>
              <a:t>prefixes can be defined at the top of RDF/XML files to avoid unnecessary repetition of URIs.</a:t>
            </a:r>
            <a:endParaRPr lang="en-NL" dirty="0"/>
          </a:p>
        </p:txBody>
      </p:sp>
      <p:sp>
        <p:nvSpPr>
          <p:cNvPr id="9" name="TextBox 8">
            <a:extLst>
              <a:ext uri="{FF2B5EF4-FFF2-40B4-BE49-F238E27FC236}">
                <a16:creationId xmlns:a16="http://schemas.microsoft.com/office/drawing/2014/main" id="{8661C968-2BA3-5B7C-3D56-EFC024CD32DE}"/>
              </a:ext>
            </a:extLst>
          </p:cNvPr>
          <p:cNvSpPr txBox="1"/>
          <p:nvPr/>
        </p:nvSpPr>
        <p:spPr>
          <a:xfrm>
            <a:off x="4817351" y="2471411"/>
            <a:ext cx="6095342" cy="369332"/>
          </a:xfrm>
          <a:prstGeom prst="rect">
            <a:avLst/>
          </a:prstGeom>
          <a:noFill/>
        </p:spPr>
        <p:txBody>
          <a:bodyPr wrap="square">
            <a:spAutoFit/>
          </a:bodyPr>
          <a:lstStyle/>
          <a:p>
            <a:r>
              <a:rPr lang="en-US" b="0" i="0" dirty="0">
                <a:solidFill>
                  <a:srgbClr val="242424"/>
                </a:solidFill>
                <a:effectLst/>
                <a:latin typeface="source-serif-pro"/>
              </a:rPr>
              <a:t>RDF format is considered the standard format.</a:t>
            </a:r>
            <a:endParaRPr lang="en-NL" dirty="0"/>
          </a:p>
        </p:txBody>
      </p:sp>
    </p:spTree>
    <p:extLst>
      <p:ext uri="{BB962C8B-B14F-4D97-AF65-F5344CB8AC3E}">
        <p14:creationId xmlns:p14="http://schemas.microsoft.com/office/powerpoint/2010/main" val="1705512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E760-4885-6F89-9077-E772F81CFA45}"/>
              </a:ext>
            </a:extLst>
          </p:cNvPr>
          <p:cNvSpPr>
            <a:spLocks noGrp="1"/>
          </p:cNvSpPr>
          <p:nvPr>
            <p:ph type="title"/>
          </p:nvPr>
        </p:nvSpPr>
        <p:spPr/>
        <p:txBody>
          <a:bodyPr/>
          <a:lstStyle/>
          <a:p>
            <a:r>
              <a:rPr lang="en-US" b="1" i="0" dirty="0">
                <a:solidFill>
                  <a:srgbClr val="242424"/>
                </a:solidFill>
                <a:effectLst/>
                <a:latin typeface="sohne"/>
              </a:rPr>
              <a:t>What is SPARQL?</a:t>
            </a:r>
            <a:br>
              <a:rPr lang="en-US" b="1" i="0" dirty="0">
                <a:solidFill>
                  <a:srgbClr val="242424"/>
                </a:solidFill>
                <a:effectLst/>
                <a:latin typeface="sohne"/>
              </a:rPr>
            </a:br>
            <a:endParaRPr lang="en-NL" dirty="0"/>
          </a:p>
        </p:txBody>
      </p:sp>
      <p:sp>
        <p:nvSpPr>
          <p:cNvPr id="3" name="Content Placeholder 2">
            <a:extLst>
              <a:ext uri="{FF2B5EF4-FFF2-40B4-BE49-F238E27FC236}">
                <a16:creationId xmlns:a16="http://schemas.microsoft.com/office/drawing/2014/main" id="{1F0845BD-1A9A-7367-0F78-4360EA9F2476}"/>
              </a:ext>
            </a:extLst>
          </p:cNvPr>
          <p:cNvSpPr>
            <a:spLocks noGrp="1"/>
          </p:cNvSpPr>
          <p:nvPr>
            <p:ph idx="1"/>
          </p:nvPr>
        </p:nvSpPr>
        <p:spPr/>
        <p:txBody>
          <a:bodyPr/>
          <a:lstStyle/>
          <a:p>
            <a:r>
              <a:rPr lang="en-US" b="0" i="0" dirty="0">
                <a:solidFill>
                  <a:srgbClr val="242424"/>
                </a:solidFill>
                <a:effectLst/>
                <a:latin typeface="source-serif-pro"/>
              </a:rPr>
              <a:t>SPARQL (SPARQL Protocol and RDF Query Language) is the query language</a:t>
            </a:r>
          </a:p>
          <a:p>
            <a:r>
              <a:rPr lang="en-US" b="0" i="0" dirty="0">
                <a:solidFill>
                  <a:srgbClr val="242424"/>
                </a:solidFill>
                <a:effectLst/>
                <a:latin typeface="source-serif-pro"/>
              </a:rPr>
              <a:t>The following query returns every triple</a:t>
            </a:r>
            <a:endParaRPr lang="en-NL" dirty="0"/>
          </a:p>
        </p:txBody>
      </p:sp>
      <p:pic>
        <p:nvPicPr>
          <p:cNvPr id="5" name="Picture 4">
            <a:extLst>
              <a:ext uri="{FF2B5EF4-FFF2-40B4-BE49-F238E27FC236}">
                <a16:creationId xmlns:a16="http://schemas.microsoft.com/office/drawing/2014/main" id="{F7164A3F-0CE0-CF10-E2A5-7282B3DF193A}"/>
              </a:ext>
            </a:extLst>
          </p:cNvPr>
          <p:cNvPicPr>
            <a:picLocks noChangeAspect="1"/>
          </p:cNvPicPr>
          <p:nvPr/>
        </p:nvPicPr>
        <p:blipFill>
          <a:blip r:embed="rId2"/>
          <a:stretch>
            <a:fillRect/>
          </a:stretch>
        </p:blipFill>
        <p:spPr>
          <a:xfrm>
            <a:off x="1074389" y="3339247"/>
            <a:ext cx="4210638" cy="1247949"/>
          </a:xfrm>
          <a:prstGeom prst="rect">
            <a:avLst/>
          </a:prstGeom>
        </p:spPr>
      </p:pic>
      <p:sp>
        <p:nvSpPr>
          <p:cNvPr id="6" name="Rectangle 1">
            <a:extLst>
              <a:ext uri="{FF2B5EF4-FFF2-40B4-BE49-F238E27FC236}">
                <a16:creationId xmlns:a16="http://schemas.microsoft.com/office/drawing/2014/main" id="{67C0E017-B4BE-C5B2-50D6-34EF0E1A2192}"/>
              </a:ext>
            </a:extLst>
          </p:cNvPr>
          <p:cNvSpPr>
            <a:spLocks noChangeArrowheads="1"/>
          </p:cNvSpPr>
          <p:nvPr/>
        </p:nvSpPr>
        <p:spPr bwMode="auto">
          <a:xfrm>
            <a:off x="5557345" y="3515710"/>
            <a:ext cx="12192000" cy="0"/>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The </a:t>
            </a:r>
            <a:r>
              <a:rPr kumimoji="0" lang="en-NL" altLang="en-NL" sz="1100" b="0" i="0" u="none" strike="noStrike" cap="none" normalizeH="0" baseline="0" dirty="0">
                <a:ln>
                  <a:noFill/>
                </a:ln>
                <a:solidFill>
                  <a:srgbClr val="242424"/>
                </a:solidFill>
                <a:effectLst/>
                <a:latin typeface="source-code-pro"/>
              </a:rPr>
              <a:t>?</a:t>
            </a:r>
            <a:r>
              <a:rPr kumimoji="0" lang="en-NL" altLang="en-NL" sz="1500" b="0" i="0" u="none" strike="noStrike" cap="none" normalizeH="0" baseline="0" dirty="0">
                <a:ln>
                  <a:noFill/>
                </a:ln>
                <a:solidFill>
                  <a:srgbClr val="242424"/>
                </a:solidFill>
                <a:effectLst/>
                <a:latin typeface="source-serif-pro"/>
              </a:rPr>
              <a:t> indicates a variable so </a:t>
            </a:r>
            <a:r>
              <a:rPr kumimoji="0" lang="en-NL" altLang="en-NL" sz="1100" b="0" i="0" u="none" strike="noStrike" cap="none" normalizeH="0" baseline="0" dirty="0">
                <a:ln>
                  <a:noFill/>
                </a:ln>
                <a:solidFill>
                  <a:srgbClr val="242424"/>
                </a:solidFill>
                <a:effectLst/>
                <a:latin typeface="source-code-pro"/>
              </a:rPr>
              <a:t>?example</a:t>
            </a:r>
            <a:r>
              <a:rPr kumimoji="0" lang="en-NL" altLang="en-NL" sz="1500" b="0" i="0" u="none" strike="noStrike" cap="none" normalizeH="0" baseline="0" dirty="0">
                <a:ln>
                  <a:noFill/>
                </a:ln>
                <a:solidFill>
                  <a:srgbClr val="242424"/>
                </a:solidFill>
                <a:effectLst/>
                <a:latin typeface="source-serif-pro"/>
              </a:rPr>
              <a:t> is a variable called “example”</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55CAF7C0-B3E7-44A2-9629-284B87126873}"/>
              </a:ext>
            </a:extLst>
          </p:cNvPr>
          <p:cNvPicPr>
            <a:picLocks noChangeAspect="1"/>
          </p:cNvPicPr>
          <p:nvPr/>
        </p:nvPicPr>
        <p:blipFill>
          <a:blip r:embed="rId3"/>
          <a:stretch>
            <a:fillRect/>
          </a:stretch>
        </p:blipFill>
        <p:spPr>
          <a:xfrm>
            <a:off x="1160126" y="4719518"/>
            <a:ext cx="2019582" cy="1705213"/>
          </a:xfrm>
          <a:prstGeom prst="rect">
            <a:avLst/>
          </a:prstGeom>
        </p:spPr>
      </p:pic>
      <p:sp>
        <p:nvSpPr>
          <p:cNvPr id="10" name="TextBox 9">
            <a:extLst>
              <a:ext uri="{FF2B5EF4-FFF2-40B4-BE49-F238E27FC236}">
                <a16:creationId xmlns:a16="http://schemas.microsoft.com/office/drawing/2014/main" id="{3FE23129-EBCA-BBA7-E644-51837BE9F323}"/>
              </a:ext>
            </a:extLst>
          </p:cNvPr>
          <p:cNvSpPr txBox="1"/>
          <p:nvPr/>
        </p:nvSpPr>
        <p:spPr>
          <a:xfrm>
            <a:off x="3256893" y="5156067"/>
            <a:ext cx="6096000" cy="369332"/>
          </a:xfrm>
          <a:prstGeom prst="rect">
            <a:avLst/>
          </a:prstGeom>
          <a:noFill/>
        </p:spPr>
        <p:txBody>
          <a:bodyPr wrap="square">
            <a:spAutoFit/>
          </a:bodyPr>
          <a:lstStyle/>
          <a:p>
            <a:r>
              <a:rPr lang="en-US" b="0" i="0" dirty="0">
                <a:solidFill>
                  <a:srgbClr val="242424"/>
                </a:solidFill>
                <a:effectLst/>
                <a:latin typeface="source-serif-pro"/>
              </a:rPr>
              <a:t> this query only returns 200 triples.</a:t>
            </a:r>
            <a:endParaRPr lang="en-NL" dirty="0"/>
          </a:p>
        </p:txBody>
      </p:sp>
    </p:spTree>
    <p:extLst>
      <p:ext uri="{BB962C8B-B14F-4D97-AF65-F5344CB8AC3E}">
        <p14:creationId xmlns:p14="http://schemas.microsoft.com/office/powerpoint/2010/main" val="1884403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2C27C-3EC3-CB9A-E920-72201EC6D07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4A93B3A5-AECA-9913-5DCC-C5D9BD156FF6}"/>
              </a:ext>
            </a:extLst>
          </p:cNvPr>
          <p:cNvPicPr>
            <a:picLocks noGrp="1" noChangeAspect="1"/>
          </p:cNvPicPr>
          <p:nvPr>
            <p:ph idx="1"/>
          </p:nvPr>
        </p:nvPicPr>
        <p:blipFill>
          <a:blip r:embed="rId2"/>
          <a:stretch>
            <a:fillRect/>
          </a:stretch>
        </p:blipFill>
        <p:spPr>
          <a:xfrm>
            <a:off x="701431" y="1868225"/>
            <a:ext cx="6611273" cy="1790950"/>
          </a:xfrm>
        </p:spPr>
      </p:pic>
      <p:sp>
        <p:nvSpPr>
          <p:cNvPr id="6" name="Rectangle 1">
            <a:extLst>
              <a:ext uri="{FF2B5EF4-FFF2-40B4-BE49-F238E27FC236}">
                <a16:creationId xmlns:a16="http://schemas.microsoft.com/office/drawing/2014/main" id="{3D008847-6F5B-6067-BD8C-0DE32FC48171}"/>
              </a:ext>
            </a:extLst>
          </p:cNvPr>
          <p:cNvSpPr>
            <a:spLocks noChangeArrowheads="1"/>
          </p:cNvSpPr>
          <p:nvPr/>
        </p:nvSpPr>
        <p:spPr bwMode="auto">
          <a:xfrm>
            <a:off x="291662" y="3835830"/>
            <a:ext cx="11508828" cy="553998"/>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Entities are connected to their human-readable names with the predicate </a:t>
            </a:r>
            <a:r>
              <a:rPr kumimoji="0" lang="en-NL" altLang="en-NL" sz="1100" b="0" i="0" u="none" strike="noStrike" cap="none" normalizeH="0" baseline="0" dirty="0" err="1">
                <a:ln>
                  <a:noFill/>
                </a:ln>
                <a:solidFill>
                  <a:srgbClr val="242424"/>
                </a:solidFill>
                <a:effectLst/>
                <a:latin typeface="source-code-pro"/>
              </a:rPr>
              <a:t>rdfs:label</a:t>
            </a:r>
            <a:r>
              <a:rPr kumimoji="0" lang="en-NL" altLang="en-NL" sz="1500" b="0" i="0" u="none" strike="noStrike" cap="none" normalizeH="0" baseline="0" dirty="0">
                <a:ln>
                  <a:noFill/>
                </a:ln>
                <a:solidFill>
                  <a:srgbClr val="242424"/>
                </a:solidFill>
                <a:effectLst/>
                <a:latin typeface="source-serif-pro"/>
              </a:rPr>
              <a:t> so </a:t>
            </a:r>
            <a:r>
              <a:rPr kumimoji="0" lang="en-NL" altLang="en-NL" sz="1100" b="0" i="0" u="none" strike="noStrike" cap="none" normalizeH="0" baseline="0" dirty="0">
                <a:ln>
                  <a:noFill/>
                </a:ln>
                <a:solidFill>
                  <a:srgbClr val="242424"/>
                </a:solidFill>
                <a:effectLst/>
                <a:latin typeface="source-code-pro"/>
              </a:rPr>
              <a:t>?entity </a:t>
            </a:r>
            <a:r>
              <a:rPr kumimoji="0" lang="en-NL" altLang="en-NL" sz="1100" b="0" i="0" u="none" strike="noStrike" cap="none" normalizeH="0" baseline="0" dirty="0" err="1">
                <a:ln>
                  <a:noFill/>
                </a:ln>
                <a:solidFill>
                  <a:srgbClr val="242424"/>
                </a:solidFill>
                <a:effectLst/>
                <a:latin typeface="source-code-pro"/>
              </a:rPr>
              <a:t>rdfs:label</a:t>
            </a:r>
            <a:r>
              <a:rPr kumimoji="0" lang="en-NL" altLang="en-NL" sz="1100" b="0" i="0" u="none" strike="noStrike" cap="none" normalizeH="0" baseline="0" dirty="0">
                <a:ln>
                  <a:noFill/>
                </a:ln>
                <a:solidFill>
                  <a:srgbClr val="242424"/>
                </a:solidFill>
                <a:effectLst/>
                <a:latin typeface="source-code-pro"/>
              </a:rPr>
              <a:t> ?name</a:t>
            </a:r>
            <a:r>
              <a:rPr kumimoji="0" lang="en-NL" altLang="en-NL" sz="1500" b="0" i="0" u="none" strike="noStrike" cap="none" normalizeH="0" baseline="0" dirty="0">
                <a:ln>
                  <a:noFill/>
                </a:ln>
                <a:solidFill>
                  <a:srgbClr val="242424"/>
                </a:solidFill>
                <a:effectLst/>
                <a:latin typeface="source-serif-pro"/>
              </a:rPr>
              <a:t> matches any triple with the predicate </a:t>
            </a:r>
            <a:r>
              <a:rPr kumimoji="0" lang="en-NL" altLang="en-NL" sz="1100" b="0" i="0" u="none" strike="noStrike" cap="none" normalizeH="0" baseline="0" dirty="0" err="1">
                <a:ln>
                  <a:noFill/>
                </a:ln>
                <a:solidFill>
                  <a:srgbClr val="242424"/>
                </a:solidFill>
                <a:effectLst/>
                <a:latin typeface="source-code-pro"/>
              </a:rPr>
              <a:t>rdfs:label</a:t>
            </a:r>
            <a:r>
              <a:rPr kumimoji="0" lang="en-NL" altLang="en-NL" sz="1500" b="0" i="0" u="none" strike="noStrike" cap="none" normalizeH="0" baseline="0" dirty="0">
                <a:ln>
                  <a:noFill/>
                </a:ln>
                <a:solidFill>
                  <a:srgbClr val="242424"/>
                </a:solidFill>
                <a:effectLst/>
                <a:latin typeface="source-serif-pro"/>
              </a:rPr>
              <a:t> and returns </a:t>
            </a:r>
            <a:r>
              <a:rPr kumimoji="0" lang="en-NL" altLang="en-NL" sz="1100" b="0" i="0" u="none" strike="noStrike" cap="none" normalizeH="0" baseline="0" dirty="0">
                <a:ln>
                  <a:noFill/>
                </a:ln>
                <a:solidFill>
                  <a:srgbClr val="242424"/>
                </a:solidFill>
                <a:effectLst/>
                <a:latin typeface="source-code-pro"/>
              </a:rPr>
              <a:t>?entity</a:t>
            </a:r>
            <a:r>
              <a:rPr kumimoji="0" lang="en-NL" altLang="en-NL" sz="1500" b="0" i="0" u="none" strike="noStrike" cap="none" normalizeH="0" baseline="0" dirty="0">
                <a:ln>
                  <a:noFill/>
                </a:ln>
                <a:solidFill>
                  <a:srgbClr val="242424"/>
                </a:solidFill>
                <a:effectLst/>
                <a:latin typeface="source-serif-pro"/>
              </a:rPr>
              <a:t> and </a:t>
            </a:r>
            <a:r>
              <a:rPr kumimoji="0" lang="en-NL" altLang="en-NL" sz="1100" b="0" i="0" u="none" strike="noStrike" cap="none" normalizeH="0" baseline="0" dirty="0">
                <a:ln>
                  <a:noFill/>
                </a:ln>
                <a:solidFill>
                  <a:srgbClr val="242424"/>
                </a:solidFill>
                <a:effectLst/>
                <a:latin typeface="source-code-pro"/>
              </a:rPr>
              <a:t>?name</a:t>
            </a:r>
            <a:r>
              <a:rPr kumimoji="0" lang="en-NL" altLang="en-NL" sz="1500" b="0" i="0" u="none" strike="noStrike" cap="none" normalizeH="0" baseline="0" dirty="0">
                <a:ln>
                  <a:noFill/>
                </a:ln>
                <a:solidFill>
                  <a:srgbClr val="242424"/>
                </a:solidFill>
                <a:effectLst/>
                <a:latin typeface="source-serif-pro"/>
              </a:rPr>
              <a:t>.</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823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E486-E590-F2E7-BB0E-35A143237F1C}"/>
              </a:ext>
            </a:extLst>
          </p:cNvPr>
          <p:cNvSpPr>
            <a:spLocks noGrp="1"/>
          </p:cNvSpPr>
          <p:nvPr>
            <p:ph type="title"/>
          </p:nvPr>
        </p:nvSpPr>
        <p:spPr/>
        <p:txBody>
          <a:bodyPr/>
          <a:lstStyle/>
          <a:p>
            <a:r>
              <a:rPr lang="en-US" b="1" i="0" dirty="0">
                <a:solidFill>
                  <a:srgbClr val="242424"/>
                </a:solidFill>
                <a:effectLst/>
                <a:latin typeface="sohne"/>
              </a:rPr>
              <a:t>Olympics RDF data Examples:</a:t>
            </a:r>
            <a:br>
              <a:rPr lang="en-US" b="1" i="0" dirty="0">
                <a:solidFill>
                  <a:srgbClr val="242424"/>
                </a:solidFill>
                <a:effectLst/>
                <a:latin typeface="sohne"/>
              </a:rPr>
            </a:br>
            <a:endParaRPr lang="en-NL" dirty="0"/>
          </a:p>
        </p:txBody>
      </p:sp>
      <p:pic>
        <p:nvPicPr>
          <p:cNvPr id="5" name="Content Placeholder 4">
            <a:extLst>
              <a:ext uri="{FF2B5EF4-FFF2-40B4-BE49-F238E27FC236}">
                <a16:creationId xmlns:a16="http://schemas.microsoft.com/office/drawing/2014/main" id="{ED9638DD-6794-1CDE-CE6D-AFB76CA4ABE0}"/>
              </a:ext>
            </a:extLst>
          </p:cNvPr>
          <p:cNvPicPr>
            <a:picLocks noGrp="1" noChangeAspect="1"/>
          </p:cNvPicPr>
          <p:nvPr>
            <p:ph idx="1"/>
          </p:nvPr>
        </p:nvPicPr>
        <p:blipFill>
          <a:blip r:embed="rId2"/>
          <a:stretch>
            <a:fillRect/>
          </a:stretch>
        </p:blipFill>
        <p:spPr>
          <a:xfrm>
            <a:off x="1141668" y="1794094"/>
            <a:ext cx="6235297" cy="4351338"/>
          </a:xfrm>
        </p:spPr>
      </p:pic>
    </p:spTree>
    <p:extLst>
      <p:ext uri="{BB962C8B-B14F-4D97-AF65-F5344CB8AC3E}">
        <p14:creationId xmlns:p14="http://schemas.microsoft.com/office/powerpoint/2010/main" val="1829052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CD91-C314-ABDC-8B54-0656424F340A}"/>
              </a:ext>
            </a:extLst>
          </p:cNvPr>
          <p:cNvSpPr>
            <a:spLocks noGrp="1"/>
          </p:cNvSpPr>
          <p:nvPr>
            <p:ph type="title"/>
          </p:nvPr>
        </p:nvSpPr>
        <p:spPr/>
        <p:txBody>
          <a:bodyPr/>
          <a:lstStyle/>
          <a:p>
            <a:r>
              <a:rPr lang="en-US" dirty="0"/>
              <a:t>Query </a:t>
            </a:r>
            <a:endParaRPr lang="en-NL" dirty="0"/>
          </a:p>
        </p:txBody>
      </p:sp>
      <p:sp>
        <p:nvSpPr>
          <p:cNvPr id="3" name="Content Placeholder 2">
            <a:extLst>
              <a:ext uri="{FF2B5EF4-FFF2-40B4-BE49-F238E27FC236}">
                <a16:creationId xmlns:a16="http://schemas.microsoft.com/office/drawing/2014/main" id="{D856B7C7-DA1F-4B7D-3DD3-372AC3BCA9C8}"/>
              </a:ext>
            </a:extLst>
          </p:cNvPr>
          <p:cNvSpPr>
            <a:spLocks noGrp="1"/>
          </p:cNvSpPr>
          <p:nvPr>
            <p:ph idx="1"/>
          </p:nvPr>
        </p:nvSpPr>
        <p:spPr>
          <a:xfrm>
            <a:off x="650328" y="1459076"/>
            <a:ext cx="10515600" cy="4351338"/>
          </a:xfrm>
        </p:spPr>
        <p:txBody>
          <a:bodyPr/>
          <a:lstStyle/>
          <a:p>
            <a:r>
              <a:rPr lang="en-US" b="0" i="0" dirty="0">
                <a:solidFill>
                  <a:srgbClr val="242424"/>
                </a:solidFill>
                <a:effectLst/>
                <a:latin typeface="source-serif-pro"/>
              </a:rPr>
              <a:t>Lists the names of every gold </a:t>
            </a:r>
            <a:r>
              <a:rPr lang="en-US" b="0" i="0" dirty="0" err="1">
                <a:solidFill>
                  <a:srgbClr val="242424"/>
                </a:solidFill>
                <a:effectLst/>
                <a:latin typeface="source-serif-pro"/>
              </a:rPr>
              <a:t>medallist</a:t>
            </a:r>
            <a:r>
              <a:rPr lang="en-US" b="0" i="0" dirty="0">
                <a:solidFill>
                  <a:srgbClr val="242424"/>
                </a:solidFill>
                <a:effectLst/>
                <a:latin typeface="source-serif-pro"/>
              </a:rPr>
              <a:t> (excluding duplicates):</a:t>
            </a:r>
            <a:endParaRPr lang="en-NL" dirty="0"/>
          </a:p>
        </p:txBody>
      </p:sp>
      <p:pic>
        <p:nvPicPr>
          <p:cNvPr id="5" name="Picture 4">
            <a:extLst>
              <a:ext uri="{FF2B5EF4-FFF2-40B4-BE49-F238E27FC236}">
                <a16:creationId xmlns:a16="http://schemas.microsoft.com/office/drawing/2014/main" id="{0960FE84-B866-1DAB-9520-228D103FDC13}"/>
              </a:ext>
            </a:extLst>
          </p:cNvPr>
          <p:cNvPicPr>
            <a:picLocks noChangeAspect="1"/>
          </p:cNvPicPr>
          <p:nvPr/>
        </p:nvPicPr>
        <p:blipFill>
          <a:blip r:embed="rId2"/>
          <a:stretch>
            <a:fillRect/>
          </a:stretch>
        </p:blipFill>
        <p:spPr>
          <a:xfrm>
            <a:off x="791887" y="1965003"/>
            <a:ext cx="5741093" cy="1639271"/>
          </a:xfrm>
          <a:prstGeom prst="rect">
            <a:avLst/>
          </a:prstGeom>
        </p:spPr>
      </p:pic>
      <p:sp>
        <p:nvSpPr>
          <p:cNvPr id="6" name="TextBox 5">
            <a:extLst>
              <a:ext uri="{FF2B5EF4-FFF2-40B4-BE49-F238E27FC236}">
                <a16:creationId xmlns:a16="http://schemas.microsoft.com/office/drawing/2014/main" id="{D9C8F046-A797-AEA1-4F18-7A6EBF5404B0}"/>
              </a:ext>
            </a:extLst>
          </p:cNvPr>
          <p:cNvSpPr txBox="1"/>
          <p:nvPr/>
        </p:nvSpPr>
        <p:spPr>
          <a:xfrm>
            <a:off x="6531612" y="1927400"/>
            <a:ext cx="4106917" cy="646331"/>
          </a:xfrm>
          <a:prstGeom prst="rect">
            <a:avLst/>
          </a:prstGeom>
          <a:noFill/>
        </p:spPr>
        <p:txBody>
          <a:bodyPr wrap="square" rtlCol="0">
            <a:spAutoFit/>
          </a:bodyPr>
          <a:lstStyle/>
          <a:p>
            <a:r>
              <a:rPr lang="en-US" b="0" i="0" dirty="0">
                <a:solidFill>
                  <a:srgbClr val="242424"/>
                </a:solidFill>
                <a:effectLst/>
                <a:latin typeface="source-serif-pro"/>
              </a:rPr>
              <a:t>listing the prefixes used in the query to make it more readable. </a:t>
            </a:r>
            <a:endParaRPr lang="en-NL" dirty="0"/>
          </a:p>
        </p:txBody>
      </p:sp>
      <p:cxnSp>
        <p:nvCxnSpPr>
          <p:cNvPr id="8" name="Connector: Curved 7">
            <a:extLst>
              <a:ext uri="{FF2B5EF4-FFF2-40B4-BE49-F238E27FC236}">
                <a16:creationId xmlns:a16="http://schemas.microsoft.com/office/drawing/2014/main" id="{F815AA9E-9A72-B01B-213D-80AD7D80EA32}"/>
              </a:ext>
            </a:extLst>
          </p:cNvPr>
          <p:cNvCxnSpPr/>
          <p:nvPr/>
        </p:nvCxnSpPr>
        <p:spPr>
          <a:xfrm>
            <a:off x="2691071" y="2617027"/>
            <a:ext cx="4654769" cy="59121"/>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2">
            <a:extLst>
              <a:ext uri="{FF2B5EF4-FFF2-40B4-BE49-F238E27FC236}">
                <a16:creationId xmlns:a16="http://schemas.microsoft.com/office/drawing/2014/main" id="{E589EAA6-62A0-A168-4DF2-4A000E2BC666}"/>
              </a:ext>
            </a:extLst>
          </p:cNvPr>
          <p:cNvSpPr>
            <a:spLocks noChangeArrowheads="1"/>
          </p:cNvSpPr>
          <p:nvPr/>
        </p:nvSpPr>
        <p:spPr bwMode="auto">
          <a:xfrm>
            <a:off x="7443595" y="2547621"/>
            <a:ext cx="3633952" cy="323165"/>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selected o return the variable call</a:t>
            </a:r>
            <a:r>
              <a:rPr kumimoji="0" lang="en-US" altLang="en-NL" sz="1500" b="0" i="0" u="none" strike="noStrike" cap="none" normalizeH="0" baseline="0" dirty="0">
                <a:ln>
                  <a:noFill/>
                </a:ln>
                <a:solidFill>
                  <a:srgbClr val="242424"/>
                </a:solidFill>
                <a:effectLst/>
                <a:latin typeface="source-serif-pro"/>
              </a:rPr>
              <a:t>ed</a:t>
            </a:r>
            <a:r>
              <a:rPr kumimoji="0" lang="en-NL" altLang="en-NL" sz="1500" b="0" i="0" u="none" strike="noStrike" cap="none" normalizeH="0" baseline="0" dirty="0">
                <a:ln>
                  <a:noFill/>
                </a:ln>
                <a:solidFill>
                  <a:srgbClr val="242424"/>
                </a:solidFill>
                <a:effectLst/>
                <a:latin typeface="source-serif-pro"/>
              </a:rPr>
              <a:t> </a:t>
            </a:r>
            <a:r>
              <a:rPr kumimoji="0" lang="en-NL" altLang="en-NL" sz="1100" b="0" i="0" u="none" strike="noStrike" cap="none" normalizeH="0" baseline="0" dirty="0">
                <a:ln>
                  <a:noFill/>
                </a:ln>
                <a:solidFill>
                  <a:srgbClr val="242424"/>
                </a:solidFill>
                <a:effectLst/>
                <a:latin typeface="source-code-pro"/>
              </a:rPr>
              <a:t>?name</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cxnSp>
        <p:nvCxnSpPr>
          <p:cNvPr id="20" name="Straight Arrow Connector 19">
            <a:extLst>
              <a:ext uri="{FF2B5EF4-FFF2-40B4-BE49-F238E27FC236}">
                <a16:creationId xmlns:a16="http://schemas.microsoft.com/office/drawing/2014/main" id="{1C71F680-E1EC-0944-4DB1-31E7E95872D8}"/>
              </a:ext>
            </a:extLst>
          </p:cNvPr>
          <p:cNvCxnSpPr/>
          <p:nvPr/>
        </p:nvCxnSpPr>
        <p:spPr>
          <a:xfrm>
            <a:off x="1974630" y="2693039"/>
            <a:ext cx="5852949" cy="5005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Rectangle 4">
            <a:extLst>
              <a:ext uri="{FF2B5EF4-FFF2-40B4-BE49-F238E27FC236}">
                <a16:creationId xmlns:a16="http://schemas.microsoft.com/office/drawing/2014/main" id="{551CF09D-E07F-C61B-27F5-CC70461202FE}"/>
              </a:ext>
            </a:extLst>
          </p:cNvPr>
          <p:cNvSpPr>
            <a:spLocks noChangeArrowheads="1"/>
          </p:cNvSpPr>
          <p:nvPr/>
        </p:nvSpPr>
        <p:spPr bwMode="auto">
          <a:xfrm>
            <a:off x="6669942" y="3238871"/>
            <a:ext cx="5084379" cy="553998"/>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 </a:t>
            </a:r>
            <a:r>
              <a:rPr kumimoji="0" lang="en-NL" altLang="en-NL" sz="1100" b="0" i="0" u="none" strike="noStrike" cap="none" normalizeH="0" baseline="0" dirty="0">
                <a:ln>
                  <a:noFill/>
                </a:ln>
                <a:solidFill>
                  <a:srgbClr val="242424"/>
                </a:solidFill>
                <a:effectLst/>
                <a:latin typeface="source-code-pro"/>
              </a:rPr>
              <a:t>DISTINCT</a:t>
            </a:r>
            <a:r>
              <a:rPr kumimoji="0" lang="en-NL" altLang="en-NL" sz="1500" b="0" i="0" u="none" strike="noStrike" cap="none" normalizeH="0" baseline="0" dirty="0">
                <a:ln>
                  <a:noFill/>
                </a:ln>
                <a:solidFill>
                  <a:srgbClr val="242424"/>
                </a:solidFill>
                <a:effectLst/>
                <a:latin typeface="source-serif-pro"/>
              </a:rPr>
              <a:t> clause after </a:t>
            </a:r>
            <a:r>
              <a:rPr kumimoji="0" lang="en-NL" altLang="en-NL" sz="1100" b="0" i="0" u="none" strike="noStrike" cap="none" normalizeH="0" baseline="0" dirty="0">
                <a:ln>
                  <a:noFill/>
                </a:ln>
                <a:solidFill>
                  <a:srgbClr val="242424"/>
                </a:solidFill>
                <a:effectLst/>
                <a:latin typeface="source-code-pro"/>
              </a:rPr>
              <a:t>SELECT</a:t>
            </a:r>
            <a:r>
              <a:rPr kumimoji="0" lang="en-NL" altLang="en-NL" sz="1500" b="0" i="0" u="none" strike="noStrike" cap="none" normalizeH="0" baseline="0" dirty="0">
                <a:ln>
                  <a:noFill/>
                </a:ln>
                <a:solidFill>
                  <a:srgbClr val="242424"/>
                </a:solidFill>
                <a:effectLst/>
                <a:latin typeface="source-serif-pro"/>
              </a:rPr>
              <a:t> filters the names to remove duplicates.</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
        <p:nvSpPr>
          <p:cNvPr id="25" name="TextBox 24">
            <a:extLst>
              <a:ext uri="{FF2B5EF4-FFF2-40B4-BE49-F238E27FC236}">
                <a16:creationId xmlns:a16="http://schemas.microsoft.com/office/drawing/2014/main" id="{E9F6DA68-2AC5-5232-143B-BD7C2F3D4D1C}"/>
              </a:ext>
            </a:extLst>
          </p:cNvPr>
          <p:cNvSpPr txBox="1"/>
          <p:nvPr/>
        </p:nvSpPr>
        <p:spPr>
          <a:xfrm>
            <a:off x="614762" y="3634745"/>
            <a:ext cx="6095342" cy="369332"/>
          </a:xfrm>
          <a:prstGeom prst="rect">
            <a:avLst/>
          </a:prstGeom>
          <a:noFill/>
        </p:spPr>
        <p:txBody>
          <a:bodyPr wrap="square">
            <a:spAutoFit/>
          </a:bodyPr>
          <a:lstStyle/>
          <a:p>
            <a:r>
              <a:rPr lang="en-US" b="0" i="0" dirty="0">
                <a:solidFill>
                  <a:srgbClr val="242424"/>
                </a:solidFill>
                <a:effectLst/>
                <a:latin typeface="source-serif-pro"/>
              </a:rPr>
              <a:t> athletes are linked to their medals through the instance entity</a:t>
            </a:r>
            <a:endParaRPr lang="en-NL" dirty="0"/>
          </a:p>
        </p:txBody>
      </p:sp>
      <p:pic>
        <p:nvPicPr>
          <p:cNvPr id="27" name="Picture 26">
            <a:extLst>
              <a:ext uri="{FF2B5EF4-FFF2-40B4-BE49-F238E27FC236}">
                <a16:creationId xmlns:a16="http://schemas.microsoft.com/office/drawing/2014/main" id="{B43ADCB8-01A4-87B9-67AB-50CE90B25028}"/>
              </a:ext>
            </a:extLst>
          </p:cNvPr>
          <p:cNvPicPr>
            <a:picLocks noChangeAspect="1"/>
          </p:cNvPicPr>
          <p:nvPr/>
        </p:nvPicPr>
        <p:blipFill>
          <a:blip r:embed="rId3"/>
          <a:stretch>
            <a:fillRect/>
          </a:stretch>
        </p:blipFill>
        <p:spPr>
          <a:xfrm>
            <a:off x="548697" y="3938856"/>
            <a:ext cx="7990490" cy="1041239"/>
          </a:xfrm>
          <a:prstGeom prst="rect">
            <a:avLst/>
          </a:prstGeom>
        </p:spPr>
      </p:pic>
      <p:sp>
        <p:nvSpPr>
          <p:cNvPr id="29" name="TextBox 28">
            <a:extLst>
              <a:ext uri="{FF2B5EF4-FFF2-40B4-BE49-F238E27FC236}">
                <a16:creationId xmlns:a16="http://schemas.microsoft.com/office/drawing/2014/main" id="{B0ED0757-1691-F42E-09D0-4C39918397C2}"/>
              </a:ext>
            </a:extLst>
          </p:cNvPr>
          <p:cNvSpPr txBox="1"/>
          <p:nvPr/>
        </p:nvSpPr>
        <p:spPr>
          <a:xfrm>
            <a:off x="14451" y="2820205"/>
            <a:ext cx="1647497" cy="246221"/>
          </a:xfrm>
          <a:prstGeom prst="rect">
            <a:avLst/>
          </a:prstGeom>
          <a:noFill/>
        </p:spPr>
        <p:txBody>
          <a:bodyPr wrap="square">
            <a:spAutoFit/>
          </a:bodyPr>
          <a:lstStyle/>
          <a:p>
            <a:r>
              <a:rPr lang="en-US" sz="1000" b="0" i="0" dirty="0">
                <a:solidFill>
                  <a:srgbClr val="242424"/>
                </a:solidFill>
                <a:effectLst/>
                <a:highlight>
                  <a:srgbClr val="FFFF00"/>
                </a:highlight>
                <a:latin typeface="source-serif-pro"/>
              </a:rPr>
              <a:t>The first triple</a:t>
            </a:r>
            <a:endParaRPr lang="en-NL" sz="1000" dirty="0">
              <a:highlight>
                <a:srgbClr val="FFFF00"/>
              </a:highlight>
            </a:endParaRPr>
          </a:p>
        </p:txBody>
      </p:sp>
      <p:pic>
        <p:nvPicPr>
          <p:cNvPr id="31" name="Picture 30">
            <a:extLst>
              <a:ext uri="{FF2B5EF4-FFF2-40B4-BE49-F238E27FC236}">
                <a16:creationId xmlns:a16="http://schemas.microsoft.com/office/drawing/2014/main" id="{31EC9467-2DD9-74DE-FAD1-9EAA25E13287}"/>
              </a:ext>
            </a:extLst>
          </p:cNvPr>
          <p:cNvPicPr>
            <a:picLocks noChangeAspect="1"/>
          </p:cNvPicPr>
          <p:nvPr/>
        </p:nvPicPr>
        <p:blipFill>
          <a:blip r:embed="rId4"/>
          <a:stretch>
            <a:fillRect/>
          </a:stretch>
        </p:blipFill>
        <p:spPr>
          <a:xfrm>
            <a:off x="890939" y="5074627"/>
            <a:ext cx="3705742" cy="381053"/>
          </a:xfrm>
          <a:prstGeom prst="rect">
            <a:avLst/>
          </a:prstGeom>
        </p:spPr>
      </p:pic>
      <p:sp>
        <p:nvSpPr>
          <p:cNvPr id="34" name="TextBox 33">
            <a:extLst>
              <a:ext uri="{FF2B5EF4-FFF2-40B4-BE49-F238E27FC236}">
                <a16:creationId xmlns:a16="http://schemas.microsoft.com/office/drawing/2014/main" id="{E8F15192-2A1F-C796-9ABE-49132F55B95F}"/>
              </a:ext>
            </a:extLst>
          </p:cNvPr>
          <p:cNvSpPr txBox="1"/>
          <p:nvPr/>
        </p:nvSpPr>
        <p:spPr>
          <a:xfrm>
            <a:off x="67191" y="5101619"/>
            <a:ext cx="1647497" cy="246221"/>
          </a:xfrm>
          <a:prstGeom prst="rect">
            <a:avLst/>
          </a:prstGeom>
          <a:noFill/>
        </p:spPr>
        <p:txBody>
          <a:bodyPr wrap="square">
            <a:spAutoFit/>
          </a:bodyPr>
          <a:lstStyle/>
          <a:p>
            <a:r>
              <a:rPr lang="en-US" sz="1000" b="0" i="0" dirty="0">
                <a:solidFill>
                  <a:srgbClr val="242424"/>
                </a:solidFill>
                <a:effectLst/>
                <a:highlight>
                  <a:srgbClr val="FFFF00"/>
                </a:highlight>
                <a:latin typeface="source-serif-pro"/>
              </a:rPr>
              <a:t>The first triple</a:t>
            </a:r>
            <a:endParaRPr lang="en-NL" sz="1000" dirty="0">
              <a:highlight>
                <a:srgbClr val="FFFF00"/>
              </a:highlight>
            </a:endParaRPr>
          </a:p>
        </p:txBody>
      </p:sp>
      <p:sp>
        <p:nvSpPr>
          <p:cNvPr id="35" name="Rectangle 5">
            <a:extLst>
              <a:ext uri="{FF2B5EF4-FFF2-40B4-BE49-F238E27FC236}">
                <a16:creationId xmlns:a16="http://schemas.microsoft.com/office/drawing/2014/main" id="{6EAD7FCD-F2AF-CE96-A841-6368D164322C}"/>
              </a:ext>
            </a:extLst>
          </p:cNvPr>
          <p:cNvSpPr>
            <a:spLocks noChangeArrowheads="1"/>
          </p:cNvSpPr>
          <p:nvPr/>
        </p:nvSpPr>
        <p:spPr bwMode="auto">
          <a:xfrm>
            <a:off x="4514193" y="5179793"/>
            <a:ext cx="12192000" cy="0"/>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grabs every entity with an outgoing predicate </a:t>
            </a:r>
            <a:r>
              <a:rPr kumimoji="0" lang="en-NL" altLang="en-NL" sz="1100" b="0" i="0" u="none" strike="noStrike" cap="none" normalizeH="0" baseline="0" dirty="0" err="1">
                <a:ln>
                  <a:noFill/>
                </a:ln>
                <a:solidFill>
                  <a:srgbClr val="242424"/>
                </a:solidFill>
                <a:effectLst/>
                <a:latin typeface="source-code-pro"/>
              </a:rPr>
              <a:t>walls:athlete</a:t>
            </a:r>
            <a:r>
              <a:rPr kumimoji="0" lang="en-NL" altLang="en-NL" sz="1500" b="0" i="0" u="none" strike="noStrike" cap="none" normalizeH="0" baseline="0" dirty="0">
                <a:ln>
                  <a:noFill/>
                </a:ln>
                <a:solidFill>
                  <a:srgbClr val="242424"/>
                </a:solidFill>
                <a:effectLst/>
                <a:latin typeface="source-serif-pro"/>
              </a:rPr>
              <a:t> and the athlete entity.</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37" name="Picture 36">
            <a:extLst>
              <a:ext uri="{FF2B5EF4-FFF2-40B4-BE49-F238E27FC236}">
                <a16:creationId xmlns:a16="http://schemas.microsoft.com/office/drawing/2014/main" id="{E527C3D8-A9F1-6493-EEFC-ADEBD0598D11}"/>
              </a:ext>
            </a:extLst>
          </p:cNvPr>
          <p:cNvPicPr>
            <a:picLocks noChangeAspect="1"/>
          </p:cNvPicPr>
          <p:nvPr/>
        </p:nvPicPr>
        <p:blipFill>
          <a:blip r:embed="rId5"/>
          <a:stretch>
            <a:fillRect/>
          </a:stretch>
        </p:blipFill>
        <p:spPr>
          <a:xfrm>
            <a:off x="253210" y="5469780"/>
            <a:ext cx="7230484" cy="247685"/>
          </a:xfrm>
          <a:prstGeom prst="rect">
            <a:avLst/>
          </a:prstGeom>
        </p:spPr>
      </p:pic>
      <p:sp>
        <p:nvSpPr>
          <p:cNvPr id="39" name="TextBox 38">
            <a:extLst>
              <a:ext uri="{FF2B5EF4-FFF2-40B4-BE49-F238E27FC236}">
                <a16:creationId xmlns:a16="http://schemas.microsoft.com/office/drawing/2014/main" id="{76E008FD-A054-CA48-88FA-3C1E88991A84}"/>
              </a:ext>
            </a:extLst>
          </p:cNvPr>
          <p:cNvSpPr txBox="1"/>
          <p:nvPr/>
        </p:nvSpPr>
        <p:spPr>
          <a:xfrm>
            <a:off x="7554639" y="5405498"/>
            <a:ext cx="6111108" cy="261610"/>
          </a:xfrm>
          <a:prstGeom prst="rect">
            <a:avLst/>
          </a:prstGeom>
          <a:noFill/>
        </p:spPr>
        <p:txBody>
          <a:bodyPr wrap="square">
            <a:spAutoFit/>
          </a:bodyPr>
          <a:lstStyle/>
          <a:p>
            <a:r>
              <a:rPr lang="en-US" sz="1100" b="0" i="0" dirty="0">
                <a:solidFill>
                  <a:srgbClr val="242424"/>
                </a:solidFill>
                <a:effectLst/>
                <a:latin typeface="source-serif-pro"/>
              </a:rPr>
              <a:t>connects the instance entities to their Gold medal entities.</a:t>
            </a:r>
            <a:endParaRPr lang="en-NL" sz="1100" dirty="0"/>
          </a:p>
        </p:txBody>
      </p:sp>
      <p:sp>
        <p:nvSpPr>
          <p:cNvPr id="40" name="Rectangle 6">
            <a:extLst>
              <a:ext uri="{FF2B5EF4-FFF2-40B4-BE49-F238E27FC236}">
                <a16:creationId xmlns:a16="http://schemas.microsoft.com/office/drawing/2014/main" id="{945EC587-3988-207B-947C-0677D18A532F}"/>
              </a:ext>
            </a:extLst>
          </p:cNvPr>
          <p:cNvSpPr>
            <a:spLocks noChangeArrowheads="1"/>
          </p:cNvSpPr>
          <p:nvPr/>
        </p:nvSpPr>
        <p:spPr bwMode="auto">
          <a:xfrm>
            <a:off x="5088321" y="5938817"/>
            <a:ext cx="7161486" cy="323165"/>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500" b="0" i="0" u="none" strike="noStrike" cap="none" normalizeH="0" baseline="0" dirty="0">
                <a:ln>
                  <a:noFill/>
                </a:ln>
                <a:solidFill>
                  <a:srgbClr val="242424"/>
                </a:solidFill>
                <a:effectLst/>
                <a:latin typeface="source-serif-pro"/>
              </a:rPr>
              <a:t>we get their labels and assign them the variable </a:t>
            </a:r>
            <a:r>
              <a:rPr kumimoji="0" lang="en-NL" altLang="en-NL" sz="1100" b="0" i="0" u="none" strike="noStrike" cap="none" normalizeH="0" baseline="0" dirty="0">
                <a:ln>
                  <a:noFill/>
                </a:ln>
                <a:solidFill>
                  <a:srgbClr val="242424"/>
                </a:solidFill>
                <a:effectLst/>
                <a:latin typeface="source-code-pro"/>
              </a:rPr>
              <a:t>?name</a:t>
            </a:r>
            <a:r>
              <a:rPr kumimoji="0" lang="en-NL" altLang="en-NL" sz="1500" b="0" i="0" u="none" strike="noStrike" cap="none" normalizeH="0" baseline="0" dirty="0">
                <a:ln>
                  <a:noFill/>
                </a:ln>
                <a:solidFill>
                  <a:srgbClr val="242424"/>
                </a:solidFill>
                <a:effectLst/>
                <a:latin typeface="source-serif-pro"/>
              </a:rPr>
              <a:t> as this is what we want to return.</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42" name="Picture 41">
            <a:extLst>
              <a:ext uri="{FF2B5EF4-FFF2-40B4-BE49-F238E27FC236}">
                <a16:creationId xmlns:a16="http://schemas.microsoft.com/office/drawing/2014/main" id="{A6985766-C11E-1BA1-05BF-3357CB958C99}"/>
              </a:ext>
            </a:extLst>
          </p:cNvPr>
          <p:cNvPicPr>
            <a:picLocks noChangeAspect="1"/>
          </p:cNvPicPr>
          <p:nvPr/>
        </p:nvPicPr>
        <p:blipFill>
          <a:blip r:embed="rId6"/>
          <a:stretch>
            <a:fillRect/>
          </a:stretch>
        </p:blipFill>
        <p:spPr>
          <a:xfrm>
            <a:off x="1447263" y="6016191"/>
            <a:ext cx="2991267" cy="295316"/>
          </a:xfrm>
          <a:prstGeom prst="rect">
            <a:avLst/>
          </a:prstGeom>
        </p:spPr>
      </p:pic>
    </p:spTree>
    <p:extLst>
      <p:ext uri="{BB962C8B-B14F-4D97-AF65-F5344CB8AC3E}">
        <p14:creationId xmlns:p14="http://schemas.microsoft.com/office/powerpoint/2010/main" val="2894451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9DDAB-A884-1E9E-973D-0B9ACD2E59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70CFD6F-FE9E-05DA-A598-502B18BC5AA5}"/>
              </a:ext>
            </a:extLst>
          </p:cNvPr>
          <p:cNvSpPr>
            <a:spLocks noGrp="1"/>
          </p:cNvSpPr>
          <p:nvPr>
            <p:ph idx="1"/>
          </p:nvPr>
        </p:nvSpPr>
        <p:spPr/>
        <p:txBody>
          <a:bodyPr/>
          <a:lstStyle/>
          <a:p>
            <a:r>
              <a:rPr lang="en-US" b="0" i="0" dirty="0">
                <a:solidFill>
                  <a:srgbClr val="242424"/>
                </a:solidFill>
                <a:effectLst/>
                <a:latin typeface="source-serif-pro"/>
              </a:rPr>
              <a:t>a list of human-readable names of athletes that got gold medals at the Olympics (with duplicates removed) as desired:</a:t>
            </a:r>
            <a:endParaRPr lang="en-NL" dirty="0"/>
          </a:p>
        </p:txBody>
      </p:sp>
      <p:pic>
        <p:nvPicPr>
          <p:cNvPr id="5" name="Picture 4">
            <a:extLst>
              <a:ext uri="{FF2B5EF4-FFF2-40B4-BE49-F238E27FC236}">
                <a16:creationId xmlns:a16="http://schemas.microsoft.com/office/drawing/2014/main" id="{2BDFEB0D-A529-11D1-3B3B-49C9F22706A2}"/>
              </a:ext>
            </a:extLst>
          </p:cNvPr>
          <p:cNvPicPr>
            <a:picLocks noChangeAspect="1"/>
          </p:cNvPicPr>
          <p:nvPr/>
        </p:nvPicPr>
        <p:blipFill>
          <a:blip r:embed="rId2"/>
          <a:stretch>
            <a:fillRect/>
          </a:stretch>
        </p:blipFill>
        <p:spPr>
          <a:xfrm>
            <a:off x="1245475" y="2726764"/>
            <a:ext cx="6125489" cy="3647451"/>
          </a:xfrm>
          <a:prstGeom prst="rect">
            <a:avLst/>
          </a:prstGeom>
        </p:spPr>
      </p:pic>
    </p:spTree>
    <p:extLst>
      <p:ext uri="{BB962C8B-B14F-4D97-AF65-F5344CB8AC3E}">
        <p14:creationId xmlns:p14="http://schemas.microsoft.com/office/powerpoint/2010/main" val="1684894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6227-94A3-F440-810A-EEA11D22EF40}"/>
              </a:ext>
            </a:extLst>
          </p:cNvPr>
          <p:cNvSpPr>
            <a:spLocks noGrp="1"/>
          </p:cNvSpPr>
          <p:nvPr>
            <p:ph type="title"/>
          </p:nvPr>
        </p:nvSpPr>
        <p:spPr/>
        <p:txBody>
          <a:bodyPr/>
          <a:lstStyle/>
          <a:p>
            <a:r>
              <a:rPr lang="en-US" dirty="0"/>
              <a:t>Query</a:t>
            </a:r>
            <a:endParaRPr lang="en-NL" dirty="0"/>
          </a:p>
        </p:txBody>
      </p:sp>
      <p:sp>
        <p:nvSpPr>
          <p:cNvPr id="3" name="Content Placeholder 2">
            <a:extLst>
              <a:ext uri="{FF2B5EF4-FFF2-40B4-BE49-F238E27FC236}">
                <a16:creationId xmlns:a16="http://schemas.microsoft.com/office/drawing/2014/main" id="{E99BACC7-47B3-1F6A-1D59-2598A5DC3A97}"/>
              </a:ext>
            </a:extLst>
          </p:cNvPr>
          <p:cNvSpPr>
            <a:spLocks noGrp="1"/>
          </p:cNvSpPr>
          <p:nvPr>
            <p:ph idx="1"/>
          </p:nvPr>
        </p:nvSpPr>
        <p:spPr>
          <a:xfrm>
            <a:off x="838200" y="1569435"/>
            <a:ext cx="10515600" cy="4351338"/>
          </a:xfrm>
        </p:spPr>
        <p:txBody>
          <a:bodyPr/>
          <a:lstStyle/>
          <a:p>
            <a:r>
              <a:rPr lang="en-US" b="0" i="0" dirty="0">
                <a:solidFill>
                  <a:srgbClr val="242424"/>
                </a:solidFill>
                <a:effectLst/>
                <a:latin typeface="source-serif-pro"/>
              </a:rPr>
              <a:t>lists each country alongside the average height and weight of its athletes (sorted by the average height):</a:t>
            </a:r>
            <a:endParaRPr lang="en-NL" dirty="0"/>
          </a:p>
        </p:txBody>
      </p:sp>
      <p:pic>
        <p:nvPicPr>
          <p:cNvPr id="5" name="Picture 4">
            <a:extLst>
              <a:ext uri="{FF2B5EF4-FFF2-40B4-BE49-F238E27FC236}">
                <a16:creationId xmlns:a16="http://schemas.microsoft.com/office/drawing/2014/main" id="{A3C53448-16B3-8D9E-4E39-534DA93362A7}"/>
              </a:ext>
            </a:extLst>
          </p:cNvPr>
          <p:cNvPicPr>
            <a:picLocks noChangeAspect="1"/>
          </p:cNvPicPr>
          <p:nvPr/>
        </p:nvPicPr>
        <p:blipFill>
          <a:blip r:embed="rId2"/>
          <a:stretch>
            <a:fillRect/>
          </a:stretch>
        </p:blipFill>
        <p:spPr>
          <a:xfrm>
            <a:off x="523565" y="2723493"/>
            <a:ext cx="5352163" cy="3838903"/>
          </a:xfrm>
          <a:prstGeom prst="rect">
            <a:avLst/>
          </a:prstGeom>
        </p:spPr>
      </p:pic>
    </p:spTree>
    <p:extLst>
      <p:ext uri="{BB962C8B-B14F-4D97-AF65-F5344CB8AC3E}">
        <p14:creationId xmlns:p14="http://schemas.microsoft.com/office/powerpoint/2010/main" val="3008188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CA07-5229-B595-E18D-F5A8802B31E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AEC77D9-A3B1-CDFE-3E17-06B897797031}"/>
              </a:ext>
            </a:extLst>
          </p:cNvPr>
          <p:cNvSpPr>
            <a:spLocks noGrp="1"/>
          </p:cNvSpPr>
          <p:nvPr>
            <p:ph idx="1"/>
          </p:nvPr>
        </p:nvSpPr>
        <p:spPr/>
        <p:txBody>
          <a:bodyPr/>
          <a:lstStyle/>
          <a:p>
            <a:r>
              <a:rPr lang="en-US" dirty="0"/>
              <a:t>All SPARQL prefixes</a:t>
            </a:r>
          </a:p>
          <a:p>
            <a:r>
              <a:rPr lang="en-US" dirty="0">
                <a:hlinkClick r:id="rId2"/>
              </a:rPr>
              <a:t>https://prefix.cc/popular/all.sparql</a:t>
            </a:r>
            <a:endParaRPr lang="en-US" dirty="0"/>
          </a:p>
          <a:p>
            <a:endParaRPr lang="en-NL" dirty="0"/>
          </a:p>
        </p:txBody>
      </p:sp>
    </p:spTree>
    <p:extLst>
      <p:ext uri="{BB962C8B-B14F-4D97-AF65-F5344CB8AC3E}">
        <p14:creationId xmlns:p14="http://schemas.microsoft.com/office/powerpoint/2010/main" val="3525634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28737-B856-25C1-D7D5-B854B5718F5F}"/>
              </a:ext>
            </a:extLst>
          </p:cNvPr>
          <p:cNvSpPr>
            <a:spLocks noGrp="1"/>
          </p:cNvSpPr>
          <p:nvPr>
            <p:ph type="ctrTitle"/>
          </p:nvPr>
        </p:nvSpPr>
        <p:spPr/>
        <p:txBody>
          <a:bodyPr/>
          <a:lstStyle/>
          <a:p>
            <a:r>
              <a:rPr lang="en-US" b="1" dirty="0">
                <a:solidFill>
                  <a:srgbClr val="005A9C"/>
                </a:solidFill>
                <a:latin typeface="Arial" panose="020B0604020202020204" pitchFamily="34" charset="0"/>
              </a:rPr>
              <a:t>Tools</a:t>
            </a:r>
            <a:br>
              <a:rPr lang="en-US" b="1" dirty="0">
                <a:solidFill>
                  <a:srgbClr val="005A9C"/>
                </a:solidFill>
                <a:effectLst/>
                <a:latin typeface="Arial" panose="020B0604020202020204" pitchFamily="34" charset="0"/>
              </a:rPr>
            </a:br>
            <a:endParaRPr lang="en-NL" dirty="0"/>
          </a:p>
        </p:txBody>
      </p:sp>
      <p:sp>
        <p:nvSpPr>
          <p:cNvPr id="3" name="Subtitle 2">
            <a:extLst>
              <a:ext uri="{FF2B5EF4-FFF2-40B4-BE49-F238E27FC236}">
                <a16:creationId xmlns:a16="http://schemas.microsoft.com/office/drawing/2014/main" id="{B0205505-FA9F-E0C7-6FE7-FB6FAC28E6B9}"/>
              </a:ext>
            </a:extLst>
          </p:cNvPr>
          <p:cNvSpPr>
            <a:spLocks noGrp="1"/>
          </p:cNvSpPr>
          <p:nvPr>
            <p:ph type="subTitle" idx="1"/>
          </p:nvPr>
        </p:nvSpPr>
        <p:spPr/>
        <p:txBody>
          <a:bodyPr/>
          <a:lstStyle/>
          <a:p>
            <a:r>
              <a:rPr lang="en-US" dirty="0"/>
              <a:t>Elham</a:t>
            </a:r>
            <a:endParaRPr lang="en-NL" dirty="0"/>
          </a:p>
        </p:txBody>
      </p:sp>
    </p:spTree>
    <p:extLst>
      <p:ext uri="{BB962C8B-B14F-4D97-AF65-F5344CB8AC3E}">
        <p14:creationId xmlns:p14="http://schemas.microsoft.com/office/powerpoint/2010/main" val="2567915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9CC38-A0C6-F646-36D2-50CFB18AE3A8}"/>
              </a:ext>
            </a:extLst>
          </p:cNvPr>
          <p:cNvSpPr>
            <a:spLocks noGrp="1"/>
          </p:cNvSpPr>
          <p:nvPr>
            <p:ph type="title"/>
          </p:nvPr>
        </p:nvSpPr>
        <p:spPr/>
        <p:txBody>
          <a:bodyPr/>
          <a:lstStyle/>
          <a:p>
            <a:r>
              <a:rPr lang="en-US" dirty="0" err="1"/>
              <a:t>GraphDB</a:t>
            </a:r>
            <a:r>
              <a:rPr lang="en-US" dirty="0"/>
              <a:t> </a:t>
            </a:r>
            <a:endParaRPr lang="en-NL" dirty="0"/>
          </a:p>
        </p:txBody>
      </p:sp>
      <p:pic>
        <p:nvPicPr>
          <p:cNvPr id="5" name="Content Placeholder 4">
            <a:extLst>
              <a:ext uri="{FF2B5EF4-FFF2-40B4-BE49-F238E27FC236}">
                <a16:creationId xmlns:a16="http://schemas.microsoft.com/office/drawing/2014/main" id="{07F1AB00-89C9-E4CE-F09C-AC901B49EE9F}"/>
              </a:ext>
            </a:extLst>
          </p:cNvPr>
          <p:cNvPicPr>
            <a:picLocks noGrp="1" noChangeAspect="1"/>
          </p:cNvPicPr>
          <p:nvPr>
            <p:ph idx="1"/>
          </p:nvPr>
        </p:nvPicPr>
        <p:blipFill>
          <a:blip r:embed="rId2"/>
          <a:stretch>
            <a:fillRect/>
          </a:stretch>
        </p:blipFill>
        <p:spPr>
          <a:xfrm>
            <a:off x="792218" y="3429000"/>
            <a:ext cx="3768290" cy="2749966"/>
          </a:xfrm>
        </p:spPr>
      </p:pic>
      <p:pic>
        <p:nvPicPr>
          <p:cNvPr id="7" name="Picture 6">
            <a:extLst>
              <a:ext uri="{FF2B5EF4-FFF2-40B4-BE49-F238E27FC236}">
                <a16:creationId xmlns:a16="http://schemas.microsoft.com/office/drawing/2014/main" id="{F13FF453-037C-8D84-E502-61904F231065}"/>
              </a:ext>
            </a:extLst>
          </p:cNvPr>
          <p:cNvPicPr>
            <a:picLocks noChangeAspect="1"/>
          </p:cNvPicPr>
          <p:nvPr/>
        </p:nvPicPr>
        <p:blipFill>
          <a:blip r:embed="rId3"/>
          <a:stretch>
            <a:fillRect/>
          </a:stretch>
        </p:blipFill>
        <p:spPr>
          <a:xfrm>
            <a:off x="1044464" y="2400854"/>
            <a:ext cx="4889810" cy="681871"/>
          </a:xfrm>
          <a:prstGeom prst="rect">
            <a:avLst/>
          </a:prstGeom>
        </p:spPr>
      </p:pic>
      <p:sp>
        <p:nvSpPr>
          <p:cNvPr id="9" name="TextBox 8">
            <a:extLst>
              <a:ext uri="{FF2B5EF4-FFF2-40B4-BE49-F238E27FC236}">
                <a16:creationId xmlns:a16="http://schemas.microsoft.com/office/drawing/2014/main" id="{71102D68-488D-BAB3-0839-449F8792011E}"/>
              </a:ext>
            </a:extLst>
          </p:cNvPr>
          <p:cNvSpPr txBox="1"/>
          <p:nvPr/>
        </p:nvSpPr>
        <p:spPr>
          <a:xfrm>
            <a:off x="1297700" y="1762376"/>
            <a:ext cx="6095342" cy="923330"/>
          </a:xfrm>
          <a:prstGeom prst="rect">
            <a:avLst/>
          </a:prstGeom>
          <a:noFill/>
        </p:spPr>
        <p:txBody>
          <a:bodyPr wrap="square">
            <a:spAutoFit/>
          </a:bodyPr>
          <a:lstStyle/>
          <a:p>
            <a:r>
              <a:rPr lang="en-US" dirty="0">
                <a:hlinkClick r:id="rId4"/>
              </a:rPr>
              <a:t>Download here: </a:t>
            </a:r>
          </a:p>
          <a:p>
            <a:r>
              <a:rPr lang="en-NL" dirty="0">
                <a:hlinkClick r:id="rId4"/>
              </a:rPr>
              <a:t>https://graphdb.ontotext.com/</a:t>
            </a:r>
            <a:endParaRPr lang="en-US" dirty="0"/>
          </a:p>
          <a:p>
            <a:endParaRPr lang="en-NL" dirty="0"/>
          </a:p>
        </p:txBody>
      </p:sp>
    </p:spTree>
    <p:extLst>
      <p:ext uri="{BB962C8B-B14F-4D97-AF65-F5344CB8AC3E}">
        <p14:creationId xmlns:p14="http://schemas.microsoft.com/office/powerpoint/2010/main" val="3643957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4AA16-615F-0DE2-B1E5-BB6785049A37}"/>
              </a:ext>
            </a:extLst>
          </p:cNvPr>
          <p:cNvSpPr>
            <a:spLocks noGrp="1"/>
          </p:cNvSpPr>
          <p:nvPr>
            <p:ph type="title"/>
          </p:nvPr>
        </p:nvSpPr>
        <p:spPr/>
        <p:txBody>
          <a:bodyPr/>
          <a:lstStyle/>
          <a:p>
            <a:r>
              <a:rPr lang="en-US" dirty="0" err="1"/>
              <a:t>GraphDB</a:t>
            </a:r>
            <a:endParaRPr lang="en-NL" dirty="0"/>
          </a:p>
        </p:txBody>
      </p:sp>
      <p:sp>
        <p:nvSpPr>
          <p:cNvPr id="3" name="Content Placeholder 2">
            <a:extLst>
              <a:ext uri="{FF2B5EF4-FFF2-40B4-BE49-F238E27FC236}">
                <a16:creationId xmlns:a16="http://schemas.microsoft.com/office/drawing/2014/main" id="{9F114109-CEAF-561D-B453-19E6305E07A4}"/>
              </a:ext>
            </a:extLst>
          </p:cNvPr>
          <p:cNvSpPr>
            <a:spLocks noGrp="1"/>
          </p:cNvSpPr>
          <p:nvPr>
            <p:ph idx="1"/>
          </p:nvPr>
        </p:nvSpPr>
        <p:spPr/>
        <p:txBody>
          <a:bodyPr/>
          <a:lstStyle/>
          <a:p>
            <a:r>
              <a:rPr lang="en-US" dirty="0">
                <a:hlinkClick r:id="rId2"/>
              </a:rPr>
              <a:t>http://localhost:7200/</a:t>
            </a:r>
            <a:r>
              <a:rPr lang="en-US" b="0" i="0" dirty="0">
                <a:solidFill>
                  <a:srgbClr val="373A3C"/>
                </a:solidFill>
                <a:effectLst/>
                <a:latin typeface="Roboto" panose="02000000000000000000" pitchFamily="2" charset="0"/>
              </a:rPr>
              <a:t>.</a:t>
            </a:r>
            <a:endParaRPr lang="en-NL" dirty="0"/>
          </a:p>
        </p:txBody>
      </p:sp>
      <p:pic>
        <p:nvPicPr>
          <p:cNvPr id="7" name="Picture 6">
            <a:extLst>
              <a:ext uri="{FF2B5EF4-FFF2-40B4-BE49-F238E27FC236}">
                <a16:creationId xmlns:a16="http://schemas.microsoft.com/office/drawing/2014/main" id="{CECAF94D-AB0A-7EC4-760C-2064182AAF51}"/>
              </a:ext>
            </a:extLst>
          </p:cNvPr>
          <p:cNvPicPr>
            <a:picLocks noChangeAspect="1"/>
          </p:cNvPicPr>
          <p:nvPr/>
        </p:nvPicPr>
        <p:blipFill>
          <a:blip r:embed="rId3"/>
          <a:stretch>
            <a:fillRect/>
          </a:stretch>
        </p:blipFill>
        <p:spPr>
          <a:xfrm>
            <a:off x="1387366" y="2578475"/>
            <a:ext cx="8684172" cy="3733425"/>
          </a:xfrm>
          <a:prstGeom prst="rect">
            <a:avLst/>
          </a:prstGeom>
        </p:spPr>
      </p:pic>
    </p:spTree>
    <p:extLst>
      <p:ext uri="{BB962C8B-B14F-4D97-AF65-F5344CB8AC3E}">
        <p14:creationId xmlns:p14="http://schemas.microsoft.com/office/powerpoint/2010/main" val="59239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6BB2-E528-5816-D0FD-54F0A1295AFA}"/>
              </a:ext>
            </a:extLst>
          </p:cNvPr>
          <p:cNvSpPr>
            <a:spLocks noGrp="1"/>
          </p:cNvSpPr>
          <p:nvPr>
            <p:ph type="title"/>
          </p:nvPr>
        </p:nvSpPr>
        <p:spPr/>
        <p:txBody>
          <a:bodyPr/>
          <a:lstStyle/>
          <a:p>
            <a:r>
              <a:rPr lang="en-US" dirty="0"/>
              <a:t>Creation of repository</a:t>
            </a:r>
            <a:endParaRPr lang="en-NL" dirty="0"/>
          </a:p>
        </p:txBody>
      </p:sp>
      <p:pic>
        <p:nvPicPr>
          <p:cNvPr id="5" name="Content Placeholder 4">
            <a:extLst>
              <a:ext uri="{FF2B5EF4-FFF2-40B4-BE49-F238E27FC236}">
                <a16:creationId xmlns:a16="http://schemas.microsoft.com/office/drawing/2014/main" id="{3FA79C63-EE40-3B04-D658-914874727CFA}"/>
              </a:ext>
            </a:extLst>
          </p:cNvPr>
          <p:cNvPicPr>
            <a:picLocks noGrp="1" noChangeAspect="1"/>
          </p:cNvPicPr>
          <p:nvPr>
            <p:ph idx="1"/>
          </p:nvPr>
        </p:nvPicPr>
        <p:blipFill>
          <a:blip r:embed="rId2"/>
          <a:stretch>
            <a:fillRect/>
          </a:stretch>
        </p:blipFill>
        <p:spPr>
          <a:xfrm>
            <a:off x="838200" y="1888810"/>
            <a:ext cx="10515600" cy="4224968"/>
          </a:xfrm>
        </p:spPr>
      </p:pic>
    </p:spTree>
    <p:extLst>
      <p:ext uri="{BB962C8B-B14F-4D97-AF65-F5344CB8AC3E}">
        <p14:creationId xmlns:p14="http://schemas.microsoft.com/office/powerpoint/2010/main" val="2111627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0A4CA-2B64-4CEC-4B41-107174A6C077}"/>
              </a:ext>
            </a:extLst>
          </p:cNvPr>
          <p:cNvSpPr>
            <a:spLocks noGrp="1"/>
          </p:cNvSpPr>
          <p:nvPr>
            <p:ph type="title"/>
          </p:nvPr>
        </p:nvSpPr>
        <p:spPr/>
        <p:txBody>
          <a:bodyPr/>
          <a:lstStyle/>
          <a:p>
            <a:r>
              <a:rPr lang="en-US" dirty="0"/>
              <a:t>Import data </a:t>
            </a:r>
            <a:endParaRPr lang="en-NL" dirty="0"/>
          </a:p>
        </p:txBody>
      </p:sp>
      <p:pic>
        <p:nvPicPr>
          <p:cNvPr id="5" name="Content Placeholder 4">
            <a:extLst>
              <a:ext uri="{FF2B5EF4-FFF2-40B4-BE49-F238E27FC236}">
                <a16:creationId xmlns:a16="http://schemas.microsoft.com/office/drawing/2014/main" id="{8D17244F-0110-7BDE-93F1-04FF11912DB9}"/>
              </a:ext>
            </a:extLst>
          </p:cNvPr>
          <p:cNvPicPr>
            <a:picLocks noGrp="1" noChangeAspect="1"/>
          </p:cNvPicPr>
          <p:nvPr>
            <p:ph idx="1"/>
          </p:nvPr>
        </p:nvPicPr>
        <p:blipFill>
          <a:blip r:embed="rId2"/>
          <a:stretch>
            <a:fillRect/>
          </a:stretch>
        </p:blipFill>
        <p:spPr>
          <a:xfrm>
            <a:off x="938454" y="2211113"/>
            <a:ext cx="9160775" cy="3902787"/>
          </a:xfrm>
        </p:spPr>
      </p:pic>
    </p:spTree>
    <p:extLst>
      <p:ext uri="{BB962C8B-B14F-4D97-AF65-F5344CB8AC3E}">
        <p14:creationId xmlns:p14="http://schemas.microsoft.com/office/powerpoint/2010/main" val="2723947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760AA-83E6-A8C4-B1B3-08DA6FD1B73E}"/>
              </a:ext>
            </a:extLst>
          </p:cNvPr>
          <p:cNvSpPr>
            <a:spLocks noGrp="1"/>
          </p:cNvSpPr>
          <p:nvPr>
            <p:ph type="title"/>
          </p:nvPr>
        </p:nvSpPr>
        <p:spPr/>
        <p:txBody>
          <a:bodyPr/>
          <a:lstStyle/>
          <a:p>
            <a:endParaRPr lang="en-NL"/>
          </a:p>
        </p:txBody>
      </p:sp>
      <p:sp>
        <p:nvSpPr>
          <p:cNvPr id="7" name="Content Placeholder 6">
            <a:extLst>
              <a:ext uri="{FF2B5EF4-FFF2-40B4-BE49-F238E27FC236}">
                <a16:creationId xmlns:a16="http://schemas.microsoft.com/office/drawing/2014/main" id="{76EFA525-84A7-B8DA-2795-AE36FB37DC6C}"/>
              </a:ext>
            </a:extLst>
          </p:cNvPr>
          <p:cNvSpPr>
            <a:spLocks noGrp="1"/>
          </p:cNvSpPr>
          <p:nvPr>
            <p:ph idx="1"/>
          </p:nvPr>
        </p:nvSpPr>
        <p:spPr/>
        <p:txBody>
          <a:bodyPr/>
          <a:lstStyle/>
          <a:p>
            <a:endParaRPr lang="en-NL"/>
          </a:p>
        </p:txBody>
      </p:sp>
      <p:pic>
        <p:nvPicPr>
          <p:cNvPr id="9" name="Picture 8">
            <a:extLst>
              <a:ext uri="{FF2B5EF4-FFF2-40B4-BE49-F238E27FC236}">
                <a16:creationId xmlns:a16="http://schemas.microsoft.com/office/drawing/2014/main" id="{58E51142-DB12-BB5A-A039-0A2BD920BBFB}"/>
              </a:ext>
            </a:extLst>
          </p:cNvPr>
          <p:cNvPicPr>
            <a:picLocks noChangeAspect="1"/>
          </p:cNvPicPr>
          <p:nvPr/>
        </p:nvPicPr>
        <p:blipFill>
          <a:blip r:embed="rId2"/>
          <a:stretch>
            <a:fillRect/>
          </a:stretch>
        </p:blipFill>
        <p:spPr>
          <a:xfrm>
            <a:off x="1075996" y="1961534"/>
            <a:ext cx="9882352" cy="4406145"/>
          </a:xfrm>
          <a:prstGeom prst="rect">
            <a:avLst/>
          </a:prstGeom>
        </p:spPr>
      </p:pic>
    </p:spTree>
    <p:extLst>
      <p:ext uri="{BB962C8B-B14F-4D97-AF65-F5344CB8AC3E}">
        <p14:creationId xmlns:p14="http://schemas.microsoft.com/office/powerpoint/2010/main" val="14886019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6EF2-3733-44FB-2C58-27998EC6B3B1}"/>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4B4863A-B64D-67E6-B51E-3C08F593FBDB}"/>
              </a:ext>
            </a:extLst>
          </p:cNvPr>
          <p:cNvPicPr>
            <a:picLocks noGrp="1" noChangeAspect="1"/>
          </p:cNvPicPr>
          <p:nvPr>
            <p:ph idx="1"/>
          </p:nvPr>
        </p:nvPicPr>
        <p:blipFill>
          <a:blip r:embed="rId2"/>
          <a:stretch>
            <a:fillRect/>
          </a:stretch>
        </p:blipFill>
        <p:spPr>
          <a:xfrm>
            <a:off x="1094648" y="1825625"/>
            <a:ext cx="10002704" cy="4351338"/>
          </a:xfrm>
        </p:spPr>
      </p:pic>
    </p:spTree>
    <p:extLst>
      <p:ext uri="{BB962C8B-B14F-4D97-AF65-F5344CB8AC3E}">
        <p14:creationId xmlns:p14="http://schemas.microsoft.com/office/powerpoint/2010/main" val="16614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E2E8C-34A3-3B49-BA83-C548A89C4038}"/>
              </a:ext>
            </a:extLst>
          </p:cNvPr>
          <p:cNvSpPr>
            <a:spLocks noGrp="1"/>
          </p:cNvSpPr>
          <p:nvPr>
            <p:ph type="title"/>
          </p:nvPr>
        </p:nvSpPr>
        <p:spPr/>
        <p:txBody>
          <a:bodyPr/>
          <a:lstStyle/>
          <a:p>
            <a:r>
              <a:rPr lang="en-US" dirty="0" err="1"/>
              <a:t>Blazegraph</a:t>
            </a:r>
            <a:r>
              <a:rPr lang="en-US" dirty="0"/>
              <a:t> (Udemy course recommended this one)</a:t>
            </a:r>
            <a:endParaRPr lang="en-NL" dirty="0"/>
          </a:p>
        </p:txBody>
      </p:sp>
      <p:sp>
        <p:nvSpPr>
          <p:cNvPr id="3" name="Content Placeholder 2">
            <a:extLst>
              <a:ext uri="{FF2B5EF4-FFF2-40B4-BE49-F238E27FC236}">
                <a16:creationId xmlns:a16="http://schemas.microsoft.com/office/drawing/2014/main" id="{95508D45-3CF3-BF2E-F53C-8D6D27C0ED18}"/>
              </a:ext>
            </a:extLst>
          </p:cNvPr>
          <p:cNvSpPr>
            <a:spLocks noGrp="1"/>
          </p:cNvSpPr>
          <p:nvPr>
            <p:ph idx="1"/>
          </p:nvPr>
        </p:nvSpPr>
        <p:spPr/>
        <p:txBody>
          <a:bodyPr/>
          <a:lstStyle/>
          <a:p>
            <a:pPr marL="0" indent="0">
              <a:buNone/>
            </a:pPr>
            <a:r>
              <a:rPr lang="en-US" dirty="0">
                <a:hlinkClick r:id="rId2"/>
              </a:rPr>
              <a:t>https://blazegraph.com/</a:t>
            </a:r>
            <a:r>
              <a:rPr lang="en-US" dirty="0"/>
              <a:t> (to download and install it)</a:t>
            </a:r>
          </a:p>
          <a:p>
            <a:pPr marL="0" indent="0">
              <a:buNone/>
            </a:pPr>
            <a:r>
              <a:rPr lang="en-US" dirty="0"/>
              <a:t>Run the command (java -server -Xmx4g -jar blazegraph.jar)</a:t>
            </a:r>
          </a:p>
          <a:p>
            <a:pPr marL="0" indent="0">
              <a:buNone/>
            </a:pPr>
            <a:r>
              <a:rPr lang="en-US" dirty="0"/>
              <a:t>(sometimes it conflicts with </a:t>
            </a:r>
            <a:r>
              <a:rPr lang="en-US" dirty="0" err="1"/>
              <a:t>vpn</a:t>
            </a:r>
            <a:r>
              <a:rPr lang="en-US" dirty="0"/>
              <a:t> and gives the error on that. )</a:t>
            </a:r>
          </a:p>
          <a:p>
            <a:r>
              <a:rPr lang="en-US" dirty="0">
                <a:hlinkClick r:id="rId3"/>
              </a:rPr>
              <a:t>https://github.com/blazegraph/database/wiki/Quick_Start</a:t>
            </a:r>
            <a:endParaRPr lang="en-US" dirty="0"/>
          </a:p>
          <a:p>
            <a:endParaRPr lang="en-US" dirty="0"/>
          </a:p>
          <a:p>
            <a:r>
              <a:rPr lang="en-US" dirty="0"/>
              <a:t>If we want to work from a local machine just use this: </a:t>
            </a:r>
          </a:p>
          <a:p>
            <a:r>
              <a:rPr lang="en-US" b="0" i="0" u="sng" dirty="0">
                <a:effectLst/>
                <a:latin typeface="-apple-system"/>
                <a:hlinkClick r:id="rId4"/>
              </a:rPr>
              <a:t>http://localhost:9999/blazegraph/</a:t>
            </a:r>
            <a:endParaRPr lang="en-US" b="0" i="0" u="sng" dirty="0">
              <a:effectLst/>
              <a:latin typeface="-apple-system"/>
            </a:endParaRPr>
          </a:p>
          <a:p>
            <a:r>
              <a:rPr lang="en-US" u="sng" dirty="0" err="1">
                <a:latin typeface="-apple-system"/>
              </a:rPr>
              <a:t>Portnumber</a:t>
            </a:r>
            <a:r>
              <a:rPr lang="en-US" u="sng" dirty="0">
                <a:latin typeface="-apple-system"/>
              </a:rPr>
              <a:t>: 9999</a:t>
            </a:r>
            <a:endParaRPr lang="en-US" dirty="0"/>
          </a:p>
          <a:p>
            <a:endParaRPr lang="en-NL" dirty="0"/>
          </a:p>
        </p:txBody>
      </p:sp>
    </p:spTree>
    <p:extLst>
      <p:ext uri="{BB962C8B-B14F-4D97-AF65-F5344CB8AC3E}">
        <p14:creationId xmlns:p14="http://schemas.microsoft.com/office/powerpoint/2010/main" val="961592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3FF9D-0380-B7EB-1A05-03AF571677A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E353963-4058-2E61-2A57-4C684C248EA3}"/>
              </a:ext>
            </a:extLst>
          </p:cNvPr>
          <p:cNvPicPr>
            <a:picLocks noGrp="1" noChangeAspect="1"/>
          </p:cNvPicPr>
          <p:nvPr>
            <p:ph idx="1"/>
          </p:nvPr>
        </p:nvPicPr>
        <p:blipFill>
          <a:blip r:embed="rId2"/>
          <a:stretch>
            <a:fillRect/>
          </a:stretch>
        </p:blipFill>
        <p:spPr>
          <a:xfrm>
            <a:off x="997823" y="1656530"/>
            <a:ext cx="6102315" cy="2980504"/>
          </a:xfrm>
        </p:spPr>
      </p:pic>
      <p:pic>
        <p:nvPicPr>
          <p:cNvPr id="7" name="Picture 6">
            <a:extLst>
              <a:ext uri="{FF2B5EF4-FFF2-40B4-BE49-F238E27FC236}">
                <a16:creationId xmlns:a16="http://schemas.microsoft.com/office/drawing/2014/main" id="{08F3EC0F-4BF3-D99B-328E-912AA012A5DF}"/>
              </a:ext>
            </a:extLst>
          </p:cNvPr>
          <p:cNvPicPr>
            <a:picLocks noChangeAspect="1"/>
          </p:cNvPicPr>
          <p:nvPr/>
        </p:nvPicPr>
        <p:blipFill>
          <a:blip r:embed="rId3"/>
          <a:stretch>
            <a:fillRect/>
          </a:stretch>
        </p:blipFill>
        <p:spPr>
          <a:xfrm>
            <a:off x="4219574" y="3212605"/>
            <a:ext cx="6853237" cy="3467016"/>
          </a:xfrm>
          <a:prstGeom prst="rect">
            <a:avLst/>
          </a:prstGeom>
        </p:spPr>
      </p:pic>
      <p:cxnSp>
        <p:nvCxnSpPr>
          <p:cNvPr id="9" name="Straight Arrow Connector 8">
            <a:extLst>
              <a:ext uri="{FF2B5EF4-FFF2-40B4-BE49-F238E27FC236}">
                <a16:creationId xmlns:a16="http://schemas.microsoft.com/office/drawing/2014/main" id="{B3677F6B-8C6E-63EB-3AFA-0B67A28A57C0}"/>
              </a:ext>
            </a:extLst>
          </p:cNvPr>
          <p:cNvCxnSpPr/>
          <p:nvPr/>
        </p:nvCxnSpPr>
        <p:spPr>
          <a:xfrm>
            <a:off x="3362325" y="5991225"/>
            <a:ext cx="90963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Freeform: Shape 11">
            <a:extLst>
              <a:ext uri="{FF2B5EF4-FFF2-40B4-BE49-F238E27FC236}">
                <a16:creationId xmlns:a16="http://schemas.microsoft.com/office/drawing/2014/main" id="{5A93AF39-FFFC-BE3F-1673-02C2C84665D8}"/>
              </a:ext>
            </a:extLst>
          </p:cNvPr>
          <p:cNvSpPr/>
          <p:nvPr/>
        </p:nvSpPr>
        <p:spPr>
          <a:xfrm>
            <a:off x="4219574" y="5820177"/>
            <a:ext cx="3255087" cy="338774"/>
          </a:xfrm>
          <a:custGeom>
            <a:avLst/>
            <a:gdLst>
              <a:gd name="connsiteX0" fmla="*/ 6180 w 3255087"/>
              <a:gd name="connsiteY0" fmla="*/ 137949 h 338774"/>
              <a:gd name="connsiteX1" fmla="*/ 234780 w 3255087"/>
              <a:gd name="connsiteY1" fmla="*/ 110359 h 338774"/>
              <a:gd name="connsiteX2" fmla="*/ 305725 w 3255087"/>
              <a:gd name="connsiteY2" fmla="*/ 102476 h 338774"/>
              <a:gd name="connsiteX3" fmla="*/ 396376 w 3255087"/>
              <a:gd name="connsiteY3" fmla="*/ 82769 h 338774"/>
              <a:gd name="connsiteX4" fmla="*/ 490970 w 3255087"/>
              <a:gd name="connsiteY4" fmla="*/ 74886 h 338774"/>
              <a:gd name="connsiteX5" fmla="*/ 707745 w 3255087"/>
              <a:gd name="connsiteY5" fmla="*/ 39414 h 338774"/>
              <a:gd name="connsiteX6" fmla="*/ 1598497 w 3255087"/>
              <a:gd name="connsiteY6" fmla="*/ 0 h 338774"/>
              <a:gd name="connsiteX7" fmla="*/ 2761204 w 3255087"/>
              <a:gd name="connsiteY7" fmla="*/ 19707 h 338774"/>
              <a:gd name="connsiteX8" fmla="*/ 2891270 w 3255087"/>
              <a:gd name="connsiteY8" fmla="*/ 47297 h 338774"/>
              <a:gd name="connsiteX9" fmla="*/ 3092280 w 3255087"/>
              <a:gd name="connsiteY9" fmla="*/ 126124 h 338774"/>
              <a:gd name="connsiteX10" fmla="*/ 3226287 w 3255087"/>
              <a:gd name="connsiteY10" fmla="*/ 204952 h 338774"/>
              <a:gd name="connsiteX11" fmla="*/ 3253876 w 3255087"/>
              <a:gd name="connsiteY11" fmla="*/ 248307 h 338774"/>
              <a:gd name="connsiteX12" fmla="*/ 3249935 w 3255087"/>
              <a:gd name="connsiteY12" fmla="*/ 271955 h 338774"/>
              <a:gd name="connsiteX13" fmla="*/ 3155342 w 3255087"/>
              <a:gd name="connsiteY13" fmla="*/ 295604 h 338774"/>
              <a:gd name="connsiteX14" fmla="*/ 2757263 w 3255087"/>
              <a:gd name="connsiteY14" fmla="*/ 315311 h 338774"/>
              <a:gd name="connsiteX15" fmla="*/ 2706025 w 3255087"/>
              <a:gd name="connsiteY15" fmla="*/ 323193 h 338774"/>
              <a:gd name="connsiteX16" fmla="*/ 1831038 w 3255087"/>
              <a:gd name="connsiteY16" fmla="*/ 327135 h 338774"/>
              <a:gd name="connsiteX17" fmla="*/ 1740387 w 3255087"/>
              <a:gd name="connsiteY17" fmla="*/ 311369 h 338774"/>
              <a:gd name="connsiteX18" fmla="*/ 1295011 w 3255087"/>
              <a:gd name="connsiteY18" fmla="*/ 295604 h 338774"/>
              <a:gd name="connsiteX19" fmla="*/ 1161004 w 3255087"/>
              <a:gd name="connsiteY19" fmla="*/ 287721 h 338774"/>
              <a:gd name="connsiteX20" fmla="*/ 952111 w 3255087"/>
              <a:gd name="connsiteY20" fmla="*/ 271955 h 338774"/>
              <a:gd name="connsiteX21" fmla="*/ 573738 w 3255087"/>
              <a:gd name="connsiteY21" fmla="*/ 275897 h 338774"/>
              <a:gd name="connsiteX22" fmla="*/ 538266 w 3255087"/>
              <a:gd name="connsiteY22" fmla="*/ 279838 h 338774"/>
              <a:gd name="connsiteX23" fmla="*/ 510676 w 3255087"/>
              <a:gd name="connsiteY23" fmla="*/ 287721 h 338774"/>
              <a:gd name="connsiteX24" fmla="*/ 179601 w 3255087"/>
              <a:gd name="connsiteY24" fmla="*/ 283780 h 338774"/>
              <a:gd name="connsiteX25" fmla="*/ 140187 w 3255087"/>
              <a:gd name="connsiteY25" fmla="*/ 260131 h 338774"/>
              <a:gd name="connsiteX26" fmla="*/ 124421 w 3255087"/>
              <a:gd name="connsiteY26" fmla="*/ 252249 h 338774"/>
              <a:gd name="connsiteX27" fmla="*/ 73183 w 3255087"/>
              <a:gd name="connsiteY27" fmla="*/ 220717 h 338774"/>
              <a:gd name="connsiteX28" fmla="*/ 61359 w 3255087"/>
              <a:gd name="connsiteY28" fmla="*/ 185245 h 338774"/>
              <a:gd name="connsiteX29" fmla="*/ 6180 w 3255087"/>
              <a:gd name="connsiteY29" fmla="*/ 137949 h 338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255087" h="338774">
                <a:moveTo>
                  <a:pt x="6180" y="137949"/>
                </a:moveTo>
                <a:cubicBezTo>
                  <a:pt x="35083" y="125468"/>
                  <a:pt x="158496" y="118835"/>
                  <a:pt x="234780" y="110359"/>
                </a:cubicBezTo>
                <a:cubicBezTo>
                  <a:pt x="258428" y="107731"/>
                  <a:pt x="282271" y="106480"/>
                  <a:pt x="305725" y="102476"/>
                </a:cubicBezTo>
                <a:cubicBezTo>
                  <a:pt x="336207" y="97272"/>
                  <a:pt x="365791" y="87324"/>
                  <a:pt x="396376" y="82769"/>
                </a:cubicBezTo>
                <a:cubicBezTo>
                  <a:pt x="427671" y="78108"/>
                  <a:pt x="459632" y="79250"/>
                  <a:pt x="490970" y="74886"/>
                </a:cubicBezTo>
                <a:cubicBezTo>
                  <a:pt x="563490" y="64788"/>
                  <a:pt x="634564" y="41775"/>
                  <a:pt x="707745" y="39414"/>
                </a:cubicBezTo>
                <a:cubicBezTo>
                  <a:pt x="1167717" y="24576"/>
                  <a:pt x="870710" y="35502"/>
                  <a:pt x="1598497" y="0"/>
                </a:cubicBezTo>
                <a:lnTo>
                  <a:pt x="2761204" y="19707"/>
                </a:lnTo>
                <a:cubicBezTo>
                  <a:pt x="2805494" y="21327"/>
                  <a:pt x="2848605" y="35298"/>
                  <a:pt x="2891270" y="47297"/>
                </a:cubicBezTo>
                <a:cubicBezTo>
                  <a:pt x="2937297" y="60242"/>
                  <a:pt x="3042925" y="99619"/>
                  <a:pt x="3092280" y="126124"/>
                </a:cubicBezTo>
                <a:cubicBezTo>
                  <a:pt x="3137937" y="150643"/>
                  <a:pt x="3226287" y="204952"/>
                  <a:pt x="3226287" y="204952"/>
                </a:cubicBezTo>
                <a:cubicBezTo>
                  <a:pt x="3235483" y="219404"/>
                  <a:pt x="3248175" y="232154"/>
                  <a:pt x="3253876" y="248307"/>
                </a:cubicBezTo>
                <a:cubicBezTo>
                  <a:pt x="3256536" y="255843"/>
                  <a:pt x="3254635" y="265492"/>
                  <a:pt x="3249935" y="271955"/>
                </a:cubicBezTo>
                <a:cubicBezTo>
                  <a:pt x="3226646" y="303978"/>
                  <a:pt x="3189074" y="292361"/>
                  <a:pt x="3155342" y="295604"/>
                </a:cubicBezTo>
                <a:cubicBezTo>
                  <a:pt x="2881081" y="321976"/>
                  <a:pt x="3157646" y="309244"/>
                  <a:pt x="2757263" y="315311"/>
                </a:cubicBezTo>
                <a:cubicBezTo>
                  <a:pt x="2740184" y="317938"/>
                  <a:pt x="2723193" y="321231"/>
                  <a:pt x="2706025" y="323193"/>
                </a:cubicBezTo>
                <a:cubicBezTo>
                  <a:pt x="2425890" y="355207"/>
                  <a:pt x="2030343" y="328131"/>
                  <a:pt x="1831038" y="327135"/>
                </a:cubicBezTo>
                <a:cubicBezTo>
                  <a:pt x="1800821" y="321880"/>
                  <a:pt x="1770800" y="315336"/>
                  <a:pt x="1740387" y="311369"/>
                </a:cubicBezTo>
                <a:cubicBezTo>
                  <a:pt x="1615671" y="295101"/>
                  <a:pt x="1353447" y="296902"/>
                  <a:pt x="1295011" y="295604"/>
                </a:cubicBezTo>
                <a:lnTo>
                  <a:pt x="1161004" y="287721"/>
                </a:lnTo>
                <a:cubicBezTo>
                  <a:pt x="1091340" y="282916"/>
                  <a:pt x="1021926" y="273361"/>
                  <a:pt x="952111" y="271955"/>
                </a:cubicBezTo>
                <a:lnTo>
                  <a:pt x="573738" y="275897"/>
                </a:lnTo>
                <a:cubicBezTo>
                  <a:pt x="561914" y="277211"/>
                  <a:pt x="549959" y="277646"/>
                  <a:pt x="538266" y="279838"/>
                </a:cubicBezTo>
                <a:cubicBezTo>
                  <a:pt x="528865" y="281601"/>
                  <a:pt x="520240" y="287616"/>
                  <a:pt x="510676" y="287721"/>
                </a:cubicBezTo>
                <a:lnTo>
                  <a:pt x="179601" y="283780"/>
                </a:lnTo>
                <a:cubicBezTo>
                  <a:pt x="166463" y="275897"/>
                  <a:pt x="153891" y="266982"/>
                  <a:pt x="140187" y="260131"/>
                </a:cubicBezTo>
                <a:cubicBezTo>
                  <a:pt x="134932" y="257504"/>
                  <a:pt x="129485" y="255228"/>
                  <a:pt x="124421" y="252249"/>
                </a:cubicBezTo>
                <a:cubicBezTo>
                  <a:pt x="107135" y="242081"/>
                  <a:pt x="73183" y="220717"/>
                  <a:pt x="73183" y="220717"/>
                </a:cubicBezTo>
                <a:cubicBezTo>
                  <a:pt x="69242" y="208893"/>
                  <a:pt x="68453" y="195492"/>
                  <a:pt x="61359" y="185245"/>
                </a:cubicBezTo>
                <a:cubicBezTo>
                  <a:pt x="58991" y="181824"/>
                  <a:pt x="-22723" y="150430"/>
                  <a:pt x="6180" y="137949"/>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TextBox 12">
            <a:extLst>
              <a:ext uri="{FF2B5EF4-FFF2-40B4-BE49-F238E27FC236}">
                <a16:creationId xmlns:a16="http://schemas.microsoft.com/office/drawing/2014/main" id="{ECB7B2EC-5F36-7EB7-43A6-24E7355EA041}"/>
              </a:ext>
            </a:extLst>
          </p:cNvPr>
          <p:cNvSpPr txBox="1"/>
          <p:nvPr/>
        </p:nvSpPr>
        <p:spPr>
          <a:xfrm>
            <a:off x="1324303" y="5687410"/>
            <a:ext cx="1954925" cy="646331"/>
          </a:xfrm>
          <a:prstGeom prst="rect">
            <a:avLst/>
          </a:prstGeom>
          <a:noFill/>
        </p:spPr>
        <p:txBody>
          <a:bodyPr wrap="square" rtlCol="0">
            <a:spAutoFit/>
          </a:bodyPr>
          <a:lstStyle/>
          <a:p>
            <a:r>
              <a:rPr lang="en-US" dirty="0"/>
              <a:t>Copy this in your browser to start it</a:t>
            </a:r>
            <a:endParaRPr lang="en-NL" dirty="0"/>
          </a:p>
        </p:txBody>
      </p:sp>
    </p:spTree>
    <p:extLst>
      <p:ext uri="{BB962C8B-B14F-4D97-AF65-F5344CB8AC3E}">
        <p14:creationId xmlns:p14="http://schemas.microsoft.com/office/powerpoint/2010/main" val="3580842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885A-E80A-1A31-7DF7-A0AFBC85207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44954FE7-17D9-EAED-7786-2968E563775A}"/>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1238E25A-395B-5055-ACAA-A819330C5B62}"/>
              </a:ext>
            </a:extLst>
          </p:cNvPr>
          <p:cNvPicPr>
            <a:picLocks noChangeAspect="1"/>
          </p:cNvPicPr>
          <p:nvPr/>
        </p:nvPicPr>
        <p:blipFill>
          <a:blip r:embed="rId2"/>
          <a:stretch>
            <a:fillRect/>
          </a:stretch>
        </p:blipFill>
        <p:spPr>
          <a:xfrm>
            <a:off x="1030212" y="2005013"/>
            <a:ext cx="8380487" cy="4210486"/>
          </a:xfrm>
          <a:prstGeom prst="rect">
            <a:avLst/>
          </a:prstGeom>
        </p:spPr>
      </p:pic>
    </p:spTree>
    <p:extLst>
      <p:ext uri="{BB962C8B-B14F-4D97-AF65-F5344CB8AC3E}">
        <p14:creationId xmlns:p14="http://schemas.microsoft.com/office/powerpoint/2010/main" val="469552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E6F59-88AF-6504-61A1-32554244DFA1}"/>
              </a:ext>
            </a:extLst>
          </p:cNvPr>
          <p:cNvSpPr>
            <a:spLocks noGrp="1"/>
          </p:cNvSpPr>
          <p:nvPr>
            <p:ph type="title"/>
          </p:nvPr>
        </p:nvSpPr>
        <p:spPr/>
        <p:txBody>
          <a:bodyPr/>
          <a:lstStyle/>
          <a:p>
            <a:r>
              <a:rPr lang="en-US"/>
              <a:t>Quick start with Blazegraph</a:t>
            </a:r>
            <a:endParaRPr lang="en-NL" dirty="0"/>
          </a:p>
        </p:txBody>
      </p:sp>
      <p:sp>
        <p:nvSpPr>
          <p:cNvPr id="3" name="Content Placeholder 2">
            <a:extLst>
              <a:ext uri="{FF2B5EF4-FFF2-40B4-BE49-F238E27FC236}">
                <a16:creationId xmlns:a16="http://schemas.microsoft.com/office/drawing/2014/main" id="{1B9F257F-A1DA-534E-D030-001059073303}"/>
              </a:ext>
            </a:extLst>
          </p:cNvPr>
          <p:cNvSpPr>
            <a:spLocks noGrp="1"/>
          </p:cNvSpPr>
          <p:nvPr>
            <p:ph idx="1"/>
          </p:nvPr>
        </p:nvSpPr>
        <p:spPr/>
        <p:txBody>
          <a:bodyPr/>
          <a:lstStyle/>
          <a:p>
            <a:r>
              <a:rPr lang="en-US"/>
              <a:t>First create a new database where we are going to be uploading our dataset. We go to namespace and create our demo in quad mode. </a:t>
            </a:r>
          </a:p>
          <a:p>
            <a:endParaRPr lang="en-NL" dirty="0"/>
          </a:p>
        </p:txBody>
      </p:sp>
      <p:pic>
        <p:nvPicPr>
          <p:cNvPr id="5" name="Picture 4">
            <a:extLst>
              <a:ext uri="{FF2B5EF4-FFF2-40B4-BE49-F238E27FC236}">
                <a16:creationId xmlns:a16="http://schemas.microsoft.com/office/drawing/2014/main" id="{C7EBF1D4-919D-3D0D-C606-2BC8FB8432DD}"/>
              </a:ext>
            </a:extLst>
          </p:cNvPr>
          <p:cNvPicPr>
            <a:picLocks noChangeAspect="1"/>
          </p:cNvPicPr>
          <p:nvPr/>
        </p:nvPicPr>
        <p:blipFill>
          <a:blip r:embed="rId2"/>
          <a:stretch>
            <a:fillRect/>
          </a:stretch>
        </p:blipFill>
        <p:spPr>
          <a:xfrm>
            <a:off x="1133475" y="3058278"/>
            <a:ext cx="7243762" cy="3481872"/>
          </a:xfrm>
          <a:prstGeom prst="rect">
            <a:avLst/>
          </a:prstGeom>
        </p:spPr>
      </p:pic>
    </p:spTree>
    <p:extLst>
      <p:ext uri="{BB962C8B-B14F-4D97-AF65-F5344CB8AC3E}">
        <p14:creationId xmlns:p14="http://schemas.microsoft.com/office/powerpoint/2010/main" val="30119442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22DE8-3DC2-5465-B097-6DE2902C8EBD}"/>
              </a:ext>
            </a:extLst>
          </p:cNvPr>
          <p:cNvSpPr>
            <a:spLocks noGrp="1"/>
          </p:cNvSpPr>
          <p:nvPr>
            <p:ph type="title"/>
          </p:nvPr>
        </p:nvSpPr>
        <p:spPr/>
        <p:txBody>
          <a:bodyPr/>
          <a:lstStyle/>
          <a:p>
            <a:r>
              <a:rPr lang="en-US" dirty="0"/>
              <a:t>Load data  </a:t>
            </a:r>
            <a:endParaRPr lang="en-NL" dirty="0"/>
          </a:p>
        </p:txBody>
      </p:sp>
      <p:sp>
        <p:nvSpPr>
          <p:cNvPr id="3" name="Content Placeholder 2">
            <a:extLst>
              <a:ext uri="{FF2B5EF4-FFF2-40B4-BE49-F238E27FC236}">
                <a16:creationId xmlns:a16="http://schemas.microsoft.com/office/drawing/2014/main" id="{8DBF5737-8D55-5E42-C6CA-EFFBFB284575}"/>
              </a:ext>
            </a:extLst>
          </p:cNvPr>
          <p:cNvSpPr>
            <a:spLocks noGrp="1"/>
          </p:cNvSpPr>
          <p:nvPr>
            <p:ph idx="1"/>
          </p:nvPr>
        </p:nvSpPr>
        <p:spPr/>
        <p:txBody>
          <a:bodyPr/>
          <a:lstStyle/>
          <a:p>
            <a:r>
              <a:rPr lang="en-US" dirty="0"/>
              <a:t>Use LOAD operation: (it is beneficial when we have multiple files to upload them)</a:t>
            </a:r>
            <a:endParaRPr lang="en-NL" dirty="0"/>
          </a:p>
        </p:txBody>
      </p:sp>
      <p:pic>
        <p:nvPicPr>
          <p:cNvPr id="5" name="Picture 4">
            <a:extLst>
              <a:ext uri="{FF2B5EF4-FFF2-40B4-BE49-F238E27FC236}">
                <a16:creationId xmlns:a16="http://schemas.microsoft.com/office/drawing/2014/main" id="{2FC916A2-5FE4-75D2-D6D4-6206F5B9D7F3}"/>
              </a:ext>
            </a:extLst>
          </p:cNvPr>
          <p:cNvPicPr>
            <a:picLocks noChangeAspect="1"/>
          </p:cNvPicPr>
          <p:nvPr/>
        </p:nvPicPr>
        <p:blipFill>
          <a:blip r:embed="rId2"/>
          <a:stretch>
            <a:fillRect/>
          </a:stretch>
        </p:blipFill>
        <p:spPr>
          <a:xfrm>
            <a:off x="533401" y="2577514"/>
            <a:ext cx="8315324" cy="3734386"/>
          </a:xfrm>
          <a:prstGeom prst="rect">
            <a:avLst/>
          </a:prstGeom>
        </p:spPr>
      </p:pic>
    </p:spTree>
    <p:extLst>
      <p:ext uri="{BB962C8B-B14F-4D97-AF65-F5344CB8AC3E}">
        <p14:creationId xmlns:p14="http://schemas.microsoft.com/office/powerpoint/2010/main" val="3655320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F693E-71EC-36A6-D90A-5AABDD898572}"/>
              </a:ext>
            </a:extLst>
          </p:cNvPr>
          <p:cNvSpPr>
            <a:spLocks noGrp="1"/>
          </p:cNvSpPr>
          <p:nvPr>
            <p:ph type="title"/>
          </p:nvPr>
        </p:nvSpPr>
        <p:spPr/>
        <p:txBody>
          <a:bodyPr/>
          <a:lstStyle/>
          <a:p>
            <a:r>
              <a:rPr lang="en-US" dirty="0"/>
              <a:t>Specify the prefix for our graph</a:t>
            </a:r>
            <a:endParaRPr lang="en-NL" dirty="0"/>
          </a:p>
        </p:txBody>
      </p:sp>
      <p:sp>
        <p:nvSpPr>
          <p:cNvPr id="3" name="Content Placeholder 2">
            <a:extLst>
              <a:ext uri="{FF2B5EF4-FFF2-40B4-BE49-F238E27FC236}">
                <a16:creationId xmlns:a16="http://schemas.microsoft.com/office/drawing/2014/main" id="{408599A3-BA26-4F92-4941-6697502026D4}"/>
              </a:ext>
            </a:extLst>
          </p:cNvPr>
          <p:cNvSpPr>
            <a:spLocks noGrp="1"/>
          </p:cNvSpPr>
          <p:nvPr>
            <p:ph idx="1"/>
          </p:nvPr>
        </p:nvSpPr>
        <p:spPr/>
        <p:txBody>
          <a:bodyPr/>
          <a:lstStyle/>
          <a:p>
            <a:r>
              <a:rPr lang="en-US" dirty="0"/>
              <a:t>INSERT DATA operation containing statements involving the named graph: </a:t>
            </a:r>
            <a:r>
              <a:rPr lang="en-US" dirty="0" err="1"/>
              <a:t>General_Country_Info_Graph</a:t>
            </a:r>
            <a:endParaRPr lang="en-US" dirty="0"/>
          </a:p>
          <a:p>
            <a:endParaRPr lang="en-NL" dirty="0"/>
          </a:p>
        </p:txBody>
      </p:sp>
      <p:pic>
        <p:nvPicPr>
          <p:cNvPr id="5" name="Picture 4">
            <a:extLst>
              <a:ext uri="{FF2B5EF4-FFF2-40B4-BE49-F238E27FC236}">
                <a16:creationId xmlns:a16="http://schemas.microsoft.com/office/drawing/2014/main" id="{04A39B8D-3638-1D81-718B-A2D80132A48D}"/>
              </a:ext>
            </a:extLst>
          </p:cNvPr>
          <p:cNvPicPr>
            <a:picLocks noChangeAspect="1"/>
          </p:cNvPicPr>
          <p:nvPr/>
        </p:nvPicPr>
        <p:blipFill>
          <a:blip r:embed="rId2"/>
          <a:stretch>
            <a:fillRect/>
          </a:stretch>
        </p:blipFill>
        <p:spPr>
          <a:xfrm>
            <a:off x="838200" y="2948393"/>
            <a:ext cx="8995541" cy="3667569"/>
          </a:xfrm>
          <a:prstGeom prst="rect">
            <a:avLst/>
          </a:prstGeom>
        </p:spPr>
      </p:pic>
    </p:spTree>
    <p:extLst>
      <p:ext uri="{BB962C8B-B14F-4D97-AF65-F5344CB8AC3E}">
        <p14:creationId xmlns:p14="http://schemas.microsoft.com/office/powerpoint/2010/main" val="473845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0B005-9D0C-FC7E-384B-43B6733E47FF}"/>
              </a:ext>
            </a:extLst>
          </p:cNvPr>
          <p:cNvSpPr>
            <a:spLocks noGrp="1"/>
          </p:cNvSpPr>
          <p:nvPr>
            <p:ph type="title"/>
          </p:nvPr>
        </p:nvSpPr>
        <p:spPr/>
        <p:txBody>
          <a:bodyPr/>
          <a:lstStyle/>
          <a:p>
            <a:r>
              <a:rPr lang="en-US" dirty="0"/>
              <a:t>Query </a:t>
            </a:r>
            <a:endParaRPr lang="en-NL" dirty="0"/>
          </a:p>
        </p:txBody>
      </p:sp>
      <p:sp>
        <p:nvSpPr>
          <p:cNvPr id="3" name="Content Placeholder 2">
            <a:extLst>
              <a:ext uri="{FF2B5EF4-FFF2-40B4-BE49-F238E27FC236}">
                <a16:creationId xmlns:a16="http://schemas.microsoft.com/office/drawing/2014/main" id="{A7C503B0-4983-7EAD-5519-D8FE89A82F0C}"/>
              </a:ext>
            </a:extLst>
          </p:cNvPr>
          <p:cNvSpPr>
            <a:spLocks noGrp="1"/>
          </p:cNvSpPr>
          <p:nvPr>
            <p:ph idx="1"/>
          </p:nvPr>
        </p:nvSpPr>
        <p:spPr/>
        <p:txBody>
          <a:bodyPr/>
          <a:lstStyle/>
          <a:p>
            <a:r>
              <a:rPr lang="en-US" dirty="0"/>
              <a:t>Describe the named graph</a:t>
            </a:r>
          </a:p>
          <a:p>
            <a:endParaRPr lang="en-NL" dirty="0"/>
          </a:p>
        </p:txBody>
      </p:sp>
      <p:pic>
        <p:nvPicPr>
          <p:cNvPr id="5" name="Picture 4">
            <a:extLst>
              <a:ext uri="{FF2B5EF4-FFF2-40B4-BE49-F238E27FC236}">
                <a16:creationId xmlns:a16="http://schemas.microsoft.com/office/drawing/2014/main" id="{C91C80EB-528A-BDEE-9361-2604C803DC8C}"/>
              </a:ext>
            </a:extLst>
          </p:cNvPr>
          <p:cNvPicPr>
            <a:picLocks noChangeAspect="1"/>
          </p:cNvPicPr>
          <p:nvPr/>
        </p:nvPicPr>
        <p:blipFill>
          <a:blip r:embed="rId2"/>
          <a:stretch>
            <a:fillRect/>
          </a:stretch>
        </p:blipFill>
        <p:spPr>
          <a:xfrm>
            <a:off x="1004887" y="2274847"/>
            <a:ext cx="7705725" cy="4037053"/>
          </a:xfrm>
          <a:prstGeom prst="rect">
            <a:avLst/>
          </a:prstGeom>
        </p:spPr>
      </p:pic>
    </p:spTree>
    <p:extLst>
      <p:ext uri="{BB962C8B-B14F-4D97-AF65-F5344CB8AC3E}">
        <p14:creationId xmlns:p14="http://schemas.microsoft.com/office/powerpoint/2010/main" val="1271361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E5D6-95F8-6929-7317-8FE65B724EDF}"/>
              </a:ext>
            </a:extLst>
          </p:cNvPr>
          <p:cNvSpPr>
            <a:spLocks noGrp="1"/>
          </p:cNvSpPr>
          <p:nvPr>
            <p:ph type="title"/>
          </p:nvPr>
        </p:nvSpPr>
        <p:spPr/>
        <p:txBody>
          <a:bodyPr/>
          <a:lstStyle/>
          <a:p>
            <a:r>
              <a:rPr lang="en-US" dirty="0"/>
              <a:t>Query</a:t>
            </a:r>
            <a:endParaRPr lang="en-NL" dirty="0"/>
          </a:p>
        </p:txBody>
      </p:sp>
      <p:sp>
        <p:nvSpPr>
          <p:cNvPr id="3" name="Content Placeholder 2">
            <a:extLst>
              <a:ext uri="{FF2B5EF4-FFF2-40B4-BE49-F238E27FC236}">
                <a16:creationId xmlns:a16="http://schemas.microsoft.com/office/drawing/2014/main" id="{3A165E08-F036-0DFE-3711-2003181E307D}"/>
              </a:ext>
            </a:extLst>
          </p:cNvPr>
          <p:cNvSpPr>
            <a:spLocks noGrp="1"/>
          </p:cNvSpPr>
          <p:nvPr>
            <p:ph idx="1"/>
          </p:nvPr>
        </p:nvSpPr>
        <p:spPr/>
        <p:txBody>
          <a:bodyPr/>
          <a:lstStyle/>
          <a:p>
            <a:r>
              <a:rPr lang="en-US" dirty="0"/>
              <a:t>Exposing the full vocabulary for the graph</a:t>
            </a:r>
          </a:p>
          <a:p>
            <a:endParaRPr lang="en-NL" dirty="0"/>
          </a:p>
        </p:txBody>
      </p:sp>
      <p:pic>
        <p:nvPicPr>
          <p:cNvPr id="5" name="Picture 4">
            <a:extLst>
              <a:ext uri="{FF2B5EF4-FFF2-40B4-BE49-F238E27FC236}">
                <a16:creationId xmlns:a16="http://schemas.microsoft.com/office/drawing/2014/main" id="{A4E186ED-9624-DB79-8072-721B544E1D73}"/>
              </a:ext>
            </a:extLst>
          </p:cNvPr>
          <p:cNvPicPr>
            <a:picLocks noChangeAspect="1"/>
          </p:cNvPicPr>
          <p:nvPr/>
        </p:nvPicPr>
        <p:blipFill>
          <a:blip r:embed="rId2"/>
          <a:stretch>
            <a:fillRect/>
          </a:stretch>
        </p:blipFill>
        <p:spPr>
          <a:xfrm>
            <a:off x="838200" y="2724403"/>
            <a:ext cx="5102061" cy="2892062"/>
          </a:xfrm>
          <a:prstGeom prst="rect">
            <a:avLst/>
          </a:prstGeom>
        </p:spPr>
      </p:pic>
      <p:pic>
        <p:nvPicPr>
          <p:cNvPr id="7" name="Picture 6">
            <a:extLst>
              <a:ext uri="{FF2B5EF4-FFF2-40B4-BE49-F238E27FC236}">
                <a16:creationId xmlns:a16="http://schemas.microsoft.com/office/drawing/2014/main" id="{B882B5EA-C16C-D90A-B0BD-6312E230AC5C}"/>
              </a:ext>
            </a:extLst>
          </p:cNvPr>
          <p:cNvPicPr>
            <a:picLocks noChangeAspect="1"/>
          </p:cNvPicPr>
          <p:nvPr/>
        </p:nvPicPr>
        <p:blipFill>
          <a:blip r:embed="rId3"/>
          <a:stretch>
            <a:fillRect/>
          </a:stretch>
        </p:blipFill>
        <p:spPr>
          <a:xfrm>
            <a:off x="6545469" y="2684079"/>
            <a:ext cx="4638225" cy="3543300"/>
          </a:xfrm>
          <a:prstGeom prst="rect">
            <a:avLst/>
          </a:prstGeom>
        </p:spPr>
      </p:pic>
    </p:spTree>
    <p:extLst>
      <p:ext uri="{BB962C8B-B14F-4D97-AF65-F5344CB8AC3E}">
        <p14:creationId xmlns:p14="http://schemas.microsoft.com/office/powerpoint/2010/main" val="4073382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DD4B-DACC-4C94-3995-4B26828B79BE}"/>
              </a:ext>
            </a:extLst>
          </p:cNvPr>
          <p:cNvSpPr>
            <a:spLocks noGrp="1"/>
          </p:cNvSpPr>
          <p:nvPr>
            <p:ph type="title"/>
          </p:nvPr>
        </p:nvSpPr>
        <p:spPr/>
        <p:txBody>
          <a:bodyPr/>
          <a:lstStyle/>
          <a:p>
            <a:r>
              <a:rPr lang="en-US" dirty="0"/>
              <a:t>Sum in the query</a:t>
            </a:r>
            <a:endParaRPr lang="en-NL" dirty="0"/>
          </a:p>
        </p:txBody>
      </p:sp>
      <p:pic>
        <p:nvPicPr>
          <p:cNvPr id="5" name="Content Placeholder 4">
            <a:extLst>
              <a:ext uri="{FF2B5EF4-FFF2-40B4-BE49-F238E27FC236}">
                <a16:creationId xmlns:a16="http://schemas.microsoft.com/office/drawing/2014/main" id="{5F28DF96-431D-AB4A-4692-9E8076DEFE9A}"/>
              </a:ext>
            </a:extLst>
          </p:cNvPr>
          <p:cNvPicPr>
            <a:picLocks noGrp="1" noChangeAspect="1"/>
          </p:cNvPicPr>
          <p:nvPr>
            <p:ph idx="1"/>
          </p:nvPr>
        </p:nvPicPr>
        <p:blipFill>
          <a:blip r:embed="rId2"/>
          <a:stretch>
            <a:fillRect/>
          </a:stretch>
        </p:blipFill>
        <p:spPr>
          <a:xfrm>
            <a:off x="1004319" y="1846148"/>
            <a:ext cx="7162219" cy="3483090"/>
          </a:xfrm>
        </p:spPr>
      </p:pic>
      <p:sp>
        <p:nvSpPr>
          <p:cNvPr id="6" name="TextBox 5">
            <a:extLst>
              <a:ext uri="{FF2B5EF4-FFF2-40B4-BE49-F238E27FC236}">
                <a16:creationId xmlns:a16="http://schemas.microsoft.com/office/drawing/2014/main" id="{CB28760D-5A59-8E13-FB2A-542A1B8766D2}"/>
              </a:ext>
            </a:extLst>
          </p:cNvPr>
          <p:cNvSpPr txBox="1"/>
          <p:nvPr/>
        </p:nvSpPr>
        <p:spPr>
          <a:xfrm>
            <a:off x="7847286" y="1402479"/>
            <a:ext cx="3965028" cy="4370427"/>
          </a:xfrm>
          <a:prstGeom prst="rect">
            <a:avLst/>
          </a:prstGeom>
          <a:noFill/>
        </p:spPr>
        <p:txBody>
          <a:bodyPr wrap="square" rtlCol="0">
            <a:spAutoFit/>
          </a:bodyPr>
          <a:lstStyle/>
          <a:p>
            <a:r>
              <a:rPr lang="en-US" dirty="0"/>
              <a:t>Sum: </a:t>
            </a:r>
            <a:r>
              <a:rPr lang="en-US" sz="1600" b="0" i="0" dirty="0">
                <a:solidFill>
                  <a:srgbClr val="2D2F31"/>
                </a:solidFill>
                <a:effectLst/>
                <a:latin typeface="Udemy Sans"/>
              </a:rPr>
              <a:t>Aggregate function to calculate the sum of numbers.</a:t>
            </a:r>
            <a:endParaRPr lang="en-US" sz="1600" dirty="0"/>
          </a:p>
          <a:p>
            <a:r>
              <a:rPr lang="en-US" dirty="0"/>
              <a:t>Round :</a:t>
            </a:r>
            <a:r>
              <a:rPr lang="en-US" b="0" i="0" dirty="0">
                <a:solidFill>
                  <a:srgbClr val="2D2F31"/>
                </a:solidFill>
                <a:effectLst/>
                <a:latin typeface="Udemy Sans"/>
              </a:rPr>
              <a:t> </a:t>
            </a:r>
            <a:r>
              <a:rPr lang="en-US" sz="1600" dirty="0">
                <a:solidFill>
                  <a:srgbClr val="2D2F31"/>
                </a:solidFill>
                <a:latin typeface="Udemy Sans"/>
              </a:rPr>
              <a:t>rounds a number to the nearest integer.</a:t>
            </a:r>
          </a:p>
          <a:p>
            <a:r>
              <a:rPr lang="en-US" dirty="0"/>
              <a:t>CEIL: </a:t>
            </a:r>
            <a:r>
              <a:rPr lang="en-US" b="0" i="0" dirty="0">
                <a:solidFill>
                  <a:srgbClr val="2D2F31"/>
                </a:solidFill>
                <a:effectLst/>
                <a:latin typeface="Udemy Sans"/>
              </a:rPr>
              <a:t>rounds up a number to the nearest integer.</a:t>
            </a:r>
            <a:endParaRPr lang="en-US" dirty="0"/>
          </a:p>
          <a:p>
            <a:r>
              <a:rPr lang="en-US" dirty="0"/>
              <a:t>FLOOR:</a:t>
            </a:r>
            <a:r>
              <a:rPr lang="en-US" b="0" i="0" dirty="0">
                <a:solidFill>
                  <a:srgbClr val="2D2F31"/>
                </a:solidFill>
                <a:effectLst/>
                <a:latin typeface="Udemy Sans"/>
              </a:rPr>
              <a:t> </a:t>
            </a:r>
            <a:r>
              <a:rPr lang="en-US" sz="1600" dirty="0">
                <a:solidFill>
                  <a:srgbClr val="2D2F31"/>
                </a:solidFill>
                <a:latin typeface="Udemy Sans"/>
              </a:rPr>
              <a:t>rounds down a number to the nearest integer.</a:t>
            </a:r>
          </a:p>
          <a:p>
            <a:r>
              <a:rPr lang="en-US" dirty="0"/>
              <a:t>RAND:</a:t>
            </a:r>
            <a:r>
              <a:rPr lang="en-US" b="0" i="0" dirty="0">
                <a:solidFill>
                  <a:srgbClr val="2D2F31"/>
                </a:solidFill>
                <a:effectLst/>
                <a:latin typeface="Udemy Sans"/>
              </a:rPr>
              <a:t> </a:t>
            </a:r>
            <a:r>
              <a:rPr lang="en-US" sz="1600" dirty="0">
                <a:solidFill>
                  <a:srgbClr val="2D2F31"/>
                </a:solidFill>
                <a:latin typeface="Udemy Sans"/>
              </a:rPr>
              <a:t>returns a random value between 0 and 1.</a:t>
            </a:r>
          </a:p>
          <a:p>
            <a:r>
              <a:rPr lang="en-US" dirty="0"/>
              <a:t>AVG: </a:t>
            </a:r>
            <a:r>
              <a:rPr lang="en-US" sz="1600" dirty="0">
                <a:solidFill>
                  <a:srgbClr val="2D2F31"/>
                </a:solidFill>
                <a:latin typeface="Udemy Sans"/>
              </a:rPr>
              <a:t>Aggregate function to calculate the average value from a list of numbers.</a:t>
            </a:r>
          </a:p>
          <a:p>
            <a:r>
              <a:rPr lang="en-US" dirty="0"/>
              <a:t>MIN,MAX: </a:t>
            </a:r>
            <a:r>
              <a:rPr lang="en-US" sz="1600" dirty="0">
                <a:solidFill>
                  <a:srgbClr val="2D2F31"/>
                </a:solidFill>
                <a:latin typeface="Udemy Sans"/>
              </a:rPr>
              <a:t>Aggregate functions to work out the minimum and maximum values, respectively. Numbers are sorted numerically.</a:t>
            </a:r>
          </a:p>
          <a:p>
            <a:r>
              <a:rPr lang="en-US" dirty="0">
                <a:solidFill>
                  <a:srgbClr val="2D2F31"/>
                </a:solidFill>
                <a:latin typeface="Udemy Sans"/>
              </a:rPr>
              <a:t>ABS: </a:t>
            </a:r>
            <a:r>
              <a:rPr lang="en-US" sz="1600" dirty="0">
                <a:solidFill>
                  <a:srgbClr val="2D2F31"/>
                </a:solidFill>
                <a:latin typeface="Udemy Sans"/>
              </a:rPr>
              <a:t>returns the absolute value of a number.</a:t>
            </a:r>
            <a:endParaRPr lang="en-NL" sz="1600" dirty="0">
              <a:solidFill>
                <a:srgbClr val="2D2F31"/>
              </a:solidFill>
              <a:latin typeface="Udemy Sans"/>
            </a:endParaRPr>
          </a:p>
        </p:txBody>
      </p:sp>
    </p:spTree>
    <p:extLst>
      <p:ext uri="{BB962C8B-B14F-4D97-AF65-F5344CB8AC3E}">
        <p14:creationId xmlns:p14="http://schemas.microsoft.com/office/powerpoint/2010/main" val="1404267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C1321-3B82-5BF3-E118-9A575CB57B7F}"/>
              </a:ext>
            </a:extLst>
          </p:cNvPr>
          <p:cNvSpPr>
            <a:spLocks noGrp="1"/>
          </p:cNvSpPr>
          <p:nvPr>
            <p:ph type="title"/>
          </p:nvPr>
        </p:nvSpPr>
        <p:spPr/>
        <p:txBody>
          <a:bodyPr/>
          <a:lstStyle/>
          <a:p>
            <a:r>
              <a:rPr lang="en-US" dirty="0"/>
              <a:t>IN and NOT IN filter</a:t>
            </a:r>
            <a:endParaRPr lang="en-NL" dirty="0"/>
          </a:p>
        </p:txBody>
      </p:sp>
      <p:pic>
        <p:nvPicPr>
          <p:cNvPr id="5" name="Content Placeholder 4">
            <a:extLst>
              <a:ext uri="{FF2B5EF4-FFF2-40B4-BE49-F238E27FC236}">
                <a16:creationId xmlns:a16="http://schemas.microsoft.com/office/drawing/2014/main" id="{9666211D-DBAE-1192-EBDE-FB554264B981}"/>
              </a:ext>
            </a:extLst>
          </p:cNvPr>
          <p:cNvPicPr>
            <a:picLocks noGrp="1" noChangeAspect="1"/>
          </p:cNvPicPr>
          <p:nvPr>
            <p:ph idx="1"/>
          </p:nvPr>
        </p:nvPicPr>
        <p:blipFill>
          <a:blip r:embed="rId2"/>
          <a:stretch>
            <a:fillRect/>
          </a:stretch>
        </p:blipFill>
        <p:spPr>
          <a:xfrm>
            <a:off x="722471" y="1606550"/>
            <a:ext cx="6584632" cy="4351338"/>
          </a:xfrm>
        </p:spPr>
      </p:pic>
      <p:cxnSp>
        <p:nvCxnSpPr>
          <p:cNvPr id="7" name="Straight Arrow Connector 6">
            <a:extLst>
              <a:ext uri="{FF2B5EF4-FFF2-40B4-BE49-F238E27FC236}">
                <a16:creationId xmlns:a16="http://schemas.microsoft.com/office/drawing/2014/main" id="{5E5B9E3A-9622-950C-CCEA-30B39395D6B8}"/>
              </a:ext>
            </a:extLst>
          </p:cNvPr>
          <p:cNvCxnSpPr/>
          <p:nvPr/>
        </p:nvCxnSpPr>
        <p:spPr>
          <a:xfrm flipV="1">
            <a:off x="1971675" y="5338763"/>
            <a:ext cx="5919788" cy="809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ECAEFED-D44B-AF23-414E-1BCA4EF1B168}"/>
              </a:ext>
            </a:extLst>
          </p:cNvPr>
          <p:cNvSpPr txBox="1"/>
          <p:nvPr/>
        </p:nvSpPr>
        <p:spPr>
          <a:xfrm>
            <a:off x="8044355" y="4686300"/>
            <a:ext cx="2550073" cy="1200329"/>
          </a:xfrm>
          <a:prstGeom prst="rect">
            <a:avLst/>
          </a:prstGeom>
          <a:noFill/>
        </p:spPr>
        <p:txBody>
          <a:bodyPr wrap="square" rtlCol="0">
            <a:spAutoFit/>
          </a:bodyPr>
          <a:lstStyle/>
          <a:p>
            <a:r>
              <a:rPr lang="en-US" dirty="0"/>
              <a:t>We can see Antarctica and Oceania is also in the results and we want to exclude them.</a:t>
            </a:r>
            <a:endParaRPr lang="en-NL" dirty="0"/>
          </a:p>
        </p:txBody>
      </p:sp>
      <p:cxnSp>
        <p:nvCxnSpPr>
          <p:cNvPr id="10" name="Straight Arrow Connector 9">
            <a:extLst>
              <a:ext uri="{FF2B5EF4-FFF2-40B4-BE49-F238E27FC236}">
                <a16:creationId xmlns:a16="http://schemas.microsoft.com/office/drawing/2014/main" id="{A2618BF9-9D91-0C66-7D2E-9DFDED012BEA}"/>
              </a:ext>
            </a:extLst>
          </p:cNvPr>
          <p:cNvCxnSpPr/>
          <p:nvPr/>
        </p:nvCxnSpPr>
        <p:spPr>
          <a:xfrm>
            <a:off x="1971675" y="5110163"/>
            <a:ext cx="5919788" cy="1285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601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E6EB4-3E62-7454-A320-7312355CD759}"/>
              </a:ext>
            </a:extLst>
          </p:cNvPr>
          <p:cNvSpPr>
            <a:spLocks noGrp="1"/>
          </p:cNvSpPr>
          <p:nvPr>
            <p:ph type="title"/>
          </p:nvPr>
        </p:nvSpPr>
        <p:spPr/>
        <p:txBody>
          <a:bodyPr/>
          <a:lstStyle/>
          <a:p>
            <a:r>
              <a:rPr lang="en-US" dirty="0"/>
              <a:t>IN and NOT IN filter</a:t>
            </a:r>
            <a:endParaRPr lang="en-NL" dirty="0"/>
          </a:p>
        </p:txBody>
      </p:sp>
      <p:pic>
        <p:nvPicPr>
          <p:cNvPr id="5" name="Content Placeholder 4">
            <a:extLst>
              <a:ext uri="{FF2B5EF4-FFF2-40B4-BE49-F238E27FC236}">
                <a16:creationId xmlns:a16="http://schemas.microsoft.com/office/drawing/2014/main" id="{F098452A-C7B1-9F91-4D30-2394601E0832}"/>
              </a:ext>
            </a:extLst>
          </p:cNvPr>
          <p:cNvPicPr>
            <a:picLocks noGrp="1" noChangeAspect="1"/>
          </p:cNvPicPr>
          <p:nvPr>
            <p:ph idx="1"/>
          </p:nvPr>
        </p:nvPicPr>
        <p:blipFill>
          <a:blip r:embed="rId2"/>
          <a:stretch>
            <a:fillRect/>
          </a:stretch>
        </p:blipFill>
        <p:spPr>
          <a:xfrm>
            <a:off x="1039969" y="1987550"/>
            <a:ext cx="6721161" cy="4351338"/>
          </a:xfrm>
        </p:spPr>
      </p:pic>
      <p:cxnSp>
        <p:nvCxnSpPr>
          <p:cNvPr id="7" name="Straight Arrow Connector 6">
            <a:extLst>
              <a:ext uri="{FF2B5EF4-FFF2-40B4-BE49-F238E27FC236}">
                <a16:creationId xmlns:a16="http://schemas.microsoft.com/office/drawing/2014/main" id="{EF209F6D-E274-7EA8-4BD1-AD30B2FCCDD6}"/>
              </a:ext>
            </a:extLst>
          </p:cNvPr>
          <p:cNvCxnSpPr/>
          <p:nvPr/>
        </p:nvCxnSpPr>
        <p:spPr>
          <a:xfrm flipV="1">
            <a:off x="2577662" y="5407572"/>
            <a:ext cx="6140669" cy="3823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B35409E-1B2C-7E75-C855-7D26F2A7FD69}"/>
              </a:ext>
            </a:extLst>
          </p:cNvPr>
          <p:cNvSpPr txBox="1"/>
          <p:nvPr/>
        </p:nvSpPr>
        <p:spPr>
          <a:xfrm>
            <a:off x="8848397" y="4477407"/>
            <a:ext cx="1954924" cy="646331"/>
          </a:xfrm>
          <a:prstGeom prst="rect">
            <a:avLst/>
          </a:prstGeom>
          <a:noFill/>
        </p:spPr>
        <p:txBody>
          <a:bodyPr wrap="square" rtlCol="0">
            <a:spAutoFit/>
          </a:bodyPr>
          <a:lstStyle/>
          <a:p>
            <a:r>
              <a:rPr lang="en-US" dirty="0"/>
              <a:t>We can filter two of continents </a:t>
            </a:r>
            <a:endParaRPr lang="en-NL" dirty="0"/>
          </a:p>
        </p:txBody>
      </p:sp>
    </p:spTree>
    <p:extLst>
      <p:ext uri="{BB962C8B-B14F-4D97-AF65-F5344CB8AC3E}">
        <p14:creationId xmlns:p14="http://schemas.microsoft.com/office/powerpoint/2010/main" val="29080347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E0563-4B67-5918-3E0B-98849CC2A46F}"/>
              </a:ext>
            </a:extLst>
          </p:cNvPr>
          <p:cNvSpPr>
            <a:spLocks noGrp="1"/>
          </p:cNvSpPr>
          <p:nvPr>
            <p:ph type="title"/>
          </p:nvPr>
        </p:nvSpPr>
        <p:spPr/>
        <p:txBody>
          <a:bodyPr/>
          <a:lstStyle/>
          <a:p>
            <a:r>
              <a:rPr lang="en-US" dirty="0"/>
              <a:t>IN and NOT IN filter</a:t>
            </a:r>
            <a:endParaRPr lang="en-NL" dirty="0"/>
          </a:p>
        </p:txBody>
      </p:sp>
      <p:pic>
        <p:nvPicPr>
          <p:cNvPr id="5" name="Content Placeholder 4">
            <a:extLst>
              <a:ext uri="{FF2B5EF4-FFF2-40B4-BE49-F238E27FC236}">
                <a16:creationId xmlns:a16="http://schemas.microsoft.com/office/drawing/2014/main" id="{810DBA2E-6D45-4F00-3276-5F448FD4407B}"/>
              </a:ext>
            </a:extLst>
          </p:cNvPr>
          <p:cNvPicPr>
            <a:picLocks noGrp="1" noChangeAspect="1"/>
          </p:cNvPicPr>
          <p:nvPr>
            <p:ph idx="1"/>
          </p:nvPr>
        </p:nvPicPr>
        <p:blipFill>
          <a:blip r:embed="rId2"/>
          <a:stretch>
            <a:fillRect/>
          </a:stretch>
        </p:blipFill>
        <p:spPr>
          <a:xfrm>
            <a:off x="1411458" y="1868487"/>
            <a:ext cx="6483010" cy="4351338"/>
          </a:xfrm>
        </p:spPr>
      </p:pic>
    </p:spTree>
    <p:extLst>
      <p:ext uri="{BB962C8B-B14F-4D97-AF65-F5344CB8AC3E}">
        <p14:creationId xmlns:p14="http://schemas.microsoft.com/office/powerpoint/2010/main" val="2473118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8E598-D7DD-B1C3-36F1-EB906B0DD152}"/>
              </a:ext>
            </a:extLst>
          </p:cNvPr>
          <p:cNvSpPr>
            <a:spLocks noGrp="1"/>
          </p:cNvSpPr>
          <p:nvPr>
            <p:ph type="title"/>
          </p:nvPr>
        </p:nvSpPr>
        <p:spPr/>
        <p:txBody>
          <a:bodyPr/>
          <a:lstStyle/>
          <a:p>
            <a:r>
              <a:rPr lang="en-US" dirty="0"/>
              <a:t>Challenge</a:t>
            </a:r>
            <a:endParaRPr lang="en-NL" dirty="0"/>
          </a:p>
        </p:txBody>
      </p:sp>
      <p:sp>
        <p:nvSpPr>
          <p:cNvPr id="4" name="Rectangle 1">
            <a:extLst>
              <a:ext uri="{FF2B5EF4-FFF2-40B4-BE49-F238E27FC236}">
                <a16:creationId xmlns:a16="http://schemas.microsoft.com/office/drawing/2014/main" id="{94975825-C470-D7B9-08F2-01682AA27CE6}"/>
              </a:ext>
            </a:extLst>
          </p:cNvPr>
          <p:cNvSpPr>
            <a:spLocks noGrp="1" noChangeArrowheads="1"/>
          </p:cNvSpPr>
          <p:nvPr>
            <p:ph idx="1"/>
          </p:nvPr>
        </p:nvSpPr>
        <p:spPr bwMode="auto">
          <a:xfrm>
            <a:off x="924963" y="1646665"/>
            <a:ext cx="8956040"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rgbClr val="2D2F31"/>
                </a:solidFill>
                <a:effectLst/>
                <a:latin typeface="Udemy Sans"/>
              </a:rPr>
              <a:t>Write a SPARQL query to find out the population of each of the countries of Central America. Central America consists of countries with the following names: </a:t>
            </a:r>
            <a:r>
              <a:rPr kumimoji="0" lang="en-NL" altLang="en-NL" sz="1200" b="0" i="0" u="none" strike="noStrike" cap="none" normalizeH="0" baseline="0" dirty="0">
                <a:ln>
                  <a:noFill/>
                </a:ln>
                <a:solidFill>
                  <a:srgbClr val="B4690E"/>
                </a:solidFill>
                <a:effectLst/>
                <a:latin typeface="sfmono-regular"/>
              </a:rPr>
              <a:t>"Belize",</a:t>
            </a:r>
            <a:r>
              <a:rPr kumimoji="0" lang="en-NL" altLang="en-NL" sz="400" b="0" i="0" u="none" strike="noStrike" cap="none" normalizeH="0" baseline="0" dirty="0">
                <a:ln>
                  <a:noFill/>
                </a:ln>
                <a:solidFill>
                  <a:srgbClr val="2D2F31"/>
                </a:solidFill>
                <a:effectLst/>
                <a:latin typeface="Udemy Sans"/>
              </a:rPr>
              <a:t> </a:t>
            </a:r>
            <a:r>
              <a:rPr kumimoji="0" lang="en-NL" altLang="en-NL" sz="1200" b="0" i="0" u="none" strike="noStrike" cap="none" normalizeH="0" baseline="0" dirty="0">
                <a:ln>
                  <a:noFill/>
                </a:ln>
                <a:solidFill>
                  <a:srgbClr val="B4690E"/>
                </a:solidFill>
                <a:effectLst/>
                <a:latin typeface="sfmono-regular"/>
              </a:rPr>
              <a:t>"Costa Rica"</a:t>
            </a:r>
            <a:r>
              <a:rPr kumimoji="0" lang="en-NL" altLang="en-NL" sz="400" b="0" i="0" u="none" strike="noStrike" cap="none" normalizeH="0" baseline="0" dirty="0">
                <a:ln>
                  <a:noFill/>
                </a:ln>
                <a:solidFill>
                  <a:srgbClr val="2D2F31"/>
                </a:solidFill>
                <a:effectLst/>
                <a:latin typeface="Udemy Sans"/>
              </a:rPr>
              <a:t>,</a:t>
            </a:r>
            <a:r>
              <a:rPr kumimoji="0" lang="en-NL" altLang="en-NL" sz="1800" b="0" i="0" u="none" strike="noStrike" cap="none" normalizeH="0" baseline="0" dirty="0">
                <a:ln>
                  <a:noFill/>
                </a:ln>
                <a:solidFill>
                  <a:srgbClr val="2D2F31"/>
                </a:solidFill>
                <a:effectLst/>
                <a:latin typeface="Udemy Sans"/>
              </a:rPr>
              <a:t> </a:t>
            </a:r>
            <a:r>
              <a:rPr kumimoji="0" lang="en-NL" altLang="en-NL" sz="1200" b="0" i="0" u="none" strike="noStrike" cap="none" normalizeH="0" baseline="0" dirty="0">
                <a:ln>
                  <a:noFill/>
                </a:ln>
                <a:solidFill>
                  <a:srgbClr val="B4690E"/>
                </a:solidFill>
                <a:effectLst/>
                <a:latin typeface="sfmono-regular"/>
              </a:rPr>
              <a:t>"El Salvador"</a:t>
            </a:r>
            <a:r>
              <a:rPr kumimoji="0" lang="en-NL" altLang="en-NL" sz="400" b="0" i="0" u="none" strike="noStrike" cap="none" normalizeH="0" baseline="0" dirty="0">
                <a:ln>
                  <a:noFill/>
                </a:ln>
                <a:solidFill>
                  <a:srgbClr val="2D2F31"/>
                </a:solidFill>
                <a:effectLst/>
                <a:latin typeface="Udemy Sans"/>
              </a:rPr>
              <a:t>,</a:t>
            </a:r>
            <a:r>
              <a:rPr kumimoji="0" lang="en-NL" altLang="en-NL" sz="1800" b="0" i="0" u="none" strike="noStrike" cap="none" normalizeH="0" baseline="0" dirty="0">
                <a:ln>
                  <a:noFill/>
                </a:ln>
                <a:solidFill>
                  <a:srgbClr val="2D2F31"/>
                </a:solidFill>
                <a:effectLst/>
                <a:latin typeface="Udemy Sans"/>
              </a:rPr>
              <a:t> </a:t>
            </a:r>
            <a:r>
              <a:rPr kumimoji="0" lang="en-NL" altLang="en-NL" sz="1200" b="0" i="0" u="none" strike="noStrike" cap="none" normalizeH="0" baseline="0" dirty="0">
                <a:ln>
                  <a:noFill/>
                </a:ln>
                <a:solidFill>
                  <a:srgbClr val="B4690E"/>
                </a:solidFill>
                <a:effectLst/>
                <a:latin typeface="sfmono-regular"/>
              </a:rPr>
              <a:t>"Guatemala"</a:t>
            </a:r>
            <a:r>
              <a:rPr kumimoji="0" lang="en-NL" altLang="en-NL" sz="400" b="0" i="0" u="none" strike="noStrike" cap="none" normalizeH="0" baseline="0" dirty="0">
                <a:ln>
                  <a:noFill/>
                </a:ln>
                <a:solidFill>
                  <a:srgbClr val="2D2F31"/>
                </a:solidFill>
                <a:effectLst/>
                <a:latin typeface="Udemy Sans"/>
              </a:rPr>
              <a:t>,</a:t>
            </a:r>
            <a:r>
              <a:rPr kumimoji="0" lang="en-NL" altLang="en-NL" sz="1800" b="0" i="0" u="none" strike="noStrike" cap="none" normalizeH="0" baseline="0" dirty="0">
                <a:ln>
                  <a:noFill/>
                </a:ln>
                <a:solidFill>
                  <a:srgbClr val="2D2F31"/>
                </a:solidFill>
                <a:effectLst/>
                <a:latin typeface="Udemy Sans"/>
              </a:rPr>
              <a:t> </a:t>
            </a:r>
            <a:r>
              <a:rPr kumimoji="0" lang="en-NL" altLang="en-NL" sz="1200" b="0" i="0" u="none" strike="noStrike" cap="none" normalizeH="0" baseline="0" dirty="0">
                <a:ln>
                  <a:noFill/>
                </a:ln>
                <a:solidFill>
                  <a:srgbClr val="B4690E"/>
                </a:solidFill>
                <a:effectLst/>
                <a:latin typeface="sfmono-regular"/>
              </a:rPr>
              <a:t>"Honduras"</a:t>
            </a:r>
            <a:r>
              <a:rPr kumimoji="0" lang="en-NL" altLang="en-NL" sz="400" b="0" i="0" u="none" strike="noStrike" cap="none" normalizeH="0" baseline="0" dirty="0">
                <a:ln>
                  <a:noFill/>
                </a:ln>
                <a:solidFill>
                  <a:srgbClr val="2D2F31"/>
                </a:solidFill>
                <a:effectLst/>
                <a:latin typeface="Udemy Sans"/>
              </a:rPr>
              <a:t>,</a:t>
            </a:r>
            <a:r>
              <a:rPr kumimoji="0" lang="en-NL" altLang="en-NL" sz="1800" b="0" i="0" u="none" strike="noStrike" cap="none" normalizeH="0" baseline="0" dirty="0">
                <a:ln>
                  <a:noFill/>
                </a:ln>
                <a:solidFill>
                  <a:srgbClr val="2D2F31"/>
                </a:solidFill>
                <a:effectLst/>
                <a:latin typeface="Udemy Sans"/>
              </a:rPr>
              <a:t> </a:t>
            </a:r>
            <a:r>
              <a:rPr kumimoji="0" lang="en-NL" altLang="en-NL" sz="1200" b="0" i="0" u="none" strike="noStrike" cap="none" normalizeH="0" baseline="0" dirty="0">
                <a:ln>
                  <a:noFill/>
                </a:ln>
                <a:solidFill>
                  <a:srgbClr val="B4690E"/>
                </a:solidFill>
                <a:effectLst/>
                <a:latin typeface="sfmono-regular"/>
              </a:rPr>
              <a:t>"Nicaragua"</a:t>
            </a:r>
            <a:r>
              <a:rPr kumimoji="0" lang="en-NL" altLang="en-NL" sz="400" b="0" i="0" u="none" strike="noStrike" cap="none" normalizeH="0" baseline="0" dirty="0">
                <a:ln>
                  <a:noFill/>
                </a:ln>
                <a:solidFill>
                  <a:srgbClr val="2D2F31"/>
                </a:solidFill>
                <a:effectLst/>
                <a:latin typeface="Udemy Sans"/>
              </a:rPr>
              <a:t> </a:t>
            </a:r>
            <a:r>
              <a:rPr kumimoji="0" lang="en-NL" altLang="en-NL" sz="1800" b="0" i="0" u="none" strike="noStrike" cap="none" normalizeH="0" baseline="0" dirty="0">
                <a:ln>
                  <a:noFill/>
                </a:ln>
                <a:solidFill>
                  <a:srgbClr val="2D2F31"/>
                </a:solidFill>
                <a:effectLst/>
                <a:latin typeface="Udemy Sans"/>
              </a:rPr>
              <a:t>and </a:t>
            </a:r>
            <a:r>
              <a:rPr kumimoji="0" lang="en-NL" altLang="en-NL" sz="1200" b="0" i="0" u="none" strike="noStrike" cap="none" normalizeH="0" baseline="0" dirty="0">
                <a:ln>
                  <a:noFill/>
                </a:ln>
                <a:solidFill>
                  <a:srgbClr val="B4690E"/>
                </a:solidFill>
                <a:effectLst/>
                <a:latin typeface="sfmono-regular"/>
              </a:rPr>
              <a:t>"Panama"</a:t>
            </a:r>
            <a:r>
              <a:rPr kumimoji="0" lang="en-NL" altLang="en-NL" sz="400" b="0" i="0" u="none" strike="noStrike" cap="none" normalizeH="0" baseline="0" dirty="0">
                <a:ln>
                  <a:noFill/>
                </a:ln>
                <a:solidFill>
                  <a:srgbClr val="2D2F31"/>
                </a:solidFill>
                <a:effectLst/>
                <a:latin typeface="Udemy Sans"/>
              </a:rPr>
              <a:t>.</a:t>
            </a:r>
            <a:endParaRPr kumimoji="0" lang="en-NL" altLang="en-NL"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rgbClr val="2D2F31"/>
                </a:solidFill>
                <a:effectLst/>
                <a:latin typeface="Udemy Sans"/>
              </a:rPr>
              <a:t>In your query, use the functions </a:t>
            </a:r>
            <a:r>
              <a:rPr kumimoji="0" lang="en-NL" altLang="en-NL" sz="1200" b="0" i="0" u="none" strike="noStrike" cap="none" normalizeH="0" baseline="0" dirty="0">
                <a:ln>
                  <a:noFill/>
                </a:ln>
                <a:solidFill>
                  <a:srgbClr val="B4690E"/>
                </a:solidFill>
                <a:effectLst/>
                <a:latin typeface="sfmono-regular"/>
              </a:rPr>
              <a:t>FILTER</a:t>
            </a:r>
            <a:r>
              <a:rPr kumimoji="0" lang="en-NL" altLang="en-NL" sz="400" b="0" i="0" u="none" strike="noStrike" cap="none" normalizeH="0" baseline="0" dirty="0">
                <a:ln>
                  <a:noFill/>
                </a:ln>
                <a:solidFill>
                  <a:srgbClr val="2D2F31"/>
                </a:solidFill>
                <a:effectLst/>
                <a:latin typeface="Udemy Sans"/>
              </a:rPr>
              <a:t> </a:t>
            </a:r>
            <a:r>
              <a:rPr kumimoji="0" lang="en-NL" altLang="en-NL" sz="1800" b="0" i="0" u="none" strike="noStrike" cap="none" normalizeH="0" baseline="0" dirty="0">
                <a:ln>
                  <a:noFill/>
                </a:ln>
                <a:solidFill>
                  <a:srgbClr val="2D2F31"/>
                </a:solidFill>
                <a:effectLst/>
                <a:latin typeface="Udemy Sans"/>
              </a:rPr>
              <a:t>and </a:t>
            </a:r>
            <a:r>
              <a:rPr kumimoji="0" lang="en-NL" altLang="en-NL" sz="1200" b="0" i="0" u="none" strike="noStrike" cap="none" normalizeH="0" baseline="0" dirty="0">
                <a:ln>
                  <a:noFill/>
                </a:ln>
                <a:solidFill>
                  <a:srgbClr val="B4690E"/>
                </a:solidFill>
                <a:effectLst/>
                <a:latin typeface="sfmono-regular"/>
              </a:rPr>
              <a:t>IN</a:t>
            </a:r>
            <a:r>
              <a:rPr kumimoji="0" lang="en-NL" altLang="en-NL" sz="400" b="0" i="0" u="none" strike="noStrike" cap="none" normalizeH="0" baseline="0" dirty="0">
                <a:ln>
                  <a:noFill/>
                </a:ln>
                <a:solidFill>
                  <a:srgbClr val="2D2F31"/>
                </a:solidFill>
                <a:effectLst/>
                <a:latin typeface="Udemy Sans"/>
              </a:rPr>
              <a:t> </a:t>
            </a:r>
            <a:r>
              <a:rPr kumimoji="0" lang="en-NL" altLang="en-NL" sz="1800" b="0" i="0" u="none" strike="noStrike" cap="none" normalizeH="0" baseline="0" dirty="0">
                <a:ln>
                  <a:noFill/>
                </a:ln>
                <a:solidFill>
                  <a:srgbClr val="2D2F31"/>
                </a:solidFill>
                <a:effectLst/>
                <a:latin typeface="Udemy Sans"/>
              </a:rPr>
              <a:t>and order the results in descending order of population.</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51A8D486-9299-5CEB-D957-93C907A4CBEA}"/>
              </a:ext>
            </a:extLst>
          </p:cNvPr>
          <p:cNvPicPr>
            <a:picLocks noChangeAspect="1"/>
          </p:cNvPicPr>
          <p:nvPr/>
        </p:nvPicPr>
        <p:blipFill>
          <a:blip r:embed="rId2"/>
          <a:stretch>
            <a:fillRect/>
          </a:stretch>
        </p:blipFill>
        <p:spPr>
          <a:xfrm>
            <a:off x="2990851" y="2862681"/>
            <a:ext cx="6015037" cy="3952457"/>
          </a:xfrm>
          <a:prstGeom prst="rect">
            <a:avLst/>
          </a:prstGeom>
        </p:spPr>
      </p:pic>
    </p:spTree>
    <p:extLst>
      <p:ext uri="{BB962C8B-B14F-4D97-AF65-F5344CB8AC3E}">
        <p14:creationId xmlns:p14="http://schemas.microsoft.com/office/powerpoint/2010/main" val="2606823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3242D-30B5-97B4-0124-6416585D022B}"/>
              </a:ext>
            </a:extLst>
          </p:cNvPr>
          <p:cNvSpPr>
            <a:spLocks noGrp="1"/>
          </p:cNvSpPr>
          <p:nvPr>
            <p:ph type="title"/>
          </p:nvPr>
        </p:nvSpPr>
        <p:spPr/>
        <p:txBody>
          <a:bodyPr/>
          <a:lstStyle/>
          <a:p>
            <a:r>
              <a:rPr lang="en-US" dirty="0"/>
              <a:t>Function STRENDS, STRSTARTS</a:t>
            </a:r>
            <a:endParaRPr lang="en-NL" dirty="0"/>
          </a:p>
        </p:txBody>
      </p:sp>
      <p:pic>
        <p:nvPicPr>
          <p:cNvPr id="5" name="Content Placeholder 4">
            <a:extLst>
              <a:ext uri="{FF2B5EF4-FFF2-40B4-BE49-F238E27FC236}">
                <a16:creationId xmlns:a16="http://schemas.microsoft.com/office/drawing/2014/main" id="{CD01CA6C-8BF7-7AB0-DB0E-A29A32BF7346}"/>
              </a:ext>
            </a:extLst>
          </p:cNvPr>
          <p:cNvPicPr>
            <a:picLocks noGrp="1" noChangeAspect="1"/>
          </p:cNvPicPr>
          <p:nvPr>
            <p:ph idx="1"/>
          </p:nvPr>
        </p:nvPicPr>
        <p:blipFill>
          <a:blip r:embed="rId2"/>
          <a:stretch>
            <a:fillRect/>
          </a:stretch>
        </p:blipFill>
        <p:spPr>
          <a:xfrm>
            <a:off x="695325" y="1724177"/>
            <a:ext cx="10515600" cy="3230257"/>
          </a:xfrm>
        </p:spPr>
      </p:pic>
      <p:pic>
        <p:nvPicPr>
          <p:cNvPr id="7" name="Picture 6">
            <a:extLst>
              <a:ext uri="{FF2B5EF4-FFF2-40B4-BE49-F238E27FC236}">
                <a16:creationId xmlns:a16="http://schemas.microsoft.com/office/drawing/2014/main" id="{64716C2E-DED7-2750-5367-0404DE6793BE}"/>
              </a:ext>
            </a:extLst>
          </p:cNvPr>
          <p:cNvPicPr>
            <a:picLocks noChangeAspect="1"/>
          </p:cNvPicPr>
          <p:nvPr/>
        </p:nvPicPr>
        <p:blipFill>
          <a:blip r:embed="rId3"/>
          <a:stretch>
            <a:fillRect/>
          </a:stretch>
        </p:blipFill>
        <p:spPr>
          <a:xfrm>
            <a:off x="9159865" y="723901"/>
            <a:ext cx="2581093" cy="5643562"/>
          </a:xfrm>
          <a:prstGeom prst="rect">
            <a:avLst/>
          </a:prstGeom>
        </p:spPr>
      </p:pic>
    </p:spTree>
    <p:extLst>
      <p:ext uri="{BB962C8B-B14F-4D97-AF65-F5344CB8AC3E}">
        <p14:creationId xmlns:p14="http://schemas.microsoft.com/office/powerpoint/2010/main" val="12237178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79DA8-92D3-3DA2-C9FE-1B77662BBE53}"/>
              </a:ext>
            </a:extLst>
          </p:cNvPr>
          <p:cNvSpPr>
            <a:spLocks noGrp="1"/>
          </p:cNvSpPr>
          <p:nvPr>
            <p:ph type="title"/>
          </p:nvPr>
        </p:nvSpPr>
        <p:spPr/>
        <p:txBody>
          <a:bodyPr/>
          <a:lstStyle/>
          <a:p>
            <a:r>
              <a:rPr lang="en-US" dirty="0"/>
              <a:t>Functions</a:t>
            </a:r>
            <a:endParaRPr lang="en-NL" dirty="0"/>
          </a:p>
        </p:txBody>
      </p:sp>
      <p:sp>
        <p:nvSpPr>
          <p:cNvPr id="4" name="Rectangle 1">
            <a:extLst>
              <a:ext uri="{FF2B5EF4-FFF2-40B4-BE49-F238E27FC236}">
                <a16:creationId xmlns:a16="http://schemas.microsoft.com/office/drawing/2014/main" id="{01CE30EA-2433-8A66-F790-74EBAD57E2DB}"/>
              </a:ext>
            </a:extLst>
          </p:cNvPr>
          <p:cNvSpPr>
            <a:spLocks noGrp="1" noChangeArrowheads="1"/>
          </p:cNvSpPr>
          <p:nvPr>
            <p:ph idx="1"/>
          </p:nvPr>
        </p:nvSpPr>
        <p:spPr bwMode="auto">
          <a:xfrm>
            <a:off x="731783" y="1535146"/>
            <a:ext cx="11519179" cy="52322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B4690E"/>
                </a:solidFill>
                <a:effectLst/>
                <a:latin typeface="sfmono-regular"/>
              </a:rPr>
              <a:t>STRBEFORE(string, </a:t>
            </a:r>
            <a:r>
              <a:rPr kumimoji="0" lang="en-NL" altLang="en-NL" sz="1000" b="0" i="0" u="none" strike="noStrike" cap="none" normalizeH="0" baseline="0" dirty="0" err="1">
                <a:ln>
                  <a:noFill/>
                </a:ln>
                <a:solidFill>
                  <a:srgbClr val="B4690E"/>
                </a:solidFill>
                <a:effectLst/>
                <a:latin typeface="sfmono-regular"/>
              </a:rPr>
              <a:t>compare_string</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returns the part of the string before the compare string.</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STRBEFORE("South Africa", "</a:t>
            </a:r>
            <a:r>
              <a:rPr kumimoji="0" lang="en-NL" altLang="en-NL" sz="1000" b="0" i="0" u="none" strike="noStrike" cap="none" normalizeH="0" baseline="0" dirty="0" err="1">
                <a:ln>
                  <a:noFill/>
                </a:ln>
                <a:solidFill>
                  <a:srgbClr val="B4690E"/>
                </a:solidFill>
                <a:effectLst/>
                <a:latin typeface="sfmono-regular"/>
              </a:rPr>
              <a:t>th</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returns </a:t>
            </a:r>
            <a:r>
              <a:rPr kumimoji="0" lang="en-NL" altLang="en-NL" sz="1000" b="0" i="0" u="none" strike="noStrike" cap="none" normalizeH="0" baseline="0" dirty="0">
                <a:ln>
                  <a:noFill/>
                </a:ln>
                <a:solidFill>
                  <a:srgbClr val="B4690E"/>
                </a:solidFill>
                <a:effectLst/>
                <a:latin typeface="sfmono-regular"/>
              </a:rPr>
              <a:t>Sou</a:t>
            </a:r>
            <a:r>
              <a:rPr kumimoji="0" lang="en-NL" altLang="en-NL" sz="1000" b="0" i="0" u="none" strike="noStrike" cap="none" normalizeH="0" baseline="0" dirty="0">
                <a:ln>
                  <a:noFill/>
                </a:ln>
                <a:solidFill>
                  <a:srgbClr val="2D2F31"/>
                </a:solidFill>
                <a:effectLst/>
                <a:latin typeface="Udemy Sans"/>
              </a:rPr>
              <a:t>. If the compare string is not found it returns empty.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STRAFTER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STRAFTER(string, </a:t>
            </a:r>
            <a:r>
              <a:rPr kumimoji="0" lang="en-NL" altLang="en-NL" sz="1000" b="0" i="0" u="none" strike="noStrike" cap="none" normalizeH="0" baseline="0" dirty="0" err="1">
                <a:ln>
                  <a:noFill/>
                </a:ln>
                <a:solidFill>
                  <a:srgbClr val="B4690E"/>
                </a:solidFill>
                <a:effectLst/>
                <a:latin typeface="sfmono-regular"/>
              </a:rPr>
              <a:t>compare_string</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returns the part of the string after the compare string.</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STRAFTER("Thailand", "ai")</a:t>
            </a:r>
            <a:r>
              <a:rPr kumimoji="0" lang="en-NL" altLang="en-NL" sz="1000" b="0" i="0" u="none" strike="noStrike" cap="none" normalizeH="0" baseline="0" dirty="0">
                <a:ln>
                  <a:noFill/>
                </a:ln>
                <a:solidFill>
                  <a:srgbClr val="2D2F31"/>
                </a:solidFill>
                <a:effectLst/>
                <a:latin typeface="Udemy Sans"/>
              </a:rPr>
              <a:t> returns </a:t>
            </a:r>
            <a:r>
              <a:rPr kumimoji="0" lang="en-NL" altLang="en-NL" sz="1000" b="0" i="0" u="none" strike="noStrike" cap="none" normalizeH="0" baseline="0" dirty="0">
                <a:ln>
                  <a:noFill/>
                </a:ln>
                <a:solidFill>
                  <a:srgbClr val="B4690E"/>
                </a:solidFill>
                <a:effectLst/>
                <a:latin typeface="sfmono-regular"/>
              </a:rPr>
              <a:t>land</a:t>
            </a:r>
            <a:r>
              <a:rPr kumimoji="0" lang="en-NL" altLang="en-NL" sz="1000" b="0" i="0" u="none" strike="noStrike" cap="none" normalizeH="0" baseline="0" dirty="0">
                <a:ln>
                  <a:noFill/>
                </a:ln>
                <a:solidFill>
                  <a:srgbClr val="2D2F31"/>
                </a:solidFill>
                <a:effectLst/>
                <a:latin typeface="Udemy Sans"/>
              </a:rPr>
              <a:t>. If the compare string is not found it returns empty.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STRLEN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STRLEN(string)</a:t>
            </a:r>
            <a:r>
              <a:rPr kumimoji="0" lang="en-NL" altLang="en-NL" sz="1000" b="0" i="0" u="none" strike="noStrike" cap="none" normalizeH="0" baseline="0" dirty="0">
                <a:ln>
                  <a:noFill/>
                </a:ln>
                <a:solidFill>
                  <a:srgbClr val="2D2F31"/>
                </a:solidFill>
                <a:effectLst/>
                <a:latin typeface="Udemy Sans"/>
              </a:rPr>
              <a:t> returns the length of a string.</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STRLEN(?country)</a:t>
            </a:r>
            <a:r>
              <a:rPr kumimoji="0" lang="en-NL" altLang="en-NL" sz="1000" b="0" i="0" u="none" strike="noStrike" cap="none" normalizeH="0" baseline="0" dirty="0">
                <a:ln>
                  <a:noFill/>
                </a:ln>
                <a:solidFill>
                  <a:srgbClr val="2D2F31"/>
                </a:solidFill>
                <a:effectLst/>
                <a:latin typeface="Udemy Sans"/>
              </a:rPr>
              <a:t> where </a:t>
            </a:r>
            <a:r>
              <a:rPr kumimoji="0" lang="en-NL" altLang="en-NL" sz="1000" b="0" i="0" u="none" strike="noStrike" cap="none" normalizeH="0" baseline="0" dirty="0">
                <a:ln>
                  <a:noFill/>
                </a:ln>
                <a:solidFill>
                  <a:srgbClr val="B4690E"/>
                </a:solidFill>
                <a:effectLst/>
                <a:latin typeface="sfmono-regular"/>
              </a:rPr>
              <a:t>?country</a:t>
            </a:r>
            <a:r>
              <a:rPr kumimoji="0" lang="en-NL" altLang="en-NL" sz="1000" b="0" i="0" u="none" strike="noStrike" cap="none" normalizeH="0" baseline="0" dirty="0">
                <a:ln>
                  <a:noFill/>
                </a:ln>
                <a:solidFill>
                  <a:srgbClr val="2D2F31"/>
                </a:solidFill>
                <a:effectLst/>
                <a:latin typeface="Udemy Sans"/>
              </a:rPr>
              <a:t> is </a:t>
            </a:r>
            <a:r>
              <a:rPr kumimoji="0" lang="en-NL" altLang="en-NL" sz="1000" b="0" i="0" u="none" strike="noStrike" cap="none" normalizeH="0" baseline="0" dirty="0">
                <a:ln>
                  <a:noFill/>
                </a:ln>
                <a:solidFill>
                  <a:srgbClr val="B4690E"/>
                </a:solidFill>
                <a:effectLst/>
                <a:latin typeface="sfmono-regular"/>
              </a:rPr>
              <a:t>China</a:t>
            </a:r>
            <a:r>
              <a:rPr kumimoji="0" lang="en-NL" altLang="en-NL" sz="1000" b="0" i="0" u="none" strike="noStrike" cap="none" normalizeH="0" baseline="0" dirty="0">
                <a:ln>
                  <a:noFill/>
                </a:ln>
                <a:solidFill>
                  <a:srgbClr val="2D2F31"/>
                </a:solidFill>
                <a:effectLst/>
                <a:latin typeface="Udemy Sans"/>
              </a:rPr>
              <a:t> will return </a:t>
            </a:r>
            <a:r>
              <a:rPr kumimoji="0" lang="en-NL" altLang="en-NL" sz="1000" b="0" i="0" u="none" strike="noStrike" cap="none" normalizeH="0" baseline="0" dirty="0">
                <a:ln>
                  <a:noFill/>
                </a:ln>
                <a:solidFill>
                  <a:srgbClr val="B4690E"/>
                </a:solidFill>
                <a:effectLst/>
                <a:latin typeface="sfmono-regular"/>
              </a:rPr>
              <a:t>5</a:t>
            </a:r>
            <a:r>
              <a:rPr kumimoji="0" lang="en-NL" altLang="en-NL" sz="1000" b="0" i="0" u="none" strike="noStrike" cap="none" normalizeH="0" baseline="0" dirty="0">
                <a:ln>
                  <a:noFill/>
                </a:ln>
                <a:solidFill>
                  <a:srgbClr val="2D2F31"/>
                </a:solidFill>
                <a:effectLst/>
                <a:latin typeface="Udemy San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CONTAINS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CONTAINS(string, </a:t>
            </a:r>
            <a:r>
              <a:rPr kumimoji="0" lang="en-NL" altLang="en-NL" sz="1000" b="0" i="0" u="none" strike="noStrike" cap="none" normalizeH="0" baseline="0" dirty="0" err="1">
                <a:ln>
                  <a:noFill/>
                </a:ln>
                <a:solidFill>
                  <a:srgbClr val="B4690E"/>
                </a:solidFill>
                <a:effectLst/>
                <a:latin typeface="sfmono-regular"/>
              </a:rPr>
              <a:t>compare_string</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checks if the string contains the compare string.</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CONTAINS("Madagascar", "</a:t>
            </a:r>
            <a:r>
              <a:rPr kumimoji="0" lang="en-NL" altLang="en-NL" sz="1000" b="0" i="0" u="none" strike="noStrike" cap="none" normalizeH="0" baseline="0" dirty="0" err="1">
                <a:ln>
                  <a:noFill/>
                </a:ln>
                <a:solidFill>
                  <a:srgbClr val="B4690E"/>
                </a:solidFill>
                <a:effectLst/>
                <a:latin typeface="sfmono-regular"/>
              </a:rPr>
              <a:t>dag</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returns true, meaning the string contains </a:t>
            </a:r>
            <a:r>
              <a:rPr kumimoji="0" lang="en-NL" altLang="en-NL" sz="1000" b="0" i="0" u="none" strike="noStrike" cap="none" normalizeH="0" baseline="0" dirty="0" err="1">
                <a:ln>
                  <a:noFill/>
                </a:ln>
                <a:solidFill>
                  <a:srgbClr val="B4690E"/>
                </a:solidFill>
                <a:effectLst/>
                <a:latin typeface="sfmono-regular"/>
              </a:rPr>
              <a:t>dag</a:t>
            </a:r>
            <a:r>
              <a:rPr kumimoji="0" lang="en-NL" altLang="en-NL" sz="1000" b="0" i="0" u="none" strike="noStrike" cap="none" normalizeH="0" baseline="0" dirty="0">
                <a:ln>
                  <a:noFill/>
                </a:ln>
                <a:solidFill>
                  <a:srgbClr val="2D2F31"/>
                </a:solidFill>
                <a:effectLst/>
                <a:latin typeface="Udemy San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SUBSTR</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SUBSTR(string, </a:t>
            </a:r>
            <a:r>
              <a:rPr kumimoji="0" lang="en-NL" altLang="en-NL" sz="1000" b="0" i="0" u="none" strike="noStrike" cap="none" normalizeH="0" baseline="0" dirty="0" err="1">
                <a:ln>
                  <a:noFill/>
                </a:ln>
                <a:solidFill>
                  <a:srgbClr val="B4690E"/>
                </a:solidFill>
                <a:effectLst/>
                <a:latin typeface="sfmono-regular"/>
              </a:rPr>
              <a:t>start_position</a:t>
            </a:r>
            <a:r>
              <a:rPr kumimoji="0" lang="en-NL" altLang="en-NL" sz="1000" b="0" i="0" u="none" strike="noStrike" cap="none" normalizeH="0" baseline="0" dirty="0">
                <a:ln>
                  <a:noFill/>
                </a:ln>
                <a:solidFill>
                  <a:srgbClr val="B4690E"/>
                </a:solidFill>
                <a:effectLst/>
                <a:latin typeface="sfmono-regular"/>
              </a:rPr>
              <a:t>, </a:t>
            </a:r>
            <a:r>
              <a:rPr kumimoji="0" lang="en-NL" altLang="en-NL" sz="1000" b="0" i="0" u="none" strike="noStrike" cap="none" normalizeH="0" baseline="0" dirty="0" err="1">
                <a:ln>
                  <a:noFill/>
                </a:ln>
                <a:solidFill>
                  <a:srgbClr val="B4690E"/>
                </a:solidFill>
                <a:effectLst/>
                <a:latin typeface="sfmono-regular"/>
              </a:rPr>
              <a:t>string_length</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returns a substring of a string starting at the position marked by </a:t>
            </a:r>
            <a:r>
              <a:rPr kumimoji="0" lang="en-NL" altLang="en-NL" sz="1000" b="0" i="0" u="none" strike="noStrike" cap="none" normalizeH="0" baseline="0" dirty="0" err="1">
                <a:ln>
                  <a:noFill/>
                </a:ln>
                <a:solidFill>
                  <a:srgbClr val="B4690E"/>
                </a:solidFill>
                <a:effectLst/>
                <a:latin typeface="sfmono-regular"/>
              </a:rPr>
              <a:t>start_position</a:t>
            </a:r>
            <a:r>
              <a:rPr kumimoji="0" lang="en-NL" altLang="en-NL" sz="1000" b="0" i="0" u="none" strike="noStrike" cap="none" normalizeH="0" baseline="0" dirty="0">
                <a:ln>
                  <a:noFill/>
                </a:ln>
                <a:solidFill>
                  <a:srgbClr val="2D2F31"/>
                </a:solidFill>
                <a:effectLst/>
                <a:latin typeface="Udemy Sans"/>
              </a:rPr>
              <a:t>, and will have the given length supplied through </a:t>
            </a:r>
            <a:r>
              <a:rPr kumimoji="0" lang="en-NL" altLang="en-NL" sz="1000" b="0" i="0" u="none" strike="noStrike" cap="none" normalizeH="0" baseline="0" dirty="0" err="1">
                <a:ln>
                  <a:noFill/>
                </a:ln>
                <a:solidFill>
                  <a:srgbClr val="B4690E"/>
                </a:solidFill>
                <a:effectLst/>
                <a:latin typeface="sfmono-regular"/>
              </a:rPr>
              <a:t>string_length</a:t>
            </a:r>
            <a:r>
              <a:rPr kumimoji="0" lang="en-NL" altLang="en-NL" sz="1000" b="0" i="0" u="none" strike="noStrike" cap="none" normalizeH="0" baseline="0" dirty="0">
                <a:ln>
                  <a:noFill/>
                </a:ln>
                <a:solidFill>
                  <a:srgbClr val="2D2F31"/>
                </a:solidFill>
                <a:effectLst/>
                <a:latin typeface="Udemy Sans"/>
              </a:rPr>
              <a:t>.</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SUBSTR(?country, 7, 4)</a:t>
            </a:r>
            <a:r>
              <a:rPr kumimoji="0" lang="en-NL" altLang="en-NL" sz="1000" b="0" i="0" u="none" strike="noStrike" cap="none" normalizeH="0" baseline="0" dirty="0">
                <a:ln>
                  <a:noFill/>
                </a:ln>
                <a:solidFill>
                  <a:srgbClr val="2D2F31"/>
                </a:solidFill>
                <a:effectLst/>
                <a:latin typeface="Udemy Sans"/>
              </a:rPr>
              <a:t> where </a:t>
            </a:r>
            <a:r>
              <a:rPr kumimoji="0" lang="en-NL" altLang="en-NL" sz="1000" b="0" i="0" u="none" strike="noStrike" cap="none" normalizeH="0" baseline="0" dirty="0">
                <a:ln>
                  <a:noFill/>
                </a:ln>
                <a:solidFill>
                  <a:srgbClr val="B4690E"/>
                </a:solidFill>
                <a:effectLst/>
                <a:latin typeface="sfmono-regular"/>
              </a:rPr>
              <a:t>?country</a:t>
            </a:r>
            <a:r>
              <a:rPr kumimoji="0" lang="en-NL" altLang="en-NL" sz="1000" b="0" i="0" u="none" strike="noStrike" cap="none" normalizeH="0" baseline="0" dirty="0">
                <a:ln>
                  <a:noFill/>
                </a:ln>
                <a:solidFill>
                  <a:srgbClr val="2D2F31"/>
                </a:solidFill>
                <a:effectLst/>
                <a:latin typeface="Udemy Sans"/>
              </a:rPr>
              <a:t> is </a:t>
            </a:r>
            <a:r>
              <a:rPr kumimoji="0" lang="en-NL" altLang="en-NL" sz="1000" b="0" i="0" u="none" strike="noStrike" cap="none" normalizeH="0" baseline="0" dirty="0">
                <a:ln>
                  <a:noFill/>
                </a:ln>
                <a:solidFill>
                  <a:srgbClr val="B4690E"/>
                </a:solidFill>
                <a:effectLst/>
                <a:latin typeface="sfmono-regular"/>
              </a:rPr>
              <a:t>Costa Rica</a:t>
            </a:r>
            <a:r>
              <a:rPr kumimoji="0" lang="en-NL" altLang="en-NL" sz="1000" b="0" i="0" u="none" strike="noStrike" cap="none" normalizeH="0" baseline="0" dirty="0">
                <a:ln>
                  <a:noFill/>
                </a:ln>
                <a:solidFill>
                  <a:srgbClr val="2D2F31"/>
                </a:solidFill>
                <a:effectLst/>
                <a:latin typeface="Udemy Sans"/>
              </a:rPr>
              <a:t> will return </a:t>
            </a:r>
            <a:r>
              <a:rPr kumimoji="0" lang="en-NL" altLang="en-NL" sz="1000" b="0" i="0" u="none" strike="noStrike" cap="none" normalizeH="0" baseline="0" dirty="0">
                <a:ln>
                  <a:noFill/>
                </a:ln>
                <a:solidFill>
                  <a:srgbClr val="B4690E"/>
                </a:solidFill>
                <a:effectLst/>
                <a:latin typeface="sfmono-regular"/>
              </a:rPr>
              <a:t>Rica</a:t>
            </a:r>
            <a:r>
              <a:rPr kumimoji="0" lang="en-NL" altLang="en-NL" sz="1000" b="0" i="0" u="none" strike="noStrike" cap="none" normalizeH="0" baseline="0" dirty="0">
                <a:ln>
                  <a:noFill/>
                </a:ln>
                <a:solidFill>
                  <a:srgbClr val="2D2F31"/>
                </a:solidFill>
                <a:effectLst/>
                <a:latin typeface="Udemy Sans"/>
              </a:rPr>
              <a:t>. Omitting the length as in </a:t>
            </a:r>
            <a:r>
              <a:rPr kumimoji="0" lang="en-NL" altLang="en-NL" sz="1000" b="0" i="0" u="none" strike="noStrike" cap="none" normalizeH="0" baseline="0" dirty="0">
                <a:ln>
                  <a:noFill/>
                </a:ln>
                <a:solidFill>
                  <a:srgbClr val="B4690E"/>
                </a:solidFill>
                <a:effectLst/>
                <a:latin typeface="sfmono-regular"/>
              </a:rPr>
              <a:t>SUBSTR(?country, 7)</a:t>
            </a:r>
            <a:r>
              <a:rPr kumimoji="0" lang="en-NL" altLang="en-NL" sz="1000" b="0" i="0" u="none" strike="noStrike" cap="none" normalizeH="0" baseline="0" dirty="0">
                <a:ln>
                  <a:noFill/>
                </a:ln>
                <a:solidFill>
                  <a:srgbClr val="2D2F31"/>
                </a:solidFill>
                <a:effectLst/>
                <a:latin typeface="Udemy Sans"/>
              </a:rPr>
              <a:t> returns </a:t>
            </a:r>
            <a:r>
              <a:rPr kumimoji="0" lang="en-NL" altLang="en-NL" sz="1000" b="0" i="0" u="none" strike="noStrike" cap="none" normalizeH="0" baseline="0" dirty="0">
                <a:ln>
                  <a:noFill/>
                </a:ln>
                <a:solidFill>
                  <a:srgbClr val="B4690E"/>
                </a:solidFill>
                <a:effectLst/>
                <a:latin typeface="sfmono-regular"/>
              </a:rPr>
              <a:t>Rica</a:t>
            </a:r>
            <a:r>
              <a:rPr kumimoji="0" lang="en-NL" altLang="en-NL" sz="1000" b="0" i="0" u="none" strike="noStrike" cap="none" normalizeH="0" baseline="0" dirty="0">
                <a:ln>
                  <a:noFill/>
                </a:ln>
                <a:solidFill>
                  <a:srgbClr val="2D2F31"/>
                </a:solidFill>
                <a:effectLst/>
                <a:latin typeface="Udemy Sans"/>
              </a:rPr>
              <a:t>, i.e. the remaining string from the starting position.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UCASE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UCASE(string)</a:t>
            </a:r>
            <a:r>
              <a:rPr kumimoji="0" lang="en-NL" altLang="en-NL" sz="1000" b="0" i="0" u="none" strike="noStrike" cap="none" normalizeH="0" baseline="0" dirty="0">
                <a:ln>
                  <a:noFill/>
                </a:ln>
                <a:solidFill>
                  <a:srgbClr val="2D2F31"/>
                </a:solidFill>
                <a:effectLst/>
                <a:latin typeface="Udemy Sans"/>
              </a:rPr>
              <a:t> returns the string in upper case.</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UCASE("Japan")</a:t>
            </a:r>
            <a:r>
              <a:rPr kumimoji="0" lang="en-NL" altLang="en-NL" sz="1000" b="0" i="0" u="none" strike="noStrike" cap="none" normalizeH="0" baseline="0" dirty="0">
                <a:ln>
                  <a:noFill/>
                </a:ln>
                <a:solidFill>
                  <a:srgbClr val="2D2F31"/>
                </a:solidFill>
                <a:effectLst/>
                <a:latin typeface="Udemy Sans"/>
              </a:rPr>
              <a:t> will be returned as </a:t>
            </a:r>
            <a:r>
              <a:rPr kumimoji="0" lang="en-NL" altLang="en-NL" sz="1000" b="0" i="0" u="none" strike="noStrike" cap="none" normalizeH="0" baseline="0" dirty="0">
                <a:ln>
                  <a:noFill/>
                </a:ln>
                <a:solidFill>
                  <a:srgbClr val="B4690E"/>
                </a:solidFill>
                <a:effectLst/>
                <a:latin typeface="sfmono-regular"/>
              </a:rPr>
              <a:t>JAPAN</a:t>
            </a:r>
            <a:r>
              <a:rPr kumimoji="0" lang="en-NL" altLang="en-NL" sz="1000" b="0" i="0" u="none" strike="noStrike" cap="none" normalizeH="0" baseline="0" dirty="0">
                <a:ln>
                  <a:noFill/>
                </a:ln>
                <a:solidFill>
                  <a:srgbClr val="2D2F31"/>
                </a:solidFill>
                <a:effectLst/>
                <a:latin typeface="Udemy San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LCASE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LCASE(string)</a:t>
            </a:r>
            <a:r>
              <a:rPr kumimoji="0" lang="en-NL" altLang="en-NL" sz="1000" b="0" i="0" u="none" strike="noStrike" cap="none" normalizeH="0" baseline="0" dirty="0">
                <a:ln>
                  <a:noFill/>
                </a:ln>
                <a:solidFill>
                  <a:srgbClr val="2D2F31"/>
                </a:solidFill>
                <a:effectLst/>
                <a:latin typeface="Udemy Sans"/>
              </a:rPr>
              <a:t> returns the string in lower case.</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LCASE("UK")</a:t>
            </a:r>
            <a:r>
              <a:rPr kumimoji="0" lang="en-NL" altLang="en-NL" sz="1000" b="0" i="0" u="none" strike="noStrike" cap="none" normalizeH="0" baseline="0" dirty="0">
                <a:ln>
                  <a:noFill/>
                </a:ln>
                <a:solidFill>
                  <a:srgbClr val="2D2F31"/>
                </a:solidFill>
                <a:effectLst/>
                <a:latin typeface="Udemy Sans"/>
              </a:rPr>
              <a:t> will be returned as </a:t>
            </a:r>
            <a:r>
              <a:rPr kumimoji="0" lang="en-NL" altLang="en-NL" sz="1000" b="0" i="0" u="none" strike="noStrike" cap="none" normalizeH="0" baseline="0" dirty="0" err="1">
                <a:ln>
                  <a:noFill/>
                </a:ln>
                <a:solidFill>
                  <a:srgbClr val="B4690E"/>
                </a:solidFill>
                <a:effectLst/>
                <a:latin typeface="sfmono-regular"/>
              </a:rPr>
              <a:t>uk</a:t>
            </a:r>
            <a:r>
              <a:rPr kumimoji="0" lang="en-NL" altLang="en-NL" sz="1000" b="0" i="0" u="none" strike="noStrike" cap="none" normalizeH="0" baseline="0" dirty="0">
                <a:ln>
                  <a:noFill/>
                </a:ln>
                <a:solidFill>
                  <a:srgbClr val="2D2F31"/>
                </a:solidFill>
                <a:effectLst/>
                <a:latin typeface="Udemy San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CONCAT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CONCAT(string1, string2, ...) returns the concatenation of two or more strings.</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CONCAT("Republic", " of ", "Ireland") returns Republic of Ireland.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ENCODE_FOR_URI</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ENCODE_FOR_URI(string)</a:t>
            </a:r>
            <a:r>
              <a:rPr kumimoji="0" lang="en-NL" altLang="en-NL" sz="1000" b="0" i="0" u="none" strike="noStrike" cap="none" normalizeH="0" baseline="0" dirty="0">
                <a:ln>
                  <a:noFill/>
                </a:ln>
                <a:solidFill>
                  <a:srgbClr val="2D2F31"/>
                </a:solidFill>
                <a:effectLst/>
                <a:latin typeface="Udemy Sans"/>
              </a:rPr>
              <a:t> converts any special characters in the string for use in a URL for the web.</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ENCODE_FOR_URI("Washington DC")</a:t>
            </a:r>
            <a:r>
              <a:rPr kumimoji="0" lang="en-NL" altLang="en-NL" sz="1000" b="0" i="0" u="none" strike="noStrike" cap="none" normalizeH="0" baseline="0" dirty="0">
                <a:ln>
                  <a:noFill/>
                </a:ln>
                <a:solidFill>
                  <a:srgbClr val="2D2F31"/>
                </a:solidFill>
                <a:effectLst/>
                <a:latin typeface="Udemy Sans"/>
              </a:rPr>
              <a:t> returns </a:t>
            </a:r>
            <a:r>
              <a:rPr kumimoji="0" lang="en-NL" altLang="en-NL" sz="1000" b="0" i="0" u="none" strike="noStrike" cap="none" normalizeH="0" baseline="0" dirty="0">
                <a:ln>
                  <a:noFill/>
                </a:ln>
                <a:solidFill>
                  <a:srgbClr val="B4690E"/>
                </a:solidFill>
                <a:effectLst/>
                <a:latin typeface="sfmono-regular"/>
              </a:rPr>
              <a:t>Washington%20DC</a:t>
            </a:r>
            <a:r>
              <a:rPr kumimoji="0" lang="en-NL" altLang="en-NL" sz="1000" b="0" i="0" u="none" strike="noStrike" cap="none" normalizeH="0" baseline="0" dirty="0">
                <a:ln>
                  <a:noFill/>
                </a:ln>
                <a:solidFill>
                  <a:srgbClr val="2D2F31"/>
                </a:solidFill>
                <a:effectLst/>
                <a:latin typeface="Udemy San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LANGMATCHES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LANGMATCHES(</a:t>
            </a:r>
            <a:r>
              <a:rPr kumimoji="0" lang="en-NL" altLang="en-NL" sz="1000" b="0" i="0" u="none" strike="noStrike" cap="none" normalizeH="0" baseline="0" dirty="0" err="1">
                <a:ln>
                  <a:noFill/>
                </a:ln>
                <a:solidFill>
                  <a:srgbClr val="B4690E"/>
                </a:solidFill>
                <a:effectLst/>
                <a:latin typeface="sfmono-regular"/>
              </a:rPr>
              <a:t>language_tag</a:t>
            </a:r>
            <a:r>
              <a:rPr kumimoji="0" lang="en-NL" altLang="en-NL" sz="1000" b="0" i="0" u="none" strike="noStrike" cap="none" normalizeH="0" baseline="0" dirty="0">
                <a:ln>
                  <a:noFill/>
                </a:ln>
                <a:solidFill>
                  <a:srgbClr val="B4690E"/>
                </a:solidFill>
                <a:effectLst/>
                <a:latin typeface="sfmono-regular"/>
              </a:rPr>
              <a:t>, </a:t>
            </a:r>
            <a:r>
              <a:rPr kumimoji="0" lang="en-NL" altLang="en-NL" sz="1000" b="0" i="0" u="none" strike="noStrike" cap="none" normalizeH="0" baseline="0" dirty="0" err="1">
                <a:ln>
                  <a:noFill/>
                </a:ln>
                <a:solidFill>
                  <a:srgbClr val="B4690E"/>
                </a:solidFill>
                <a:effectLst/>
                <a:latin typeface="sfmono-regular"/>
              </a:rPr>
              <a:t>language_range</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checks if the language tag matches the language range. See </a:t>
            </a:r>
            <a:r>
              <a:rPr kumimoji="0" lang="en-NL" altLang="en-NL" sz="1000" b="0" i="0" u="none" strike="noStrike" cap="none" normalizeH="0" baseline="0" dirty="0" err="1">
                <a:ln>
                  <a:noFill/>
                </a:ln>
                <a:solidFill>
                  <a:srgbClr val="5624D0"/>
                </a:solidFill>
                <a:effectLst/>
                <a:latin typeface="Udemy Sans"/>
                <a:hlinkClick r:id="rId2"/>
              </a:rPr>
              <a:t>langMatches</a:t>
            </a:r>
            <a:r>
              <a:rPr kumimoji="0" lang="en-NL" altLang="en-NL" sz="1000" b="0" i="0" u="none" strike="noStrike" cap="none" normalizeH="0" baseline="0" dirty="0">
                <a:ln>
                  <a:noFill/>
                </a:ln>
                <a:solidFill>
                  <a:srgbClr val="2D2F31"/>
                </a:solidFill>
                <a:effectLst/>
                <a:latin typeface="Udemy Sans"/>
              </a:rPr>
              <a:t> for more info.</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FILTER LANGMATCHES(LANG(?label), "</a:t>
            </a:r>
            <a:r>
              <a:rPr kumimoji="0" lang="en-NL" altLang="en-NL" sz="1000" b="0" i="0" u="none" strike="noStrike" cap="none" normalizeH="0" baseline="0" dirty="0" err="1">
                <a:ln>
                  <a:noFill/>
                </a:ln>
                <a:solidFill>
                  <a:srgbClr val="B4690E"/>
                </a:solidFill>
                <a:effectLst/>
                <a:latin typeface="sfmono-regular"/>
              </a:rPr>
              <a:t>en</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filters language tags in the English language. The language tags may contain region as well, e.g. </a:t>
            </a:r>
            <a:r>
              <a:rPr kumimoji="0" lang="en-NL" altLang="en-NL" sz="1000" b="0" i="0" u="none" strike="noStrike" cap="none" normalizeH="0" baseline="0" dirty="0" err="1">
                <a:ln>
                  <a:noFill/>
                </a:ln>
                <a:solidFill>
                  <a:srgbClr val="B4690E"/>
                </a:solidFill>
                <a:effectLst/>
                <a:latin typeface="sfmono-regular"/>
              </a:rPr>
              <a:t>en</a:t>
            </a:r>
            <a:r>
              <a:rPr kumimoji="0" lang="en-NL" altLang="en-NL" sz="1000" b="0" i="0" u="none" strike="noStrike" cap="none" normalizeH="0" baseline="0" dirty="0">
                <a:ln>
                  <a:noFill/>
                </a:ln>
                <a:solidFill>
                  <a:srgbClr val="B4690E"/>
                </a:solidFill>
                <a:effectLst/>
                <a:latin typeface="sfmono-regular"/>
              </a:rPr>
              <a:t>-IE</a:t>
            </a:r>
            <a:r>
              <a:rPr kumimoji="0" lang="en-NL" altLang="en-NL" sz="1000" b="0" i="0" u="none" strike="noStrike" cap="none" normalizeH="0" baseline="0" dirty="0">
                <a:ln>
                  <a:noFill/>
                </a:ln>
                <a:solidFill>
                  <a:srgbClr val="2D2F31"/>
                </a:solidFill>
                <a:effectLst/>
                <a:latin typeface="Udemy Sans"/>
              </a:rPr>
              <a:t>. A language range of </a:t>
            </a:r>
            <a:r>
              <a:rPr kumimoji="0" lang="en-NL" altLang="en-NL" sz="1000" b="0" i="0" u="none" strike="noStrike" cap="none" normalizeH="0" baseline="0" dirty="0">
                <a:ln>
                  <a:noFill/>
                </a:ln>
                <a:solidFill>
                  <a:srgbClr val="B4690E"/>
                </a:solidFill>
                <a:effectLst/>
                <a:latin typeface="sfmono-regular"/>
              </a:rPr>
              <a:t>*</a:t>
            </a:r>
            <a:r>
              <a:rPr kumimoji="0" lang="en-NL" altLang="en-NL" sz="1000" b="0" i="0" u="none" strike="noStrike" cap="none" normalizeH="0" baseline="0" dirty="0">
                <a:ln>
                  <a:noFill/>
                </a:ln>
                <a:solidFill>
                  <a:srgbClr val="2D2F31"/>
                </a:solidFill>
                <a:effectLst/>
                <a:latin typeface="Udemy Sans"/>
              </a:rPr>
              <a:t> matches any non-empty language-tag string.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REGEX</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REGEX(string, pattern, flag)</a:t>
            </a:r>
            <a:r>
              <a:rPr kumimoji="0" lang="en-NL" altLang="en-NL" sz="1000" b="0" i="0" u="none" strike="noStrike" cap="none" normalizeH="0" baseline="0" dirty="0">
                <a:ln>
                  <a:noFill/>
                </a:ln>
                <a:solidFill>
                  <a:srgbClr val="2D2F31"/>
                </a:solidFill>
                <a:effectLst/>
                <a:latin typeface="Udemy Sans"/>
              </a:rPr>
              <a:t> checks if the string matches the pattern. The pattern may contain different special characters. See </a:t>
            </a:r>
            <a:r>
              <a:rPr kumimoji="0" lang="en-NL" altLang="en-NL" sz="1000" b="0" i="0" u="none" strike="noStrike" cap="none" normalizeH="0" baseline="0" dirty="0">
                <a:ln>
                  <a:noFill/>
                </a:ln>
                <a:solidFill>
                  <a:srgbClr val="5624D0"/>
                </a:solidFill>
                <a:effectLst/>
                <a:latin typeface="Udemy Sans"/>
                <a:hlinkClick r:id="rId3"/>
              </a:rPr>
              <a:t>regex</a:t>
            </a:r>
            <a:r>
              <a:rPr kumimoji="0" lang="en-NL" altLang="en-NL" sz="1000" b="0" i="0" u="none" strike="noStrike" cap="none" normalizeH="0" baseline="0" dirty="0">
                <a:ln>
                  <a:noFill/>
                </a:ln>
                <a:solidFill>
                  <a:srgbClr val="2D2F31"/>
                </a:solidFill>
                <a:effectLst/>
                <a:latin typeface="Udemy Sans"/>
              </a:rPr>
              <a:t> for more info.</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REPLACE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Purpose: </a:t>
            </a:r>
            <a:r>
              <a:rPr kumimoji="0" lang="en-NL" altLang="en-NL" sz="1000" b="0" i="0" u="none" strike="noStrike" cap="none" normalizeH="0" baseline="0" dirty="0">
                <a:ln>
                  <a:noFill/>
                </a:ln>
                <a:solidFill>
                  <a:srgbClr val="B4690E"/>
                </a:solidFill>
                <a:effectLst/>
                <a:latin typeface="sfmono-regular"/>
              </a:rPr>
              <a:t>REPLACE(string, pattern, replacement, flag)</a:t>
            </a:r>
            <a:r>
              <a:rPr kumimoji="0" lang="en-NL" altLang="en-NL" sz="1000" b="0" i="0" u="none" strike="noStrike" cap="none" normalizeH="0" baseline="0" dirty="0">
                <a:ln>
                  <a:noFill/>
                </a:ln>
                <a:solidFill>
                  <a:srgbClr val="2D2F31"/>
                </a:solidFill>
                <a:effectLst/>
                <a:latin typeface="Udemy Sans"/>
              </a:rPr>
              <a:t> returns the string after replacing all occurrences of </a:t>
            </a:r>
            <a:r>
              <a:rPr kumimoji="0" lang="en-NL" altLang="en-NL" sz="1000" b="0" i="0" u="none" strike="noStrike" cap="none" normalizeH="0" baseline="0" dirty="0">
                <a:ln>
                  <a:noFill/>
                </a:ln>
                <a:solidFill>
                  <a:srgbClr val="B4690E"/>
                </a:solidFill>
                <a:effectLst/>
                <a:latin typeface="sfmono-regular"/>
              </a:rPr>
              <a:t>pattern</a:t>
            </a:r>
            <a:r>
              <a:rPr kumimoji="0" lang="en-NL" altLang="en-NL" sz="1000" b="0" i="0" u="none" strike="noStrike" cap="none" normalizeH="0" baseline="0" dirty="0">
                <a:ln>
                  <a:noFill/>
                </a:ln>
                <a:solidFill>
                  <a:srgbClr val="2D2F31"/>
                </a:solidFill>
                <a:effectLst/>
                <a:latin typeface="Udemy Sans"/>
              </a:rPr>
              <a:t> in </a:t>
            </a:r>
            <a:r>
              <a:rPr kumimoji="0" lang="en-NL" altLang="en-NL" sz="1000" b="0" i="0" u="none" strike="noStrike" cap="none" normalizeH="0" baseline="0" dirty="0">
                <a:ln>
                  <a:noFill/>
                </a:ln>
                <a:solidFill>
                  <a:srgbClr val="B4690E"/>
                </a:solidFill>
                <a:effectLst/>
                <a:latin typeface="sfmono-regular"/>
              </a:rPr>
              <a:t>string</a:t>
            </a:r>
            <a:r>
              <a:rPr kumimoji="0" lang="en-NL" altLang="en-NL" sz="1000" b="0" i="0" u="none" strike="noStrike" cap="none" normalizeH="0" baseline="0" dirty="0">
                <a:ln>
                  <a:noFill/>
                </a:ln>
                <a:solidFill>
                  <a:srgbClr val="2D2F31"/>
                </a:solidFill>
                <a:effectLst/>
                <a:latin typeface="Udemy Sans"/>
              </a:rPr>
              <a:t> with </a:t>
            </a:r>
            <a:r>
              <a:rPr kumimoji="0" lang="en-NL" altLang="en-NL" sz="1000" b="0" i="0" u="none" strike="noStrike" cap="none" normalizeH="0" baseline="0" dirty="0">
                <a:ln>
                  <a:noFill/>
                </a:ln>
                <a:solidFill>
                  <a:srgbClr val="B4690E"/>
                </a:solidFill>
                <a:effectLst/>
                <a:latin typeface="sfmono-regular"/>
              </a:rPr>
              <a:t>replacement</a:t>
            </a:r>
            <a:r>
              <a:rPr kumimoji="0" lang="en-NL" altLang="en-NL" sz="1000" b="0" i="0" u="none" strike="noStrike" cap="none" normalizeH="0" baseline="0" dirty="0">
                <a:ln>
                  <a:noFill/>
                </a:ln>
                <a:solidFill>
                  <a:srgbClr val="2D2F31"/>
                </a:solidFill>
                <a:effectLst/>
                <a:latin typeface="Udemy Sans"/>
              </a:rPr>
              <a:t>. </a:t>
            </a:r>
            <a:r>
              <a:rPr kumimoji="0" lang="en-NL" altLang="en-NL" sz="1000" b="0" i="0" u="none" strike="noStrike" cap="none" normalizeH="0" baseline="0" dirty="0">
                <a:ln>
                  <a:noFill/>
                </a:ln>
                <a:solidFill>
                  <a:srgbClr val="B4690E"/>
                </a:solidFill>
                <a:effectLst/>
                <a:latin typeface="sfmono-regular"/>
              </a:rPr>
              <a:t>pattern</a:t>
            </a:r>
            <a:r>
              <a:rPr kumimoji="0" lang="en-NL" altLang="en-NL" sz="1000" b="0" i="0" u="none" strike="noStrike" cap="none" normalizeH="0" baseline="0" dirty="0">
                <a:ln>
                  <a:noFill/>
                </a:ln>
                <a:solidFill>
                  <a:srgbClr val="2D2F31"/>
                </a:solidFill>
                <a:effectLst/>
                <a:latin typeface="Udemy Sans"/>
              </a:rPr>
              <a:t> is interpreted the same as in REGEX. </a:t>
            </a:r>
            <a:r>
              <a:rPr kumimoji="0" lang="en-NL" altLang="en-NL" sz="1000" b="0" i="0" u="none" strike="noStrike" cap="none" normalizeH="0" baseline="0" dirty="0">
                <a:ln>
                  <a:noFill/>
                </a:ln>
                <a:solidFill>
                  <a:srgbClr val="B4690E"/>
                </a:solidFill>
                <a:effectLst/>
                <a:latin typeface="sfmono-regular"/>
              </a:rPr>
              <a:t>flag</a:t>
            </a:r>
            <a:r>
              <a:rPr kumimoji="0" lang="en-NL" altLang="en-NL" sz="1000" b="0" i="0" u="none" strike="noStrike" cap="none" normalizeH="0" baseline="0" dirty="0">
                <a:ln>
                  <a:noFill/>
                </a:ln>
                <a:solidFill>
                  <a:srgbClr val="2D2F31"/>
                </a:solidFill>
                <a:effectLst/>
                <a:latin typeface="Udemy Sans"/>
              </a:rPr>
              <a:t> is optional.</a:t>
            </a:r>
            <a:endParaRPr kumimoji="0" lang="en-NL" altLang="en-NL"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000" b="0" i="0" u="none" strike="noStrike" cap="none" normalizeH="0" baseline="0" dirty="0">
                <a:ln>
                  <a:noFill/>
                </a:ln>
                <a:solidFill>
                  <a:srgbClr val="2D2F31"/>
                </a:solidFill>
                <a:effectLst/>
                <a:latin typeface="Udemy Sans"/>
              </a:rPr>
              <a:t>Example: </a:t>
            </a:r>
            <a:r>
              <a:rPr kumimoji="0" lang="en-NL" altLang="en-NL" sz="1000" b="0" i="0" u="none" strike="noStrike" cap="none" normalizeH="0" baseline="0" dirty="0">
                <a:ln>
                  <a:noFill/>
                </a:ln>
                <a:solidFill>
                  <a:srgbClr val="B4690E"/>
                </a:solidFill>
                <a:effectLst/>
                <a:latin typeface="sfmono-regular"/>
              </a:rPr>
              <a:t>REPLACE("</a:t>
            </a:r>
            <a:r>
              <a:rPr kumimoji="0" lang="en-NL" altLang="en-NL" sz="1000" b="0" i="0" u="none" strike="noStrike" cap="none" normalizeH="0" baseline="0" dirty="0" err="1">
                <a:ln>
                  <a:noFill/>
                </a:ln>
                <a:solidFill>
                  <a:srgbClr val="B4690E"/>
                </a:solidFill>
                <a:effectLst/>
                <a:latin typeface="sfmono-regular"/>
              </a:rPr>
              <a:t>United_Kingdom</a:t>
            </a:r>
            <a:r>
              <a:rPr kumimoji="0" lang="en-NL" altLang="en-NL" sz="1000" b="0" i="0" u="none" strike="noStrike" cap="none" normalizeH="0" baseline="0" dirty="0">
                <a:ln>
                  <a:noFill/>
                </a:ln>
                <a:solidFill>
                  <a:srgbClr val="B4690E"/>
                </a:solidFill>
                <a:effectLst/>
                <a:latin typeface="sfmono-regular"/>
              </a:rPr>
              <a:t>", "[_]", " ")</a:t>
            </a:r>
            <a:r>
              <a:rPr kumimoji="0" lang="en-NL" altLang="en-NL" sz="1000" b="0" i="0" u="none" strike="noStrike" cap="none" normalizeH="0" baseline="0" dirty="0">
                <a:ln>
                  <a:noFill/>
                </a:ln>
                <a:solidFill>
                  <a:srgbClr val="2D2F31"/>
                </a:solidFill>
                <a:effectLst/>
                <a:latin typeface="Udemy Sans"/>
              </a:rPr>
              <a:t> removes all the underscores from the original string and replaces them with spaces.</a:t>
            </a:r>
            <a:endParaRPr kumimoji="0" lang="en-NL" altLang="en-NL"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4099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DCCE-C450-3C68-9AE8-8CD6A4E4E877}"/>
              </a:ext>
            </a:extLst>
          </p:cNvPr>
          <p:cNvSpPr>
            <a:spLocks noGrp="1"/>
          </p:cNvSpPr>
          <p:nvPr>
            <p:ph type="title"/>
          </p:nvPr>
        </p:nvSpPr>
        <p:spPr/>
        <p:txBody>
          <a:bodyPr/>
          <a:lstStyle/>
          <a:p>
            <a:r>
              <a:rPr lang="en-US" b="0" i="0" dirty="0">
                <a:solidFill>
                  <a:srgbClr val="2D2F31"/>
                </a:solidFill>
                <a:effectLst/>
                <a:latin typeface="Udemy Sans"/>
              </a:rPr>
              <a:t>Transposing data in tables with OPTIONAL</a:t>
            </a:r>
            <a:endParaRPr lang="en-NL" dirty="0"/>
          </a:p>
        </p:txBody>
      </p:sp>
      <p:sp>
        <p:nvSpPr>
          <p:cNvPr id="3" name="Content Placeholder 2">
            <a:extLst>
              <a:ext uri="{FF2B5EF4-FFF2-40B4-BE49-F238E27FC236}">
                <a16:creationId xmlns:a16="http://schemas.microsoft.com/office/drawing/2014/main" id="{F186AB48-3014-A399-EDB8-2341DCF3A17D}"/>
              </a:ext>
            </a:extLst>
          </p:cNvPr>
          <p:cNvSpPr>
            <a:spLocks noGrp="1"/>
          </p:cNvSpPr>
          <p:nvPr>
            <p:ph idx="1"/>
          </p:nvPr>
        </p:nvSpPr>
        <p:spPr/>
        <p:txBody>
          <a:bodyPr>
            <a:normAutofit/>
          </a:bodyPr>
          <a:lstStyle/>
          <a:p>
            <a:pPr marL="0" indent="0">
              <a:buNone/>
            </a:pPr>
            <a:r>
              <a:rPr lang="en-US" sz="1400" dirty="0"/>
              <a:t>For the countries in "Asia" whose names end in 'stan', list the names of their associated languages as data transposed in such a way that the result table displays, for each country, its rank 1 language as primary language in one column, rank 2 language as secondary language in another column, and rank 3 language as tertiary language in another column.</a:t>
            </a:r>
          </a:p>
          <a:p>
            <a:pPr marL="0" indent="0">
              <a:buNone/>
            </a:pPr>
            <a:endParaRPr lang="en-NL" sz="1400" dirty="0"/>
          </a:p>
        </p:txBody>
      </p:sp>
      <p:pic>
        <p:nvPicPr>
          <p:cNvPr id="7" name="Picture 6">
            <a:extLst>
              <a:ext uri="{FF2B5EF4-FFF2-40B4-BE49-F238E27FC236}">
                <a16:creationId xmlns:a16="http://schemas.microsoft.com/office/drawing/2014/main" id="{2178EEB0-8460-C1AE-27E2-8B0BDDC0B2BC}"/>
              </a:ext>
            </a:extLst>
          </p:cNvPr>
          <p:cNvPicPr>
            <a:picLocks noChangeAspect="1"/>
          </p:cNvPicPr>
          <p:nvPr/>
        </p:nvPicPr>
        <p:blipFill>
          <a:blip r:embed="rId2"/>
          <a:stretch>
            <a:fillRect/>
          </a:stretch>
        </p:blipFill>
        <p:spPr>
          <a:xfrm>
            <a:off x="623387" y="5017136"/>
            <a:ext cx="3597830" cy="419509"/>
          </a:xfrm>
          <a:prstGeom prst="rect">
            <a:avLst/>
          </a:prstGeom>
        </p:spPr>
      </p:pic>
      <p:pic>
        <p:nvPicPr>
          <p:cNvPr id="8" name="Picture 7">
            <a:extLst>
              <a:ext uri="{FF2B5EF4-FFF2-40B4-BE49-F238E27FC236}">
                <a16:creationId xmlns:a16="http://schemas.microsoft.com/office/drawing/2014/main" id="{08D36BB2-5919-7CB9-0D2F-9DBA2B83D661}"/>
              </a:ext>
            </a:extLst>
          </p:cNvPr>
          <p:cNvPicPr>
            <a:picLocks noChangeAspect="1"/>
          </p:cNvPicPr>
          <p:nvPr/>
        </p:nvPicPr>
        <p:blipFill>
          <a:blip r:embed="rId3"/>
          <a:stretch>
            <a:fillRect/>
          </a:stretch>
        </p:blipFill>
        <p:spPr>
          <a:xfrm>
            <a:off x="586422" y="2706498"/>
            <a:ext cx="3559909" cy="2472347"/>
          </a:xfrm>
          <a:prstGeom prst="rect">
            <a:avLst/>
          </a:prstGeom>
        </p:spPr>
      </p:pic>
      <p:pic>
        <p:nvPicPr>
          <p:cNvPr id="10" name="Picture 9">
            <a:extLst>
              <a:ext uri="{FF2B5EF4-FFF2-40B4-BE49-F238E27FC236}">
                <a16:creationId xmlns:a16="http://schemas.microsoft.com/office/drawing/2014/main" id="{A08A49D1-BC03-5859-330E-D0461F5C9638}"/>
              </a:ext>
            </a:extLst>
          </p:cNvPr>
          <p:cNvPicPr>
            <a:picLocks noChangeAspect="1"/>
          </p:cNvPicPr>
          <p:nvPr/>
        </p:nvPicPr>
        <p:blipFill>
          <a:blip r:embed="rId4"/>
          <a:stretch>
            <a:fillRect/>
          </a:stretch>
        </p:blipFill>
        <p:spPr>
          <a:xfrm>
            <a:off x="6613173" y="3083053"/>
            <a:ext cx="4239217" cy="2095792"/>
          </a:xfrm>
          <a:prstGeom prst="rect">
            <a:avLst/>
          </a:prstGeom>
        </p:spPr>
      </p:pic>
    </p:spTree>
    <p:extLst>
      <p:ext uri="{BB962C8B-B14F-4D97-AF65-F5344CB8AC3E}">
        <p14:creationId xmlns:p14="http://schemas.microsoft.com/office/powerpoint/2010/main" val="26951837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56C62-B35E-F6CE-949D-4234FAF373F5}"/>
              </a:ext>
            </a:extLst>
          </p:cNvPr>
          <p:cNvSpPr>
            <a:spLocks noGrp="1"/>
          </p:cNvSpPr>
          <p:nvPr>
            <p:ph type="title"/>
          </p:nvPr>
        </p:nvSpPr>
        <p:spPr/>
        <p:txBody>
          <a:bodyPr/>
          <a:lstStyle/>
          <a:p>
            <a:r>
              <a:rPr lang="en-US" dirty="0"/>
              <a:t>Subquery</a:t>
            </a:r>
            <a:endParaRPr lang="en-NL" dirty="0"/>
          </a:p>
        </p:txBody>
      </p:sp>
      <p:sp>
        <p:nvSpPr>
          <p:cNvPr id="3" name="Content Placeholder 2">
            <a:extLst>
              <a:ext uri="{FF2B5EF4-FFF2-40B4-BE49-F238E27FC236}">
                <a16:creationId xmlns:a16="http://schemas.microsoft.com/office/drawing/2014/main" id="{CC0A35D0-C854-7084-659B-EACA16C973B1}"/>
              </a:ext>
            </a:extLst>
          </p:cNvPr>
          <p:cNvSpPr>
            <a:spLocks noGrp="1"/>
          </p:cNvSpPr>
          <p:nvPr>
            <p:ph idx="1"/>
          </p:nvPr>
        </p:nvSpPr>
        <p:spPr/>
        <p:txBody>
          <a:bodyPr/>
          <a:lstStyle/>
          <a:p>
            <a:r>
              <a:rPr lang="en-US" sz="1400" dirty="0"/>
              <a:t> List the names of the 5 most populated countries in the continent "Europe" and the names of their corresponding </a:t>
            </a:r>
            <a:r>
              <a:rPr lang="en-US" sz="1400" dirty="0" err="1"/>
              <a:t>neighbours</a:t>
            </a:r>
            <a:r>
              <a:rPr lang="en-US" sz="1400" dirty="0"/>
              <a:t>. Order the results in ascending order of the names of these 5 countries.</a:t>
            </a:r>
          </a:p>
          <a:p>
            <a:endParaRPr lang="en-NL" dirty="0"/>
          </a:p>
        </p:txBody>
      </p:sp>
      <p:pic>
        <p:nvPicPr>
          <p:cNvPr id="5" name="Picture 4">
            <a:extLst>
              <a:ext uri="{FF2B5EF4-FFF2-40B4-BE49-F238E27FC236}">
                <a16:creationId xmlns:a16="http://schemas.microsoft.com/office/drawing/2014/main" id="{D1D6FC8D-F67D-BEE1-BDA3-EF815F28A81E}"/>
              </a:ext>
            </a:extLst>
          </p:cNvPr>
          <p:cNvPicPr>
            <a:picLocks noChangeAspect="1"/>
          </p:cNvPicPr>
          <p:nvPr/>
        </p:nvPicPr>
        <p:blipFill>
          <a:blip r:embed="rId2"/>
          <a:stretch>
            <a:fillRect/>
          </a:stretch>
        </p:blipFill>
        <p:spPr>
          <a:xfrm>
            <a:off x="1079937" y="2516402"/>
            <a:ext cx="3827080" cy="4254441"/>
          </a:xfrm>
          <a:prstGeom prst="rect">
            <a:avLst/>
          </a:prstGeom>
        </p:spPr>
      </p:pic>
      <p:sp>
        <p:nvSpPr>
          <p:cNvPr id="6" name="TextBox 5">
            <a:extLst>
              <a:ext uri="{FF2B5EF4-FFF2-40B4-BE49-F238E27FC236}">
                <a16:creationId xmlns:a16="http://schemas.microsoft.com/office/drawing/2014/main" id="{E9F063E1-398D-68EB-2CFE-EEC4FB334E27}"/>
              </a:ext>
            </a:extLst>
          </p:cNvPr>
          <p:cNvSpPr txBox="1"/>
          <p:nvPr/>
        </p:nvSpPr>
        <p:spPr>
          <a:xfrm>
            <a:off x="5718941" y="3381703"/>
            <a:ext cx="2479128" cy="923330"/>
          </a:xfrm>
          <a:prstGeom prst="rect">
            <a:avLst/>
          </a:prstGeom>
          <a:noFill/>
        </p:spPr>
        <p:txBody>
          <a:bodyPr wrap="square" rtlCol="0">
            <a:spAutoFit/>
          </a:bodyPr>
          <a:lstStyle/>
          <a:p>
            <a:r>
              <a:rPr lang="en-US" dirty="0"/>
              <a:t>This query pulls the top 5 most populated countries in Europe. </a:t>
            </a:r>
            <a:endParaRPr lang="en-NL" dirty="0"/>
          </a:p>
        </p:txBody>
      </p:sp>
    </p:spTree>
    <p:extLst>
      <p:ext uri="{BB962C8B-B14F-4D97-AF65-F5344CB8AC3E}">
        <p14:creationId xmlns:p14="http://schemas.microsoft.com/office/powerpoint/2010/main" val="331496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7077B-FD59-DB9C-A536-803C9F47C7F7}"/>
              </a:ext>
            </a:extLst>
          </p:cNvPr>
          <p:cNvSpPr>
            <a:spLocks noGrp="1"/>
          </p:cNvSpPr>
          <p:nvPr>
            <p:ph type="title"/>
          </p:nvPr>
        </p:nvSpPr>
        <p:spPr/>
        <p:txBody>
          <a:bodyPr/>
          <a:lstStyle/>
          <a:p>
            <a:r>
              <a:rPr lang="en-US" dirty="0"/>
              <a:t>Subquery</a:t>
            </a:r>
            <a:endParaRPr lang="en-NL" dirty="0"/>
          </a:p>
        </p:txBody>
      </p:sp>
      <p:pic>
        <p:nvPicPr>
          <p:cNvPr id="5" name="Content Placeholder 4">
            <a:extLst>
              <a:ext uri="{FF2B5EF4-FFF2-40B4-BE49-F238E27FC236}">
                <a16:creationId xmlns:a16="http://schemas.microsoft.com/office/drawing/2014/main" id="{24E20A3E-8CF0-3B2C-60E5-F5BAFA48D372}"/>
              </a:ext>
            </a:extLst>
          </p:cNvPr>
          <p:cNvPicPr>
            <a:picLocks noGrp="1" noChangeAspect="1"/>
          </p:cNvPicPr>
          <p:nvPr>
            <p:ph idx="1"/>
          </p:nvPr>
        </p:nvPicPr>
        <p:blipFill>
          <a:blip r:embed="rId2"/>
          <a:stretch>
            <a:fillRect/>
          </a:stretch>
        </p:blipFill>
        <p:spPr>
          <a:xfrm>
            <a:off x="1046054" y="1833508"/>
            <a:ext cx="4834210" cy="4351338"/>
          </a:xfrm>
        </p:spPr>
      </p:pic>
      <p:sp>
        <p:nvSpPr>
          <p:cNvPr id="6" name="TextBox 5">
            <a:extLst>
              <a:ext uri="{FF2B5EF4-FFF2-40B4-BE49-F238E27FC236}">
                <a16:creationId xmlns:a16="http://schemas.microsoft.com/office/drawing/2014/main" id="{60A1539D-0BA5-4C20-C0B5-4B79A03CF7FF}"/>
              </a:ext>
            </a:extLst>
          </p:cNvPr>
          <p:cNvSpPr txBox="1"/>
          <p:nvPr/>
        </p:nvSpPr>
        <p:spPr>
          <a:xfrm>
            <a:off x="6842234" y="2349062"/>
            <a:ext cx="1438604" cy="2308324"/>
          </a:xfrm>
          <a:prstGeom prst="rect">
            <a:avLst/>
          </a:prstGeom>
          <a:noFill/>
        </p:spPr>
        <p:txBody>
          <a:bodyPr wrap="square" rtlCol="0">
            <a:spAutoFit/>
          </a:bodyPr>
          <a:lstStyle/>
          <a:p>
            <a:r>
              <a:rPr lang="en-US" dirty="0"/>
              <a:t>This query gives the name of the neighboring countries but it is not correct for the request. </a:t>
            </a:r>
            <a:endParaRPr lang="en-NL" dirty="0"/>
          </a:p>
        </p:txBody>
      </p:sp>
    </p:spTree>
    <p:extLst>
      <p:ext uri="{BB962C8B-B14F-4D97-AF65-F5344CB8AC3E}">
        <p14:creationId xmlns:p14="http://schemas.microsoft.com/office/powerpoint/2010/main" val="2612873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C1C48-9028-A8EC-6D04-0472B03F2B97}"/>
              </a:ext>
            </a:extLst>
          </p:cNvPr>
          <p:cNvSpPr>
            <a:spLocks noGrp="1"/>
          </p:cNvSpPr>
          <p:nvPr>
            <p:ph type="title"/>
          </p:nvPr>
        </p:nvSpPr>
        <p:spPr/>
        <p:txBody>
          <a:bodyPr/>
          <a:lstStyle/>
          <a:p>
            <a:r>
              <a:rPr lang="en-US" dirty="0"/>
              <a:t>Subquery</a:t>
            </a:r>
            <a:endParaRPr lang="en-NL" dirty="0"/>
          </a:p>
        </p:txBody>
      </p:sp>
      <p:pic>
        <p:nvPicPr>
          <p:cNvPr id="5" name="Content Placeholder 4">
            <a:extLst>
              <a:ext uri="{FF2B5EF4-FFF2-40B4-BE49-F238E27FC236}">
                <a16:creationId xmlns:a16="http://schemas.microsoft.com/office/drawing/2014/main" id="{2276D910-D795-AD30-B350-0AAA7DC2F81C}"/>
              </a:ext>
            </a:extLst>
          </p:cNvPr>
          <p:cNvPicPr>
            <a:picLocks noGrp="1" noChangeAspect="1"/>
          </p:cNvPicPr>
          <p:nvPr>
            <p:ph idx="1"/>
          </p:nvPr>
        </p:nvPicPr>
        <p:blipFill>
          <a:blip r:embed="rId2"/>
          <a:stretch>
            <a:fillRect/>
          </a:stretch>
        </p:blipFill>
        <p:spPr>
          <a:xfrm>
            <a:off x="782236" y="2014538"/>
            <a:ext cx="8385576" cy="3398489"/>
          </a:xfrm>
        </p:spPr>
      </p:pic>
      <p:pic>
        <p:nvPicPr>
          <p:cNvPr id="7" name="Picture 6">
            <a:extLst>
              <a:ext uri="{FF2B5EF4-FFF2-40B4-BE49-F238E27FC236}">
                <a16:creationId xmlns:a16="http://schemas.microsoft.com/office/drawing/2014/main" id="{D61B687E-D9CF-088A-ED74-4A79A67E0076}"/>
              </a:ext>
            </a:extLst>
          </p:cNvPr>
          <p:cNvPicPr>
            <a:picLocks noChangeAspect="1"/>
          </p:cNvPicPr>
          <p:nvPr/>
        </p:nvPicPr>
        <p:blipFill>
          <a:blip r:embed="rId3"/>
          <a:stretch>
            <a:fillRect/>
          </a:stretch>
        </p:blipFill>
        <p:spPr>
          <a:xfrm>
            <a:off x="9457030" y="109537"/>
            <a:ext cx="3420642" cy="6638925"/>
          </a:xfrm>
          <a:prstGeom prst="rect">
            <a:avLst/>
          </a:prstGeom>
        </p:spPr>
      </p:pic>
    </p:spTree>
    <p:extLst>
      <p:ext uri="{BB962C8B-B14F-4D97-AF65-F5344CB8AC3E}">
        <p14:creationId xmlns:p14="http://schemas.microsoft.com/office/powerpoint/2010/main" val="14946371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B1B0C-E748-3E51-CC18-F786459F06F5}"/>
              </a:ext>
            </a:extLst>
          </p:cNvPr>
          <p:cNvSpPr>
            <a:spLocks noGrp="1"/>
          </p:cNvSpPr>
          <p:nvPr>
            <p:ph type="title"/>
          </p:nvPr>
        </p:nvSpPr>
        <p:spPr/>
        <p:txBody>
          <a:bodyPr/>
          <a:lstStyle/>
          <a:p>
            <a:r>
              <a:rPr lang="en-US" b="0" i="0" dirty="0">
                <a:solidFill>
                  <a:srgbClr val="2D2F31"/>
                </a:solidFill>
                <a:effectLst/>
                <a:latin typeface="Udemy Sans"/>
              </a:rPr>
              <a:t>Concatenating elements with GROUP_CONCAT</a:t>
            </a:r>
            <a:endParaRPr lang="en-NL" dirty="0"/>
          </a:p>
        </p:txBody>
      </p:sp>
      <p:pic>
        <p:nvPicPr>
          <p:cNvPr id="5" name="Content Placeholder 4">
            <a:extLst>
              <a:ext uri="{FF2B5EF4-FFF2-40B4-BE49-F238E27FC236}">
                <a16:creationId xmlns:a16="http://schemas.microsoft.com/office/drawing/2014/main" id="{E7C26DFA-476E-9659-712F-2905B7A99F38}"/>
              </a:ext>
            </a:extLst>
          </p:cNvPr>
          <p:cNvPicPr>
            <a:picLocks noGrp="1" noChangeAspect="1"/>
          </p:cNvPicPr>
          <p:nvPr>
            <p:ph idx="1"/>
          </p:nvPr>
        </p:nvPicPr>
        <p:blipFill>
          <a:blip r:embed="rId2"/>
          <a:stretch>
            <a:fillRect/>
          </a:stretch>
        </p:blipFill>
        <p:spPr>
          <a:xfrm>
            <a:off x="730939" y="1793113"/>
            <a:ext cx="6804298" cy="4351338"/>
          </a:xfrm>
        </p:spPr>
      </p:pic>
    </p:spTree>
    <p:extLst>
      <p:ext uri="{BB962C8B-B14F-4D97-AF65-F5344CB8AC3E}">
        <p14:creationId xmlns:p14="http://schemas.microsoft.com/office/powerpoint/2010/main" val="2366476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986A2-0663-B75D-386D-157640320BB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12F6D811-6AFF-C86A-FD1A-ED596DB985AD}"/>
              </a:ext>
            </a:extLst>
          </p:cNvPr>
          <p:cNvPicPr>
            <a:picLocks noGrp="1" noChangeAspect="1"/>
          </p:cNvPicPr>
          <p:nvPr>
            <p:ph idx="1"/>
          </p:nvPr>
        </p:nvPicPr>
        <p:blipFill>
          <a:blip r:embed="rId2"/>
          <a:stretch>
            <a:fillRect/>
          </a:stretch>
        </p:blipFill>
        <p:spPr>
          <a:xfrm>
            <a:off x="1078381" y="1987222"/>
            <a:ext cx="7189562" cy="4351338"/>
          </a:xfrm>
        </p:spPr>
      </p:pic>
    </p:spTree>
    <p:extLst>
      <p:ext uri="{BB962C8B-B14F-4D97-AF65-F5344CB8AC3E}">
        <p14:creationId xmlns:p14="http://schemas.microsoft.com/office/powerpoint/2010/main" val="3109969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32B57-5C04-9AC9-792E-011388061AD2}"/>
              </a:ext>
            </a:extLst>
          </p:cNvPr>
          <p:cNvSpPr>
            <a:spLocks noGrp="1"/>
          </p:cNvSpPr>
          <p:nvPr>
            <p:ph type="title"/>
          </p:nvPr>
        </p:nvSpPr>
        <p:spPr/>
        <p:txBody>
          <a:bodyPr/>
          <a:lstStyle/>
          <a:p>
            <a:r>
              <a:rPr lang="en-US" dirty="0"/>
              <a:t>Exercises </a:t>
            </a:r>
            <a:endParaRPr lang="en-NL" dirty="0"/>
          </a:p>
        </p:txBody>
      </p:sp>
      <p:sp>
        <p:nvSpPr>
          <p:cNvPr id="4" name="Rectangle 1">
            <a:extLst>
              <a:ext uri="{FF2B5EF4-FFF2-40B4-BE49-F238E27FC236}">
                <a16:creationId xmlns:a16="http://schemas.microsoft.com/office/drawing/2014/main" id="{DCAA10BF-0A09-ACA2-DB30-D6652C993AB8}"/>
              </a:ext>
            </a:extLst>
          </p:cNvPr>
          <p:cNvSpPr>
            <a:spLocks noGrp="1" noChangeArrowheads="1"/>
          </p:cNvSpPr>
          <p:nvPr>
            <p:ph idx="1"/>
          </p:nvPr>
        </p:nvSpPr>
        <p:spPr bwMode="auto">
          <a:xfrm>
            <a:off x="838200" y="1475244"/>
            <a:ext cx="9465879"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400" b="0" i="0" u="none" strike="noStrike" cap="none" normalizeH="0" baseline="0" dirty="0">
                <a:ln>
                  <a:noFill/>
                </a:ln>
                <a:solidFill>
                  <a:srgbClr val="2D2F31"/>
                </a:solidFill>
                <a:effectLst/>
                <a:latin typeface="Udemy Sans"/>
              </a:rPr>
              <a:t> List the </a:t>
            </a:r>
            <a:r>
              <a:rPr kumimoji="0" lang="en-NL" altLang="en-NL" sz="1400" b="1" i="0" u="none" strike="noStrike" cap="none" normalizeH="0" baseline="0" dirty="0">
                <a:ln>
                  <a:noFill/>
                </a:ln>
                <a:solidFill>
                  <a:srgbClr val="2D2F31"/>
                </a:solidFill>
                <a:effectLst/>
                <a:latin typeface="Udemy Sans"/>
              </a:rPr>
              <a:t>names of countries </a:t>
            </a:r>
            <a:r>
              <a:rPr kumimoji="0" lang="en-NL" altLang="en-NL" sz="1400" b="0" i="0" u="none" strike="noStrike" cap="none" normalizeH="0" baseline="0" dirty="0">
                <a:ln>
                  <a:noFill/>
                </a:ln>
                <a:solidFill>
                  <a:srgbClr val="2D2F31"/>
                </a:solidFill>
                <a:effectLst/>
                <a:latin typeface="Udemy Sans"/>
              </a:rPr>
              <a:t>that start with a capital letter </a:t>
            </a:r>
            <a:r>
              <a:rPr kumimoji="0" lang="en-NL" altLang="en-NL" sz="1200" b="0" i="0" u="none" strike="noStrike" cap="none" normalizeH="0" baseline="0" dirty="0">
                <a:ln>
                  <a:noFill/>
                </a:ln>
                <a:solidFill>
                  <a:srgbClr val="B4690E"/>
                </a:solidFill>
                <a:effectLst/>
                <a:latin typeface="sfmono-regular"/>
              </a:rPr>
              <a:t>"A"</a:t>
            </a:r>
            <a:r>
              <a:rPr kumimoji="0" lang="en-NL" altLang="en-NL" sz="1400" b="0" i="0" u="none" strike="noStrike" cap="none" normalizeH="0" baseline="0" dirty="0">
                <a:ln>
                  <a:noFill/>
                </a:ln>
                <a:solidFill>
                  <a:srgbClr val="2D2F31"/>
                </a:solidFill>
                <a:effectLst/>
                <a:latin typeface="Udemy Sans"/>
              </a:rPr>
              <a:t> in the continents </a:t>
            </a:r>
            <a:r>
              <a:rPr kumimoji="0" lang="en-NL" altLang="en-NL" sz="1200" b="0" i="0" u="none" strike="noStrike" cap="none" normalizeH="0" baseline="0" dirty="0">
                <a:ln>
                  <a:noFill/>
                </a:ln>
                <a:solidFill>
                  <a:srgbClr val="B4690E"/>
                </a:solidFill>
                <a:effectLst/>
                <a:latin typeface="sfmono-regular"/>
              </a:rPr>
              <a:t>"Europe"</a:t>
            </a:r>
            <a:r>
              <a:rPr kumimoji="0" lang="en-NL" altLang="en-NL" sz="1400" b="0" i="0" u="none" strike="noStrike" cap="none" normalizeH="0" baseline="0" dirty="0">
                <a:ln>
                  <a:noFill/>
                </a:ln>
                <a:solidFill>
                  <a:srgbClr val="2D2F31"/>
                </a:solidFill>
                <a:effectLst/>
                <a:latin typeface="Udemy Sans"/>
              </a:rPr>
              <a:t> and </a:t>
            </a:r>
            <a:r>
              <a:rPr kumimoji="0" lang="en-NL" altLang="en-NL" sz="1200" b="0" i="0" u="none" strike="noStrike" cap="none" normalizeH="0" baseline="0" dirty="0">
                <a:ln>
                  <a:noFill/>
                </a:ln>
                <a:solidFill>
                  <a:srgbClr val="B4690E"/>
                </a:solidFill>
                <a:effectLst/>
                <a:latin typeface="sfmono-regular"/>
              </a:rPr>
              <a:t>"North America"</a:t>
            </a:r>
            <a:r>
              <a:rPr kumimoji="0" lang="en-NL" altLang="en-NL" sz="1400" b="0" i="0" u="none" strike="noStrike" cap="none" normalizeH="0" baseline="0" dirty="0">
                <a:ln>
                  <a:noFill/>
                </a:ln>
                <a:solidFill>
                  <a:srgbClr val="2D2F31"/>
                </a:solidFill>
                <a:effectLst/>
                <a:latin typeface="Udemy Sans"/>
              </a:rPr>
              <a:t>, ordering the results in ascending alphabetical order.</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7F332326-382C-F8BD-ECFC-1D112DAB349A}"/>
              </a:ext>
            </a:extLst>
          </p:cNvPr>
          <p:cNvPicPr>
            <a:picLocks noChangeAspect="1"/>
          </p:cNvPicPr>
          <p:nvPr/>
        </p:nvPicPr>
        <p:blipFill>
          <a:blip r:embed="rId2"/>
          <a:stretch>
            <a:fillRect/>
          </a:stretch>
        </p:blipFill>
        <p:spPr>
          <a:xfrm>
            <a:off x="3247696" y="1814268"/>
            <a:ext cx="4988589" cy="4779660"/>
          </a:xfrm>
          <a:prstGeom prst="rect">
            <a:avLst/>
          </a:prstGeom>
        </p:spPr>
      </p:pic>
    </p:spTree>
    <p:extLst>
      <p:ext uri="{BB962C8B-B14F-4D97-AF65-F5344CB8AC3E}">
        <p14:creationId xmlns:p14="http://schemas.microsoft.com/office/powerpoint/2010/main" val="250741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80559-F2F4-9B7B-9DF5-D5DBB1634181}"/>
              </a:ext>
            </a:extLst>
          </p:cNvPr>
          <p:cNvSpPr>
            <a:spLocks noGrp="1"/>
          </p:cNvSpPr>
          <p:nvPr>
            <p:ph type="title"/>
          </p:nvPr>
        </p:nvSpPr>
        <p:spPr/>
        <p:txBody>
          <a:bodyPr/>
          <a:lstStyle/>
          <a:p>
            <a:r>
              <a:rPr lang="en-US" dirty="0"/>
              <a:t>Exercises</a:t>
            </a:r>
            <a:endParaRPr lang="en-NL" dirty="0"/>
          </a:p>
        </p:txBody>
      </p:sp>
      <p:sp>
        <p:nvSpPr>
          <p:cNvPr id="3" name="Content Placeholder 2">
            <a:extLst>
              <a:ext uri="{FF2B5EF4-FFF2-40B4-BE49-F238E27FC236}">
                <a16:creationId xmlns:a16="http://schemas.microsoft.com/office/drawing/2014/main" id="{AB80E364-F392-570D-2A29-AD02E627E22D}"/>
              </a:ext>
            </a:extLst>
          </p:cNvPr>
          <p:cNvSpPr>
            <a:spLocks noGrp="1"/>
          </p:cNvSpPr>
          <p:nvPr>
            <p:ph idx="1"/>
          </p:nvPr>
        </p:nvSpPr>
        <p:spPr/>
        <p:txBody>
          <a:bodyPr>
            <a:normAutofit/>
          </a:bodyPr>
          <a:lstStyle/>
          <a:p>
            <a:r>
              <a:rPr lang="en-US" sz="1400" dirty="0"/>
              <a:t>For these countries, in a second column in the result table, also list all the names of their associated languages together with any language variant that might be applicable. Each language name and variant pair should be in uppercase and multiple values should be separated by the character "|". For example, if for one of the countries, "Hungarian" was one of the languages with no language variant, and "German" was another associated language with the variant "AT" in the second column, HUNGARIAN|GERMAN(AT) should be displayed.</a:t>
            </a:r>
          </a:p>
          <a:p>
            <a:r>
              <a:rPr lang="en-US" sz="1400" dirty="0"/>
              <a:t>Write the query such that the results will be displayed in the table even though the countries might not have associated languages and language variants in the dataset.</a:t>
            </a:r>
          </a:p>
          <a:p>
            <a:r>
              <a:rPr lang="en-US" sz="1400" dirty="0"/>
              <a:t>Use the IN function for the two continents in scope, as well as the necessary string functions to tailor the results.</a:t>
            </a:r>
            <a:endParaRPr lang="en-NL" sz="1400" dirty="0"/>
          </a:p>
        </p:txBody>
      </p:sp>
    </p:spTree>
    <p:extLst>
      <p:ext uri="{BB962C8B-B14F-4D97-AF65-F5344CB8AC3E}">
        <p14:creationId xmlns:p14="http://schemas.microsoft.com/office/powerpoint/2010/main" val="5415510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A2C5D-3FF6-3A3E-322A-9B35BD38E14A}"/>
              </a:ext>
            </a:extLst>
          </p:cNvPr>
          <p:cNvSpPr>
            <a:spLocks noGrp="1"/>
          </p:cNvSpPr>
          <p:nvPr>
            <p:ph type="title"/>
          </p:nvPr>
        </p:nvSpPr>
        <p:spPr/>
        <p:txBody>
          <a:bodyPr/>
          <a:lstStyle/>
          <a:p>
            <a:r>
              <a:rPr lang="en-US" dirty="0"/>
              <a:t>Exercises</a:t>
            </a:r>
            <a:endParaRPr lang="en-NL" dirty="0"/>
          </a:p>
        </p:txBody>
      </p:sp>
      <p:pic>
        <p:nvPicPr>
          <p:cNvPr id="5" name="Content Placeholder 4">
            <a:extLst>
              <a:ext uri="{FF2B5EF4-FFF2-40B4-BE49-F238E27FC236}">
                <a16:creationId xmlns:a16="http://schemas.microsoft.com/office/drawing/2014/main" id="{31CFDB61-EDA5-B4E0-CC34-D6FAF3E1017D}"/>
              </a:ext>
            </a:extLst>
          </p:cNvPr>
          <p:cNvPicPr>
            <a:picLocks noGrp="1" noChangeAspect="1"/>
          </p:cNvPicPr>
          <p:nvPr>
            <p:ph idx="1"/>
          </p:nvPr>
        </p:nvPicPr>
        <p:blipFill>
          <a:blip r:embed="rId2"/>
          <a:stretch>
            <a:fillRect/>
          </a:stretch>
        </p:blipFill>
        <p:spPr>
          <a:xfrm>
            <a:off x="1584956" y="1829566"/>
            <a:ext cx="8060391" cy="4351338"/>
          </a:xfrm>
        </p:spPr>
      </p:pic>
    </p:spTree>
    <p:extLst>
      <p:ext uri="{BB962C8B-B14F-4D97-AF65-F5344CB8AC3E}">
        <p14:creationId xmlns:p14="http://schemas.microsoft.com/office/powerpoint/2010/main" val="1925107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043DC-8E06-B2FA-DBE4-3D681CF9D9D3}"/>
              </a:ext>
            </a:extLst>
          </p:cNvPr>
          <p:cNvSpPr>
            <a:spLocks noGrp="1"/>
          </p:cNvSpPr>
          <p:nvPr>
            <p:ph type="title"/>
          </p:nvPr>
        </p:nvSpPr>
        <p:spPr/>
        <p:txBody>
          <a:bodyPr/>
          <a:lstStyle/>
          <a:p>
            <a:r>
              <a:rPr lang="en-US" dirty="0"/>
              <a:t>RDFS classes</a:t>
            </a:r>
            <a:endParaRPr lang="en-NL" dirty="0"/>
          </a:p>
        </p:txBody>
      </p:sp>
      <p:pic>
        <p:nvPicPr>
          <p:cNvPr id="5" name="Content Placeholder 4">
            <a:extLst>
              <a:ext uri="{FF2B5EF4-FFF2-40B4-BE49-F238E27FC236}">
                <a16:creationId xmlns:a16="http://schemas.microsoft.com/office/drawing/2014/main" id="{6779D9CB-46EE-8727-AF24-4A79976D78DD}"/>
              </a:ext>
            </a:extLst>
          </p:cNvPr>
          <p:cNvPicPr>
            <a:picLocks noGrp="1" noChangeAspect="1"/>
          </p:cNvPicPr>
          <p:nvPr>
            <p:ph idx="1"/>
          </p:nvPr>
        </p:nvPicPr>
        <p:blipFill>
          <a:blip r:embed="rId2"/>
          <a:stretch>
            <a:fillRect/>
          </a:stretch>
        </p:blipFill>
        <p:spPr>
          <a:xfrm>
            <a:off x="1284257" y="1892629"/>
            <a:ext cx="6966995" cy="4351338"/>
          </a:xfrm>
        </p:spPr>
      </p:pic>
    </p:spTree>
    <p:extLst>
      <p:ext uri="{BB962C8B-B14F-4D97-AF65-F5344CB8AC3E}">
        <p14:creationId xmlns:p14="http://schemas.microsoft.com/office/powerpoint/2010/main" val="32326014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5689B-FE69-F278-15AA-FE23F85BC304}"/>
              </a:ext>
            </a:extLst>
          </p:cNvPr>
          <p:cNvSpPr>
            <a:spLocks noGrp="1"/>
          </p:cNvSpPr>
          <p:nvPr>
            <p:ph type="title"/>
          </p:nvPr>
        </p:nvSpPr>
        <p:spPr/>
        <p:txBody>
          <a:bodyPr/>
          <a:lstStyle/>
          <a:p>
            <a:r>
              <a:rPr lang="en-US" b="0" i="0" dirty="0">
                <a:solidFill>
                  <a:srgbClr val="2D2F31"/>
                </a:solidFill>
                <a:effectLst/>
                <a:latin typeface="Udemy Sans"/>
              </a:rPr>
              <a:t>Automating class creation with SPARQL INSERT</a:t>
            </a:r>
            <a:endParaRPr lang="en-NL" dirty="0"/>
          </a:p>
        </p:txBody>
      </p:sp>
      <p:pic>
        <p:nvPicPr>
          <p:cNvPr id="5" name="Content Placeholder 4">
            <a:extLst>
              <a:ext uri="{FF2B5EF4-FFF2-40B4-BE49-F238E27FC236}">
                <a16:creationId xmlns:a16="http://schemas.microsoft.com/office/drawing/2014/main" id="{029E9632-8191-1F63-96E0-504C513A98D4}"/>
              </a:ext>
            </a:extLst>
          </p:cNvPr>
          <p:cNvPicPr>
            <a:picLocks noGrp="1" noChangeAspect="1"/>
          </p:cNvPicPr>
          <p:nvPr>
            <p:ph idx="1"/>
          </p:nvPr>
        </p:nvPicPr>
        <p:blipFill>
          <a:blip r:embed="rId2"/>
          <a:stretch>
            <a:fillRect/>
          </a:stretch>
        </p:blipFill>
        <p:spPr>
          <a:xfrm>
            <a:off x="911784" y="2081048"/>
            <a:ext cx="10075468" cy="3859307"/>
          </a:xfrm>
        </p:spPr>
      </p:pic>
    </p:spTree>
    <p:extLst>
      <p:ext uri="{BB962C8B-B14F-4D97-AF65-F5344CB8AC3E}">
        <p14:creationId xmlns:p14="http://schemas.microsoft.com/office/powerpoint/2010/main" val="2284237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5FA93-A06B-A13F-BA28-B258794CEA65}"/>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420A178-3077-A043-A66A-B1A51E196C83}"/>
              </a:ext>
            </a:extLst>
          </p:cNvPr>
          <p:cNvPicPr>
            <a:picLocks noGrp="1" noChangeAspect="1"/>
          </p:cNvPicPr>
          <p:nvPr>
            <p:ph idx="1"/>
          </p:nvPr>
        </p:nvPicPr>
        <p:blipFill>
          <a:blip r:embed="rId2"/>
          <a:stretch>
            <a:fillRect/>
          </a:stretch>
        </p:blipFill>
        <p:spPr>
          <a:xfrm>
            <a:off x="1272059" y="1932043"/>
            <a:ext cx="7070220" cy="4351338"/>
          </a:xfrm>
        </p:spPr>
      </p:pic>
    </p:spTree>
    <p:extLst>
      <p:ext uri="{BB962C8B-B14F-4D97-AF65-F5344CB8AC3E}">
        <p14:creationId xmlns:p14="http://schemas.microsoft.com/office/powerpoint/2010/main" val="17852366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072B1-920D-73EF-663D-DF2B9F6D8595}"/>
              </a:ext>
            </a:extLst>
          </p:cNvPr>
          <p:cNvSpPr>
            <a:spLocks noGrp="1"/>
          </p:cNvSpPr>
          <p:nvPr>
            <p:ph type="title"/>
          </p:nvPr>
        </p:nvSpPr>
        <p:spPr/>
        <p:txBody>
          <a:bodyPr/>
          <a:lstStyle/>
          <a:p>
            <a:r>
              <a:rPr lang="en-US" dirty="0"/>
              <a:t>RDFS classes</a:t>
            </a:r>
            <a:endParaRPr lang="en-NL" dirty="0"/>
          </a:p>
        </p:txBody>
      </p:sp>
      <p:pic>
        <p:nvPicPr>
          <p:cNvPr id="5" name="Content Placeholder 4">
            <a:extLst>
              <a:ext uri="{FF2B5EF4-FFF2-40B4-BE49-F238E27FC236}">
                <a16:creationId xmlns:a16="http://schemas.microsoft.com/office/drawing/2014/main" id="{B26DBABC-3D99-71CA-EA42-0B4CF4DB1678}"/>
              </a:ext>
            </a:extLst>
          </p:cNvPr>
          <p:cNvPicPr>
            <a:picLocks noGrp="1" noChangeAspect="1"/>
          </p:cNvPicPr>
          <p:nvPr>
            <p:ph idx="1"/>
          </p:nvPr>
        </p:nvPicPr>
        <p:blipFill>
          <a:blip r:embed="rId2"/>
          <a:stretch>
            <a:fillRect/>
          </a:stretch>
        </p:blipFill>
        <p:spPr>
          <a:xfrm>
            <a:off x="1809386" y="1868980"/>
            <a:ext cx="6886317" cy="4351338"/>
          </a:xfrm>
        </p:spPr>
      </p:pic>
    </p:spTree>
    <p:extLst>
      <p:ext uri="{BB962C8B-B14F-4D97-AF65-F5344CB8AC3E}">
        <p14:creationId xmlns:p14="http://schemas.microsoft.com/office/powerpoint/2010/main" val="16476802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2DADB-621B-E1C4-C687-837158F212A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49C15E2C-78A1-78D4-1490-7519AA68EDFE}"/>
              </a:ext>
            </a:extLst>
          </p:cNvPr>
          <p:cNvPicPr>
            <a:picLocks noGrp="1" noChangeAspect="1"/>
          </p:cNvPicPr>
          <p:nvPr>
            <p:ph idx="1"/>
          </p:nvPr>
        </p:nvPicPr>
        <p:blipFill>
          <a:blip r:embed="rId2"/>
          <a:stretch>
            <a:fillRect/>
          </a:stretch>
        </p:blipFill>
        <p:spPr>
          <a:xfrm>
            <a:off x="2334761" y="1825625"/>
            <a:ext cx="7522478" cy="4351338"/>
          </a:xfrm>
        </p:spPr>
      </p:pic>
    </p:spTree>
    <p:extLst>
      <p:ext uri="{BB962C8B-B14F-4D97-AF65-F5344CB8AC3E}">
        <p14:creationId xmlns:p14="http://schemas.microsoft.com/office/powerpoint/2010/main" val="24591250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EC378-1487-1DBC-168B-FFBA0FE28D18}"/>
              </a:ext>
            </a:extLst>
          </p:cNvPr>
          <p:cNvSpPr>
            <a:spLocks noGrp="1"/>
          </p:cNvSpPr>
          <p:nvPr>
            <p:ph type="title"/>
          </p:nvPr>
        </p:nvSpPr>
        <p:spPr/>
        <p:txBody>
          <a:bodyPr/>
          <a:lstStyle/>
          <a:p>
            <a:r>
              <a:rPr lang="en-US" b="0" i="0" dirty="0">
                <a:solidFill>
                  <a:srgbClr val="2D2F31"/>
                </a:solidFill>
                <a:effectLst/>
                <a:latin typeface="Udemy Sans"/>
              </a:rPr>
              <a:t>Automating property creation with SPARQL INSERT</a:t>
            </a:r>
            <a:endParaRPr lang="en-NL" dirty="0"/>
          </a:p>
        </p:txBody>
      </p:sp>
      <p:pic>
        <p:nvPicPr>
          <p:cNvPr id="7" name="Content Placeholder 6">
            <a:extLst>
              <a:ext uri="{FF2B5EF4-FFF2-40B4-BE49-F238E27FC236}">
                <a16:creationId xmlns:a16="http://schemas.microsoft.com/office/drawing/2014/main" id="{9D6238D3-ACD1-8FB9-EA30-8B31C5C7861B}"/>
              </a:ext>
            </a:extLst>
          </p:cNvPr>
          <p:cNvPicPr>
            <a:picLocks noGrp="1" noChangeAspect="1"/>
          </p:cNvPicPr>
          <p:nvPr>
            <p:ph idx="1"/>
          </p:nvPr>
        </p:nvPicPr>
        <p:blipFill>
          <a:blip r:embed="rId2"/>
          <a:stretch>
            <a:fillRect/>
          </a:stretch>
        </p:blipFill>
        <p:spPr>
          <a:xfrm>
            <a:off x="733097" y="1559335"/>
            <a:ext cx="10515600" cy="903125"/>
          </a:xfrm>
        </p:spPr>
      </p:pic>
      <p:pic>
        <p:nvPicPr>
          <p:cNvPr id="5" name="Picture 4">
            <a:extLst>
              <a:ext uri="{FF2B5EF4-FFF2-40B4-BE49-F238E27FC236}">
                <a16:creationId xmlns:a16="http://schemas.microsoft.com/office/drawing/2014/main" id="{7856D201-9689-71A3-190F-454A6E322198}"/>
              </a:ext>
            </a:extLst>
          </p:cNvPr>
          <p:cNvPicPr>
            <a:picLocks noChangeAspect="1"/>
          </p:cNvPicPr>
          <p:nvPr/>
        </p:nvPicPr>
        <p:blipFill>
          <a:blip r:embed="rId3"/>
          <a:stretch>
            <a:fillRect/>
          </a:stretch>
        </p:blipFill>
        <p:spPr>
          <a:xfrm>
            <a:off x="914400" y="2521092"/>
            <a:ext cx="8546224" cy="3923064"/>
          </a:xfrm>
          <a:prstGeom prst="rect">
            <a:avLst/>
          </a:prstGeom>
        </p:spPr>
      </p:pic>
    </p:spTree>
    <p:extLst>
      <p:ext uri="{BB962C8B-B14F-4D97-AF65-F5344CB8AC3E}">
        <p14:creationId xmlns:p14="http://schemas.microsoft.com/office/powerpoint/2010/main" val="8547720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82A70-95F6-9B53-BA78-027F925B9737}"/>
              </a:ext>
            </a:extLst>
          </p:cNvPr>
          <p:cNvSpPr>
            <a:spLocks noGrp="1"/>
          </p:cNvSpPr>
          <p:nvPr>
            <p:ph type="title"/>
          </p:nvPr>
        </p:nvSpPr>
        <p:spPr/>
        <p:txBody>
          <a:bodyPr/>
          <a:lstStyle/>
          <a:p>
            <a:r>
              <a:rPr lang="en-US" dirty="0"/>
              <a:t>Construct</a:t>
            </a:r>
            <a:endParaRPr lang="en-NL" dirty="0"/>
          </a:p>
        </p:txBody>
      </p:sp>
      <p:sp>
        <p:nvSpPr>
          <p:cNvPr id="4" name="Rectangle 1">
            <a:extLst>
              <a:ext uri="{FF2B5EF4-FFF2-40B4-BE49-F238E27FC236}">
                <a16:creationId xmlns:a16="http://schemas.microsoft.com/office/drawing/2014/main" id="{8550906F-5DB8-0523-9DD1-B274A0BAF3DF}"/>
              </a:ext>
            </a:extLst>
          </p:cNvPr>
          <p:cNvSpPr>
            <a:spLocks noGrp="1" noChangeArrowheads="1"/>
          </p:cNvSpPr>
          <p:nvPr>
            <p:ph idx="1"/>
          </p:nvPr>
        </p:nvSpPr>
        <p:spPr bwMode="auto">
          <a:xfrm>
            <a:off x="1237592" y="1733575"/>
            <a:ext cx="10116207"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400" b="0" i="0" u="none" strike="noStrike" cap="none" normalizeH="0" baseline="0" dirty="0">
                <a:ln>
                  <a:noFill/>
                </a:ln>
                <a:solidFill>
                  <a:srgbClr val="2D2F31"/>
                </a:solidFill>
                <a:effectLst/>
                <a:latin typeface="Udemy Sans"/>
              </a:rPr>
              <a:t>A more general </a:t>
            </a:r>
            <a:r>
              <a:rPr kumimoji="0" lang="en-NL" altLang="en-NL" sz="1200" b="0" i="0" u="none" strike="noStrike" cap="none" normalizeH="0" baseline="0" dirty="0">
                <a:ln>
                  <a:noFill/>
                </a:ln>
                <a:solidFill>
                  <a:srgbClr val="B4690E"/>
                </a:solidFill>
                <a:effectLst/>
                <a:latin typeface="sfmono-regular"/>
              </a:rPr>
              <a:t>CONSTRUCT</a:t>
            </a:r>
            <a:r>
              <a:rPr kumimoji="0" lang="en-NL" altLang="en-NL" sz="1400" b="0" i="0" u="none" strike="noStrike" cap="none" normalizeH="0" baseline="0" dirty="0">
                <a:ln>
                  <a:noFill/>
                </a:ln>
                <a:solidFill>
                  <a:srgbClr val="2D2F31"/>
                </a:solidFill>
                <a:effectLst/>
                <a:latin typeface="Udemy Sans"/>
              </a:rPr>
              <a:t> query can be created to surface the graph schema (ontology) as a sub-graph.</a:t>
            </a:r>
            <a:r>
              <a:rPr kumimoji="0" lang="en-NL" altLang="en-NL" sz="400" b="0" i="0" u="none" strike="noStrike" cap="none" normalizeH="0" baseline="0" dirty="0">
                <a:ln>
                  <a:noFill/>
                </a:ln>
                <a:solidFill>
                  <a:schemeClr val="tx1"/>
                </a:solidFill>
                <a:effectLst/>
              </a:rPr>
              <a:t> </a:t>
            </a:r>
            <a:r>
              <a:rPr lang="en-US" sz="1200" b="0" i="0" dirty="0">
                <a:solidFill>
                  <a:srgbClr val="2D2F31"/>
                </a:solidFill>
                <a:effectLst/>
                <a:latin typeface="Udemy Sans"/>
              </a:rPr>
              <a:t>This query can, for example, be used when you don't have a proper schema and want to see what's under-the-hood in terms of the graph vocabulary.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507548C2-88B0-536C-A10E-586EABFF86D8}"/>
              </a:ext>
            </a:extLst>
          </p:cNvPr>
          <p:cNvPicPr>
            <a:picLocks noChangeAspect="1"/>
          </p:cNvPicPr>
          <p:nvPr/>
        </p:nvPicPr>
        <p:blipFill>
          <a:blip r:embed="rId2"/>
          <a:stretch>
            <a:fillRect/>
          </a:stretch>
        </p:blipFill>
        <p:spPr>
          <a:xfrm>
            <a:off x="1237592" y="2176572"/>
            <a:ext cx="7430814" cy="4093588"/>
          </a:xfrm>
          <a:prstGeom prst="rect">
            <a:avLst/>
          </a:prstGeom>
        </p:spPr>
      </p:pic>
    </p:spTree>
    <p:extLst>
      <p:ext uri="{BB962C8B-B14F-4D97-AF65-F5344CB8AC3E}">
        <p14:creationId xmlns:p14="http://schemas.microsoft.com/office/powerpoint/2010/main" val="7192885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54E95-867D-B69C-8988-40B5BC9B3EE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743540D-3BF3-4CB1-C31A-B2681A8A8DE0}"/>
              </a:ext>
            </a:extLst>
          </p:cNvPr>
          <p:cNvPicPr>
            <a:picLocks noGrp="1" noChangeAspect="1"/>
          </p:cNvPicPr>
          <p:nvPr>
            <p:ph idx="1"/>
          </p:nvPr>
        </p:nvPicPr>
        <p:blipFill>
          <a:blip r:embed="rId2"/>
          <a:stretch>
            <a:fillRect/>
          </a:stretch>
        </p:blipFill>
        <p:spPr>
          <a:xfrm>
            <a:off x="677917" y="1659076"/>
            <a:ext cx="7598979" cy="5198924"/>
          </a:xfrm>
        </p:spPr>
      </p:pic>
    </p:spTree>
    <p:extLst>
      <p:ext uri="{BB962C8B-B14F-4D97-AF65-F5344CB8AC3E}">
        <p14:creationId xmlns:p14="http://schemas.microsoft.com/office/powerpoint/2010/main" val="21495244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50047-092F-1318-0B7C-770B1B2E7C4D}"/>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1CD5DA5D-AA5B-11C7-8ABB-6DADCE9CDCD5}"/>
              </a:ext>
            </a:extLst>
          </p:cNvPr>
          <p:cNvPicPr>
            <a:picLocks noGrp="1" noChangeAspect="1"/>
          </p:cNvPicPr>
          <p:nvPr>
            <p:ph idx="1"/>
          </p:nvPr>
        </p:nvPicPr>
        <p:blipFill>
          <a:blip r:embed="rId2"/>
          <a:stretch>
            <a:fillRect/>
          </a:stretch>
        </p:blipFill>
        <p:spPr>
          <a:xfrm>
            <a:off x="1300655" y="1242300"/>
            <a:ext cx="6753726" cy="5304063"/>
          </a:xfrm>
        </p:spPr>
      </p:pic>
      <p:sp>
        <p:nvSpPr>
          <p:cNvPr id="6" name="TextBox 5">
            <a:extLst>
              <a:ext uri="{FF2B5EF4-FFF2-40B4-BE49-F238E27FC236}">
                <a16:creationId xmlns:a16="http://schemas.microsoft.com/office/drawing/2014/main" id="{E30CE0AF-AB8E-8251-6334-9C3E07F9E57D}"/>
              </a:ext>
            </a:extLst>
          </p:cNvPr>
          <p:cNvSpPr txBox="1"/>
          <p:nvPr/>
        </p:nvSpPr>
        <p:spPr>
          <a:xfrm>
            <a:off x="8261131" y="1505607"/>
            <a:ext cx="2136228" cy="2585323"/>
          </a:xfrm>
          <a:prstGeom prst="rect">
            <a:avLst/>
          </a:prstGeom>
          <a:noFill/>
        </p:spPr>
        <p:txBody>
          <a:bodyPr wrap="square" rtlCol="0">
            <a:spAutoFit/>
          </a:bodyPr>
          <a:lstStyle/>
          <a:p>
            <a:r>
              <a:rPr lang="en-US" dirty="0"/>
              <a:t>Visualize the subgraph, that is our graph schema, i.e. that is our ontology. There are several outgoing and incoming predicates in country class.</a:t>
            </a:r>
            <a:endParaRPr lang="en-NL" dirty="0"/>
          </a:p>
        </p:txBody>
      </p:sp>
    </p:spTree>
    <p:extLst>
      <p:ext uri="{BB962C8B-B14F-4D97-AF65-F5344CB8AC3E}">
        <p14:creationId xmlns:p14="http://schemas.microsoft.com/office/powerpoint/2010/main" val="16140720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05A72-2EC5-8F18-34BA-7D27195CF9D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C136118-D67F-8695-10E1-0BD8CC4DAF2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42294719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3857A-F5D6-5B2F-D6D6-D2C6ED108BE5}"/>
              </a:ext>
            </a:extLst>
          </p:cNvPr>
          <p:cNvSpPr>
            <a:spLocks noGrp="1"/>
          </p:cNvSpPr>
          <p:nvPr>
            <p:ph type="title"/>
          </p:nvPr>
        </p:nvSpPr>
        <p:spPr/>
        <p:txBody>
          <a:bodyPr/>
          <a:lstStyle/>
          <a:p>
            <a:r>
              <a:rPr lang="en-US" b="1" i="0" dirty="0">
                <a:solidFill>
                  <a:srgbClr val="2D2F31"/>
                </a:solidFill>
                <a:effectLst/>
                <a:latin typeface="Udemy Sans"/>
              </a:rPr>
              <a:t>Constructing the graph schema</a:t>
            </a:r>
            <a:endParaRPr lang="en-NL" dirty="0"/>
          </a:p>
        </p:txBody>
      </p:sp>
      <p:pic>
        <p:nvPicPr>
          <p:cNvPr id="5" name="Content Placeholder 4">
            <a:extLst>
              <a:ext uri="{FF2B5EF4-FFF2-40B4-BE49-F238E27FC236}">
                <a16:creationId xmlns:a16="http://schemas.microsoft.com/office/drawing/2014/main" id="{4F60C3A4-7BF2-3326-DE53-B8B9D2DC7C34}"/>
              </a:ext>
            </a:extLst>
          </p:cNvPr>
          <p:cNvPicPr>
            <a:picLocks noGrp="1" noChangeAspect="1"/>
          </p:cNvPicPr>
          <p:nvPr>
            <p:ph idx="1"/>
          </p:nvPr>
        </p:nvPicPr>
        <p:blipFill>
          <a:blip r:embed="rId2"/>
          <a:stretch>
            <a:fillRect/>
          </a:stretch>
        </p:blipFill>
        <p:spPr>
          <a:xfrm>
            <a:off x="1149301" y="1910292"/>
            <a:ext cx="7294131" cy="4351338"/>
          </a:xfrm>
        </p:spPr>
      </p:pic>
    </p:spTree>
    <p:extLst>
      <p:ext uri="{BB962C8B-B14F-4D97-AF65-F5344CB8AC3E}">
        <p14:creationId xmlns:p14="http://schemas.microsoft.com/office/powerpoint/2010/main" val="10318208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8A77-F265-A89C-E203-0F64341CD5C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C8ADBB4-6345-7D48-FEBA-4B283CE74AC4}"/>
              </a:ext>
            </a:extLst>
          </p:cNvPr>
          <p:cNvPicPr>
            <a:picLocks noGrp="1" noChangeAspect="1"/>
          </p:cNvPicPr>
          <p:nvPr>
            <p:ph idx="1"/>
          </p:nvPr>
        </p:nvPicPr>
        <p:blipFill>
          <a:blip r:embed="rId2"/>
          <a:stretch>
            <a:fillRect/>
          </a:stretch>
        </p:blipFill>
        <p:spPr>
          <a:xfrm>
            <a:off x="838200" y="2313010"/>
            <a:ext cx="10515600" cy="3376568"/>
          </a:xfrm>
        </p:spPr>
      </p:pic>
    </p:spTree>
    <p:extLst>
      <p:ext uri="{BB962C8B-B14F-4D97-AF65-F5344CB8AC3E}">
        <p14:creationId xmlns:p14="http://schemas.microsoft.com/office/powerpoint/2010/main" val="35805255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25DF1-B6B2-8925-E6D8-C233A18F97AC}"/>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CCF88EF9-E05C-29E5-7AEA-10936020D942}"/>
              </a:ext>
            </a:extLst>
          </p:cNvPr>
          <p:cNvPicPr>
            <a:picLocks noGrp="1" noChangeAspect="1"/>
          </p:cNvPicPr>
          <p:nvPr>
            <p:ph idx="1"/>
          </p:nvPr>
        </p:nvPicPr>
        <p:blipFill>
          <a:blip r:embed="rId2"/>
          <a:stretch>
            <a:fillRect/>
          </a:stretch>
        </p:blipFill>
        <p:spPr>
          <a:xfrm>
            <a:off x="1214965" y="1882327"/>
            <a:ext cx="8199967" cy="1127268"/>
          </a:xfrm>
        </p:spPr>
      </p:pic>
      <p:pic>
        <p:nvPicPr>
          <p:cNvPr id="7" name="Picture 6">
            <a:extLst>
              <a:ext uri="{FF2B5EF4-FFF2-40B4-BE49-F238E27FC236}">
                <a16:creationId xmlns:a16="http://schemas.microsoft.com/office/drawing/2014/main" id="{72FAB5A5-5574-F81F-249D-BB969568440A}"/>
              </a:ext>
            </a:extLst>
          </p:cNvPr>
          <p:cNvPicPr>
            <a:picLocks noChangeAspect="1"/>
          </p:cNvPicPr>
          <p:nvPr/>
        </p:nvPicPr>
        <p:blipFill>
          <a:blip r:embed="rId3"/>
          <a:stretch>
            <a:fillRect/>
          </a:stretch>
        </p:blipFill>
        <p:spPr>
          <a:xfrm>
            <a:off x="1101344" y="3061766"/>
            <a:ext cx="9030208" cy="1330299"/>
          </a:xfrm>
          <a:prstGeom prst="rect">
            <a:avLst/>
          </a:prstGeom>
        </p:spPr>
      </p:pic>
      <p:pic>
        <p:nvPicPr>
          <p:cNvPr id="9" name="Picture 8">
            <a:extLst>
              <a:ext uri="{FF2B5EF4-FFF2-40B4-BE49-F238E27FC236}">
                <a16:creationId xmlns:a16="http://schemas.microsoft.com/office/drawing/2014/main" id="{0BC282E0-9483-D10B-44FC-43D0C9128835}"/>
              </a:ext>
            </a:extLst>
          </p:cNvPr>
          <p:cNvPicPr>
            <a:picLocks noChangeAspect="1"/>
          </p:cNvPicPr>
          <p:nvPr/>
        </p:nvPicPr>
        <p:blipFill>
          <a:blip r:embed="rId4"/>
          <a:stretch>
            <a:fillRect/>
          </a:stretch>
        </p:blipFill>
        <p:spPr>
          <a:xfrm>
            <a:off x="2450592" y="3870771"/>
            <a:ext cx="2066734" cy="509902"/>
          </a:xfrm>
          <a:prstGeom prst="rect">
            <a:avLst/>
          </a:prstGeom>
        </p:spPr>
      </p:pic>
      <p:pic>
        <p:nvPicPr>
          <p:cNvPr id="11" name="Picture 10">
            <a:extLst>
              <a:ext uri="{FF2B5EF4-FFF2-40B4-BE49-F238E27FC236}">
                <a16:creationId xmlns:a16="http://schemas.microsoft.com/office/drawing/2014/main" id="{BF42A054-C653-BEF0-0832-3036DD88C3C6}"/>
              </a:ext>
            </a:extLst>
          </p:cNvPr>
          <p:cNvPicPr>
            <a:picLocks noChangeAspect="1"/>
          </p:cNvPicPr>
          <p:nvPr/>
        </p:nvPicPr>
        <p:blipFill>
          <a:blip r:embed="rId5"/>
          <a:stretch>
            <a:fillRect/>
          </a:stretch>
        </p:blipFill>
        <p:spPr>
          <a:xfrm>
            <a:off x="8347606" y="3870771"/>
            <a:ext cx="3491045" cy="2987229"/>
          </a:xfrm>
          <a:prstGeom prst="rect">
            <a:avLst/>
          </a:prstGeom>
        </p:spPr>
      </p:pic>
    </p:spTree>
    <p:extLst>
      <p:ext uri="{BB962C8B-B14F-4D97-AF65-F5344CB8AC3E}">
        <p14:creationId xmlns:p14="http://schemas.microsoft.com/office/powerpoint/2010/main" val="42024580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98C3-D321-4FEE-1D22-B15F017F08EE}"/>
              </a:ext>
            </a:extLst>
          </p:cNvPr>
          <p:cNvSpPr>
            <a:spLocks noGrp="1"/>
          </p:cNvSpPr>
          <p:nvPr>
            <p:ph type="title"/>
          </p:nvPr>
        </p:nvSpPr>
        <p:spPr/>
        <p:txBody>
          <a:bodyPr/>
          <a:lstStyle/>
          <a:p>
            <a:r>
              <a:rPr lang="en-US" b="1" i="0" dirty="0">
                <a:solidFill>
                  <a:srgbClr val="2D2F31"/>
                </a:solidFill>
                <a:effectLst/>
                <a:latin typeface="Udemy Sans"/>
              </a:rPr>
              <a:t>Declaring and querying RDF Containers</a:t>
            </a:r>
            <a:endParaRPr lang="en-NL" dirty="0"/>
          </a:p>
        </p:txBody>
      </p:sp>
      <p:sp>
        <p:nvSpPr>
          <p:cNvPr id="4" name="Rectangle 1">
            <a:extLst>
              <a:ext uri="{FF2B5EF4-FFF2-40B4-BE49-F238E27FC236}">
                <a16:creationId xmlns:a16="http://schemas.microsoft.com/office/drawing/2014/main" id="{292C9B29-7E01-C936-DD48-D613594EB765}"/>
              </a:ext>
            </a:extLst>
          </p:cNvPr>
          <p:cNvSpPr>
            <a:spLocks noGrp="1" noChangeArrowheads="1"/>
          </p:cNvSpPr>
          <p:nvPr>
            <p:ph idx="1"/>
          </p:nvPr>
        </p:nvSpPr>
        <p:spPr bwMode="auto">
          <a:xfrm>
            <a:off x="891638" y="1654466"/>
            <a:ext cx="10272776" cy="2154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400" b="0" i="0" u="none" strike="noStrike" cap="none" normalizeH="0" baseline="0" dirty="0">
                <a:ln>
                  <a:noFill/>
                </a:ln>
                <a:solidFill>
                  <a:srgbClr val="2D2F31"/>
                </a:solidFill>
                <a:effectLst/>
                <a:latin typeface="Udemy Sans"/>
              </a:rPr>
              <a:t> load an instance of </a:t>
            </a:r>
            <a:r>
              <a:rPr kumimoji="0" lang="en-NL" altLang="en-NL" sz="1200" b="0" i="0" u="none" strike="noStrike" cap="none" normalizeH="0" baseline="0" dirty="0" err="1">
                <a:ln>
                  <a:noFill/>
                </a:ln>
                <a:solidFill>
                  <a:srgbClr val="B4690E"/>
                </a:solidFill>
                <a:effectLst/>
                <a:latin typeface="sfmono-regular"/>
              </a:rPr>
              <a:t>rdf:Bag</a:t>
            </a:r>
            <a:r>
              <a:rPr kumimoji="0" lang="en-NL" altLang="en-NL" sz="1400" b="0" i="0" u="none" strike="noStrike" cap="none" normalizeH="0" baseline="0" dirty="0">
                <a:ln>
                  <a:noFill/>
                </a:ln>
                <a:solidFill>
                  <a:srgbClr val="2D2F31"/>
                </a:solidFill>
                <a:effectLst/>
                <a:latin typeface="Udemy Sans"/>
              </a:rPr>
              <a:t> and an instance of </a:t>
            </a:r>
            <a:r>
              <a:rPr kumimoji="0" lang="en-NL" altLang="en-NL" sz="1200" b="0" i="0" u="none" strike="noStrike" cap="none" normalizeH="0" baseline="0" dirty="0" err="1">
                <a:ln>
                  <a:noFill/>
                </a:ln>
                <a:solidFill>
                  <a:srgbClr val="B4690E"/>
                </a:solidFill>
                <a:effectLst/>
                <a:latin typeface="sfmono-regular"/>
              </a:rPr>
              <a:t>rdf:Seq</a:t>
            </a:r>
            <a:r>
              <a:rPr kumimoji="0" lang="en-NL" altLang="en-NL" sz="1400" b="0" i="0" u="none" strike="noStrike" cap="none" normalizeH="0" baseline="0" dirty="0">
                <a:ln>
                  <a:noFill/>
                </a:ln>
                <a:solidFill>
                  <a:srgbClr val="2D2F31"/>
                </a:solidFill>
                <a:effectLst/>
                <a:latin typeface="Udemy Sans"/>
              </a:rPr>
              <a:t> in two different named graphs.</a:t>
            </a:r>
            <a:r>
              <a:rPr kumimoji="0" lang="en-NL" altLang="en-NL" sz="400" b="0" i="0" u="none" strike="noStrike" cap="none" normalizeH="0" baseline="0" dirty="0">
                <a:ln>
                  <a:noFill/>
                </a:ln>
                <a:solidFill>
                  <a:schemeClr val="tx1"/>
                </a:solidFill>
                <a:effectLst/>
              </a:rPr>
              <a:t> </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2F6316A4-5F4D-ADD3-DEC5-18FD69E8791C}"/>
              </a:ext>
            </a:extLst>
          </p:cNvPr>
          <p:cNvPicPr>
            <a:picLocks noChangeAspect="1"/>
          </p:cNvPicPr>
          <p:nvPr/>
        </p:nvPicPr>
        <p:blipFill>
          <a:blip r:embed="rId2"/>
          <a:stretch>
            <a:fillRect/>
          </a:stretch>
        </p:blipFill>
        <p:spPr>
          <a:xfrm>
            <a:off x="764032" y="2981434"/>
            <a:ext cx="6063540" cy="3718070"/>
          </a:xfrm>
          <a:prstGeom prst="rect">
            <a:avLst/>
          </a:prstGeom>
        </p:spPr>
      </p:pic>
      <p:pic>
        <p:nvPicPr>
          <p:cNvPr id="8" name="Picture 7">
            <a:extLst>
              <a:ext uri="{FF2B5EF4-FFF2-40B4-BE49-F238E27FC236}">
                <a16:creationId xmlns:a16="http://schemas.microsoft.com/office/drawing/2014/main" id="{D894CC6C-925F-5E82-C457-30F4998D97E0}"/>
              </a:ext>
            </a:extLst>
          </p:cNvPr>
          <p:cNvPicPr>
            <a:picLocks noChangeAspect="1"/>
          </p:cNvPicPr>
          <p:nvPr/>
        </p:nvPicPr>
        <p:blipFill>
          <a:blip r:embed="rId3"/>
          <a:stretch>
            <a:fillRect/>
          </a:stretch>
        </p:blipFill>
        <p:spPr>
          <a:xfrm>
            <a:off x="731520" y="1967271"/>
            <a:ext cx="5296506" cy="1046933"/>
          </a:xfrm>
          <a:prstGeom prst="rect">
            <a:avLst/>
          </a:prstGeom>
        </p:spPr>
      </p:pic>
    </p:spTree>
    <p:extLst>
      <p:ext uri="{BB962C8B-B14F-4D97-AF65-F5344CB8AC3E}">
        <p14:creationId xmlns:p14="http://schemas.microsoft.com/office/powerpoint/2010/main" val="4946633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C059F1-2EFB-D3D6-4F3E-18A7E40D7145}"/>
              </a:ext>
            </a:extLst>
          </p:cNvPr>
          <p:cNvPicPr>
            <a:picLocks noGrp="1" noChangeAspect="1"/>
          </p:cNvPicPr>
          <p:nvPr>
            <p:ph idx="1"/>
          </p:nvPr>
        </p:nvPicPr>
        <p:blipFill>
          <a:blip r:embed="rId2"/>
          <a:stretch>
            <a:fillRect/>
          </a:stretch>
        </p:blipFill>
        <p:spPr>
          <a:xfrm>
            <a:off x="652381" y="2045081"/>
            <a:ext cx="8172486" cy="4351338"/>
          </a:xfrm>
        </p:spPr>
      </p:pic>
      <p:sp>
        <p:nvSpPr>
          <p:cNvPr id="6" name="Rectangle 1">
            <a:extLst>
              <a:ext uri="{FF2B5EF4-FFF2-40B4-BE49-F238E27FC236}">
                <a16:creationId xmlns:a16="http://schemas.microsoft.com/office/drawing/2014/main" id="{71C24115-2666-8E3C-3A70-5B91879CFE84}"/>
              </a:ext>
            </a:extLst>
          </p:cNvPr>
          <p:cNvSpPr>
            <a:spLocks noGrp="1" noChangeArrowheads="1"/>
          </p:cNvSpPr>
          <p:nvPr>
            <p:ph type="title"/>
          </p:nvPr>
        </p:nvSpPr>
        <p:spPr bwMode="auto">
          <a:xfrm>
            <a:off x="1060704" y="893288"/>
            <a:ext cx="8265160"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rgbClr val="2D2F31"/>
                </a:solidFill>
                <a:effectLst/>
                <a:latin typeface="Udemy Sans"/>
              </a:rPr>
              <a:t>Compose and run a SPARQL query to retrieve from </a:t>
            </a:r>
            <a:r>
              <a:rPr kumimoji="0" lang="en-NL" altLang="en-NL" sz="1200" b="0" i="0" u="none" strike="noStrike" cap="none" normalizeH="0" baseline="0" dirty="0">
                <a:ln>
                  <a:noFill/>
                </a:ln>
                <a:solidFill>
                  <a:srgbClr val="B4690E"/>
                </a:solidFill>
                <a:effectLst/>
                <a:latin typeface="sfmono-regular"/>
              </a:rPr>
              <a:t>:</a:t>
            </a:r>
            <a:r>
              <a:rPr kumimoji="0" lang="en-NL" altLang="en-NL" sz="1200" b="0" i="0" u="none" strike="noStrike" cap="none" normalizeH="0" baseline="0" dirty="0" err="1">
                <a:ln>
                  <a:noFill/>
                </a:ln>
                <a:solidFill>
                  <a:srgbClr val="B4690E"/>
                </a:solidFill>
                <a:effectLst/>
                <a:latin typeface="sfmono-regular"/>
              </a:rPr>
              <a:t>Travel_Bucket_Lists</a:t>
            </a:r>
            <a:r>
              <a:rPr kumimoji="0" lang="en-NL" altLang="en-NL" sz="400" b="0" i="0" u="none" strike="noStrike" cap="none" normalizeH="0" baseline="0" dirty="0">
                <a:ln>
                  <a:noFill/>
                </a:ln>
                <a:solidFill>
                  <a:srgbClr val="2D2F31"/>
                </a:solidFill>
                <a:effectLst/>
                <a:latin typeface="Udemy Sans"/>
              </a:rPr>
              <a:t> </a:t>
            </a:r>
            <a:r>
              <a:rPr kumimoji="0" lang="en-NL" altLang="en-NL" sz="1800" b="0" i="0" u="none" strike="noStrike" cap="none" normalizeH="0" baseline="0" dirty="0">
                <a:ln>
                  <a:noFill/>
                </a:ln>
                <a:solidFill>
                  <a:srgbClr val="2D2F31"/>
                </a:solidFill>
                <a:effectLst/>
                <a:latin typeface="Udemy Sans"/>
              </a:rPr>
              <a:t>graph and </a:t>
            </a:r>
            <a:r>
              <a:rPr kumimoji="0" lang="en-NL" altLang="en-NL" sz="1200" b="0" i="0" u="none" strike="noStrike" cap="none" normalizeH="0" baseline="0" dirty="0">
                <a:ln>
                  <a:noFill/>
                </a:ln>
                <a:solidFill>
                  <a:srgbClr val="B4690E"/>
                </a:solidFill>
                <a:effectLst/>
                <a:latin typeface="sfmono-regular"/>
              </a:rPr>
              <a:t>:</a:t>
            </a:r>
            <a:r>
              <a:rPr kumimoji="0" lang="en-NL" altLang="en-NL" sz="1200" b="0" i="0" u="none" strike="noStrike" cap="none" normalizeH="0" baseline="0" dirty="0" err="1">
                <a:ln>
                  <a:noFill/>
                </a:ln>
                <a:solidFill>
                  <a:srgbClr val="B4690E"/>
                </a:solidFill>
                <a:effectLst/>
                <a:latin typeface="sfmono-regular"/>
              </a:rPr>
              <a:t>General_Country_Info_Graph</a:t>
            </a:r>
            <a:r>
              <a:rPr kumimoji="0" lang="en-NL" altLang="en-NL" sz="400" b="0" i="0" u="none" strike="noStrike" cap="none" normalizeH="0" baseline="0" dirty="0">
                <a:ln>
                  <a:noFill/>
                </a:ln>
                <a:solidFill>
                  <a:srgbClr val="2D2F31"/>
                </a:solidFill>
                <a:effectLst/>
                <a:latin typeface="Udemy Sans"/>
              </a:rPr>
              <a:t> </a:t>
            </a:r>
            <a:r>
              <a:rPr kumimoji="0" lang="en-NL" altLang="en-NL" sz="1800" b="0" i="0" u="none" strike="noStrike" cap="none" normalizeH="0" baseline="0" dirty="0">
                <a:ln>
                  <a:noFill/>
                </a:ln>
                <a:solidFill>
                  <a:srgbClr val="2D2F31"/>
                </a:solidFill>
                <a:effectLst/>
                <a:latin typeface="Udemy Sans"/>
              </a:rPr>
              <a:t>as the default graph, the </a:t>
            </a:r>
            <a:r>
              <a:rPr kumimoji="0" lang="en-NL" altLang="en-NL" sz="1800" b="1" i="0" u="none" strike="noStrike" cap="none" normalizeH="0" baseline="0" dirty="0">
                <a:ln>
                  <a:noFill/>
                </a:ln>
                <a:solidFill>
                  <a:srgbClr val="2D2F31"/>
                </a:solidFill>
                <a:effectLst/>
                <a:latin typeface="Udemy Sans"/>
              </a:rPr>
              <a:t>names of all countries</a:t>
            </a:r>
            <a:r>
              <a:rPr kumimoji="0" lang="en-NL" altLang="en-NL" sz="1800" b="0" i="0" u="none" strike="noStrike" cap="none" normalizeH="0" baseline="0" dirty="0">
                <a:ln>
                  <a:noFill/>
                </a:ln>
                <a:solidFill>
                  <a:srgbClr val="2D2F31"/>
                </a:solidFill>
                <a:effectLst/>
                <a:latin typeface="Udemy Sans"/>
              </a:rPr>
              <a:t> that start with an uppercase vowel in the container </a:t>
            </a:r>
            <a:r>
              <a:rPr kumimoji="0" lang="en-NL" altLang="en-NL" sz="1200" b="0" i="0" u="none" strike="noStrike" cap="none" normalizeH="0" baseline="0" dirty="0">
                <a:ln>
                  <a:noFill/>
                </a:ln>
                <a:solidFill>
                  <a:srgbClr val="B4690E"/>
                </a:solidFill>
                <a:effectLst/>
                <a:latin typeface="sfmono-regular"/>
              </a:rPr>
              <a:t>:</a:t>
            </a:r>
            <a:r>
              <a:rPr kumimoji="0" lang="en-NL" altLang="en-NL" sz="1200" b="0" i="0" u="none" strike="noStrike" cap="none" normalizeH="0" baseline="0" dirty="0" err="1">
                <a:ln>
                  <a:noFill/>
                </a:ln>
                <a:solidFill>
                  <a:srgbClr val="B4690E"/>
                </a:solidFill>
                <a:effectLst/>
                <a:latin typeface="sfmono-regular"/>
              </a:rPr>
              <a:t>My_Travel_Bucket_List</a:t>
            </a:r>
            <a:endParaRPr kumimoji="0" lang="en-NL" altLang="en-NL"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rgbClr val="2D2F31"/>
                </a:solidFill>
                <a:effectLst/>
                <a:latin typeface="Udemy Sans"/>
              </a:rPr>
              <a:t>Also display in the list of results the </a:t>
            </a:r>
            <a:r>
              <a:rPr kumimoji="0" lang="en-NL" altLang="en-NL" sz="1800" b="1" i="0" u="none" strike="noStrike" cap="none" normalizeH="0" baseline="0" dirty="0">
                <a:ln>
                  <a:noFill/>
                </a:ln>
                <a:solidFill>
                  <a:srgbClr val="2D2F31"/>
                </a:solidFill>
                <a:effectLst/>
                <a:latin typeface="Udemy Sans"/>
              </a:rPr>
              <a:t>index of the countries</a:t>
            </a:r>
            <a:r>
              <a:rPr kumimoji="0" lang="en-NL" altLang="en-NL" sz="1800" b="0" i="0" u="none" strike="noStrike" cap="none" normalizeH="0" baseline="0" dirty="0">
                <a:ln>
                  <a:noFill/>
                </a:ln>
                <a:solidFill>
                  <a:srgbClr val="2D2F31"/>
                </a:solidFill>
                <a:effectLst/>
                <a:latin typeface="Udemy Sans"/>
              </a:rPr>
              <a:t> in the container as an </a:t>
            </a:r>
            <a:r>
              <a:rPr kumimoji="0" lang="en-NL" altLang="en-NL" sz="1200" b="0" i="0" u="none" strike="noStrike" cap="none" normalizeH="0" baseline="0" dirty="0" err="1">
                <a:ln>
                  <a:noFill/>
                </a:ln>
                <a:solidFill>
                  <a:srgbClr val="B4690E"/>
                </a:solidFill>
                <a:effectLst/>
                <a:latin typeface="sfmono-regular"/>
              </a:rPr>
              <a:t>xsd:integer</a:t>
            </a: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33174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4E162-5322-CECA-5EC0-5BBA210C5AB9}"/>
              </a:ext>
            </a:extLst>
          </p:cNvPr>
          <p:cNvSpPr>
            <a:spLocks noGrp="1"/>
          </p:cNvSpPr>
          <p:nvPr>
            <p:ph type="title"/>
          </p:nvPr>
        </p:nvSpPr>
        <p:spPr/>
        <p:txBody>
          <a:bodyPr/>
          <a:lstStyle/>
          <a:p>
            <a:r>
              <a:rPr lang="en-US" dirty="0"/>
              <a:t>Some tutorial </a:t>
            </a:r>
            <a:endParaRPr lang="en-NL" dirty="0"/>
          </a:p>
        </p:txBody>
      </p:sp>
      <p:sp>
        <p:nvSpPr>
          <p:cNvPr id="3" name="Content Placeholder 2">
            <a:extLst>
              <a:ext uri="{FF2B5EF4-FFF2-40B4-BE49-F238E27FC236}">
                <a16:creationId xmlns:a16="http://schemas.microsoft.com/office/drawing/2014/main" id="{580C37A7-EBDD-67FA-E7FE-7FC1A944A83F}"/>
              </a:ext>
            </a:extLst>
          </p:cNvPr>
          <p:cNvSpPr>
            <a:spLocks noGrp="1"/>
          </p:cNvSpPr>
          <p:nvPr>
            <p:ph idx="1"/>
          </p:nvPr>
        </p:nvSpPr>
        <p:spPr/>
        <p:txBody>
          <a:bodyPr/>
          <a:lstStyle/>
          <a:p>
            <a:r>
              <a:rPr lang="en-US" dirty="0">
                <a:hlinkClick r:id="rId2"/>
              </a:rPr>
              <a:t>https://atomgraph.github.io/SPARQL-Playground/</a:t>
            </a:r>
            <a:endParaRPr lang="en-US" dirty="0"/>
          </a:p>
          <a:p>
            <a:r>
              <a:rPr lang="en-US" dirty="0">
                <a:hlinkClick r:id="rId3"/>
              </a:rPr>
              <a:t>https://docs.data.world/tutorials/sparql/Your_First_Sparql_Query.html</a:t>
            </a:r>
            <a:endParaRPr lang="en-US" dirty="0"/>
          </a:p>
          <a:p>
            <a:endParaRPr lang="en-NL" dirty="0"/>
          </a:p>
        </p:txBody>
      </p:sp>
    </p:spTree>
    <p:extLst>
      <p:ext uri="{BB962C8B-B14F-4D97-AF65-F5344CB8AC3E}">
        <p14:creationId xmlns:p14="http://schemas.microsoft.com/office/powerpoint/2010/main" val="9669149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0F4CC-F0C0-057C-6AB1-D2631436CB5D}"/>
              </a:ext>
            </a:extLst>
          </p:cNvPr>
          <p:cNvSpPr>
            <a:spLocks noGrp="1"/>
          </p:cNvSpPr>
          <p:nvPr>
            <p:ph type="title"/>
          </p:nvPr>
        </p:nvSpPr>
        <p:spPr/>
        <p:txBody>
          <a:bodyPr/>
          <a:lstStyle/>
          <a:p>
            <a:r>
              <a:rPr lang="en-US" dirty="0"/>
              <a:t>Python packages </a:t>
            </a:r>
            <a:endParaRPr lang="en-NL" dirty="0"/>
          </a:p>
        </p:txBody>
      </p:sp>
      <p:sp>
        <p:nvSpPr>
          <p:cNvPr id="3" name="Content Placeholder 2">
            <a:extLst>
              <a:ext uri="{FF2B5EF4-FFF2-40B4-BE49-F238E27FC236}">
                <a16:creationId xmlns:a16="http://schemas.microsoft.com/office/drawing/2014/main" id="{32F31A66-7870-CDA8-FC20-53E5076E7DE0}"/>
              </a:ext>
            </a:extLst>
          </p:cNvPr>
          <p:cNvSpPr>
            <a:spLocks noGrp="1"/>
          </p:cNvSpPr>
          <p:nvPr>
            <p:ph idx="1"/>
          </p:nvPr>
        </p:nvSpPr>
        <p:spPr/>
        <p:txBody>
          <a:bodyPr/>
          <a:lstStyle/>
          <a:p>
            <a:r>
              <a:rPr lang="en-US" dirty="0">
                <a:hlinkClick r:id="rId2"/>
              </a:rPr>
              <a:t>https://owlready2.readthedocs.io/en/latest/intro.html</a:t>
            </a:r>
            <a:endParaRPr lang="en-US" dirty="0"/>
          </a:p>
          <a:p>
            <a:r>
              <a:rPr lang="en-US" dirty="0" err="1"/>
              <a:t>RDFLib</a:t>
            </a:r>
            <a:r>
              <a:rPr lang="en-US" dirty="0"/>
              <a:t> : </a:t>
            </a:r>
            <a:r>
              <a:rPr lang="en-US" dirty="0">
                <a:hlinkClick r:id="rId3"/>
              </a:rPr>
              <a:t>https://rdflib.readthedocs.io/en/stable/index.html</a:t>
            </a:r>
            <a:endParaRPr lang="en-US" dirty="0"/>
          </a:p>
          <a:p>
            <a:r>
              <a:rPr lang="en-US" dirty="0"/>
              <a:t>Read: </a:t>
            </a:r>
            <a:r>
              <a:rPr lang="en-US" dirty="0">
                <a:hlinkClick r:id="rId4"/>
              </a:rPr>
              <a:t>https://www.oclc.org/developer/news/2016/making-sense-of-linked-data-with-python.en.html</a:t>
            </a:r>
            <a:endParaRPr lang="en-US" dirty="0"/>
          </a:p>
          <a:p>
            <a:endParaRPr lang="en-US" dirty="0"/>
          </a:p>
          <a:p>
            <a:endParaRPr lang="en-NL" dirty="0"/>
          </a:p>
        </p:txBody>
      </p:sp>
    </p:spTree>
    <p:extLst>
      <p:ext uri="{BB962C8B-B14F-4D97-AF65-F5344CB8AC3E}">
        <p14:creationId xmlns:p14="http://schemas.microsoft.com/office/powerpoint/2010/main" val="20049242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DE697-CDA8-BDDC-C9D4-546C9D99DAAB}"/>
              </a:ext>
            </a:extLst>
          </p:cNvPr>
          <p:cNvSpPr>
            <a:spLocks noGrp="1"/>
          </p:cNvSpPr>
          <p:nvPr>
            <p:ph type="title"/>
          </p:nvPr>
        </p:nvSpPr>
        <p:spPr/>
        <p:txBody>
          <a:bodyPr/>
          <a:lstStyle/>
          <a:p>
            <a:r>
              <a:rPr lang="en-US" dirty="0"/>
              <a:t>Useful to read </a:t>
            </a:r>
            <a:endParaRPr lang="en-NL" dirty="0"/>
          </a:p>
        </p:txBody>
      </p:sp>
      <p:sp>
        <p:nvSpPr>
          <p:cNvPr id="3" name="Content Placeholder 2">
            <a:extLst>
              <a:ext uri="{FF2B5EF4-FFF2-40B4-BE49-F238E27FC236}">
                <a16:creationId xmlns:a16="http://schemas.microsoft.com/office/drawing/2014/main" id="{E0758575-10B6-284E-ABE3-AAFFAE4B12E1}"/>
              </a:ext>
            </a:extLst>
          </p:cNvPr>
          <p:cNvSpPr>
            <a:spLocks noGrp="1"/>
          </p:cNvSpPr>
          <p:nvPr>
            <p:ph idx="1"/>
          </p:nvPr>
        </p:nvSpPr>
        <p:spPr/>
        <p:txBody>
          <a:bodyPr/>
          <a:lstStyle/>
          <a:p>
            <a:r>
              <a:rPr lang="en-US" b="0" i="0" dirty="0">
                <a:solidFill>
                  <a:srgbClr val="1E1E1E"/>
                </a:solidFill>
                <a:effectLst/>
                <a:latin typeface="Segoe UI Light" panose="020B0502040204020203" pitchFamily="34" charset="0"/>
              </a:rPr>
              <a:t>Database design basics:</a:t>
            </a:r>
          </a:p>
          <a:p>
            <a:r>
              <a:rPr lang="en-US" dirty="0">
                <a:hlinkClick r:id="rId2"/>
              </a:rPr>
              <a:t>https://support.microsoft.com/en-gb/office/database-design-basics-eb2159cf-1e30-401a-8084-bd4f9c9ca1f5</a:t>
            </a:r>
            <a:endParaRPr lang="en-US" dirty="0"/>
          </a:p>
          <a:p>
            <a:r>
              <a:rPr lang="en-US" dirty="0">
                <a:solidFill>
                  <a:srgbClr val="1E1E1E"/>
                </a:solidFill>
                <a:latin typeface="Segoe UI Light" panose="020B0502040204020203" pitchFamily="34" charset="0"/>
              </a:rPr>
              <a:t>From SQL Tables To </a:t>
            </a:r>
            <a:r>
              <a:rPr lang="en-US" dirty="0" err="1">
                <a:solidFill>
                  <a:srgbClr val="1E1E1E"/>
                </a:solidFill>
                <a:latin typeface="Segoe UI Light" panose="020B0502040204020203" pitchFamily="34" charset="0"/>
              </a:rPr>
              <a:t>Sparql</a:t>
            </a:r>
            <a:r>
              <a:rPr lang="en-US" dirty="0">
                <a:solidFill>
                  <a:srgbClr val="1E1E1E"/>
                </a:solidFill>
                <a:latin typeface="Segoe UI Light" panose="020B0502040204020203" pitchFamily="34" charset="0"/>
              </a:rPr>
              <a:t> Graphs ()</a:t>
            </a:r>
          </a:p>
          <a:p>
            <a:r>
              <a:rPr lang="en-US" b="0" i="0" dirty="0">
                <a:solidFill>
                  <a:srgbClr val="000000"/>
                </a:solidFill>
                <a:effectLst/>
                <a:latin typeface="Nimbus Sans"/>
              </a:rPr>
              <a:t>RDF </a:t>
            </a:r>
            <a:r>
              <a:rPr lang="en-US" b="0" i="0" dirty="0" err="1">
                <a:solidFill>
                  <a:srgbClr val="000000"/>
                </a:solidFill>
                <a:effectLst/>
                <a:latin typeface="Nimbus Sans"/>
              </a:rPr>
              <a:t>grapher</a:t>
            </a:r>
            <a:r>
              <a:rPr lang="en-US" b="0" i="0" dirty="0">
                <a:solidFill>
                  <a:srgbClr val="000000"/>
                </a:solidFill>
                <a:effectLst/>
                <a:latin typeface="Nimbus Sans"/>
              </a:rPr>
              <a:t> is a web service for parsing RDF data and visualizing it as a graph:  </a:t>
            </a:r>
            <a:r>
              <a:rPr lang="en-US" dirty="0">
                <a:solidFill>
                  <a:srgbClr val="1E1E1E"/>
                </a:solidFill>
                <a:latin typeface="Segoe UI Light" panose="020B0502040204020203" pitchFamily="34" charset="0"/>
                <a:hlinkClick r:id="rId3"/>
              </a:rPr>
              <a:t>https://www.ldf.fi/service/rdf-grapher</a:t>
            </a:r>
            <a:endParaRPr lang="en-US" dirty="0">
              <a:solidFill>
                <a:srgbClr val="1E1E1E"/>
              </a:solidFill>
              <a:latin typeface="Segoe UI Light" panose="020B0502040204020203" pitchFamily="34" charset="0"/>
            </a:endParaRPr>
          </a:p>
          <a:p>
            <a:r>
              <a:rPr lang="en-US" dirty="0" err="1">
                <a:solidFill>
                  <a:srgbClr val="1E1E1E"/>
                </a:solidFill>
                <a:latin typeface="Segoe UI Light" panose="020B0502040204020203" pitchFamily="34" charset="0"/>
              </a:rPr>
              <a:t>Stardog</a:t>
            </a:r>
            <a:r>
              <a:rPr lang="en-US" dirty="0">
                <a:solidFill>
                  <a:srgbClr val="1E1E1E"/>
                </a:solidFill>
                <a:latin typeface="Segoe UI Light" panose="020B0502040204020203" pitchFamily="34" charset="0"/>
              </a:rPr>
              <a:t>: </a:t>
            </a:r>
            <a:r>
              <a:rPr lang="en-US" dirty="0">
                <a:solidFill>
                  <a:srgbClr val="1E1E1E"/>
                </a:solidFill>
                <a:latin typeface="Segoe UI Light" panose="020B0502040204020203" pitchFamily="34" charset="0"/>
                <a:hlinkClick r:id="rId4"/>
              </a:rPr>
              <a:t>https://docs.stardog.com/tutorials/rdf-graph-data-model</a:t>
            </a:r>
            <a:endParaRPr lang="en-US" dirty="0">
              <a:solidFill>
                <a:srgbClr val="1E1E1E"/>
              </a:solidFill>
              <a:latin typeface="Segoe UI Light" panose="020B0502040204020203" pitchFamily="34" charset="0"/>
            </a:endParaRPr>
          </a:p>
          <a:p>
            <a:endParaRPr lang="en-US" dirty="0">
              <a:solidFill>
                <a:srgbClr val="1E1E1E"/>
              </a:solidFill>
              <a:latin typeface="Segoe UI Light" panose="020B0502040204020203" pitchFamily="34" charset="0"/>
            </a:endParaRPr>
          </a:p>
          <a:p>
            <a:endParaRPr lang="en-US" dirty="0">
              <a:solidFill>
                <a:srgbClr val="1E1E1E"/>
              </a:solidFill>
              <a:latin typeface="Segoe UI Light" panose="020B0502040204020203" pitchFamily="34" charset="0"/>
            </a:endParaRPr>
          </a:p>
          <a:p>
            <a:endParaRPr lang="en-US" dirty="0">
              <a:solidFill>
                <a:srgbClr val="1E1E1E"/>
              </a:solidFill>
              <a:latin typeface="Segoe UI Light" panose="020B0502040204020203" pitchFamily="34" charset="0"/>
            </a:endParaRPr>
          </a:p>
          <a:p>
            <a:endParaRPr lang="en-US" dirty="0"/>
          </a:p>
          <a:p>
            <a:endParaRPr lang="en-NL" dirty="0"/>
          </a:p>
        </p:txBody>
      </p:sp>
    </p:spTree>
    <p:extLst>
      <p:ext uri="{BB962C8B-B14F-4D97-AF65-F5344CB8AC3E}">
        <p14:creationId xmlns:p14="http://schemas.microsoft.com/office/powerpoint/2010/main" val="13412271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9B362-12CD-4B2C-686E-1CEC7403618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EB80DD9-6C1A-6A22-F2F7-CF1D8D4FDEBB}"/>
              </a:ext>
            </a:extLst>
          </p:cNvPr>
          <p:cNvSpPr>
            <a:spLocks noGrp="1"/>
          </p:cNvSpPr>
          <p:nvPr>
            <p:ph idx="1"/>
          </p:nvPr>
        </p:nvSpPr>
        <p:spPr/>
        <p:txBody>
          <a:bodyPr/>
          <a:lstStyle/>
          <a:p>
            <a:r>
              <a:rPr lang="en-US" dirty="0">
                <a:hlinkClick r:id="rId2"/>
              </a:rPr>
              <a:t>https://raghavam.github.io/teaching/monsoon2018/ontmodelling/intro-owl.html#/15</a:t>
            </a:r>
            <a:endParaRPr lang="en-US" dirty="0"/>
          </a:p>
          <a:p>
            <a:endParaRPr lang="en-NL" dirty="0"/>
          </a:p>
        </p:txBody>
      </p:sp>
    </p:spTree>
    <p:extLst>
      <p:ext uri="{BB962C8B-B14F-4D97-AF65-F5344CB8AC3E}">
        <p14:creationId xmlns:p14="http://schemas.microsoft.com/office/powerpoint/2010/main" val="3571232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6567</TotalTime>
  <Words>2688</Words>
  <Application>Microsoft Office PowerPoint</Application>
  <PresentationFormat>Widescreen</PresentationFormat>
  <Paragraphs>219</Paragraphs>
  <Slides>73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73</vt:i4>
      </vt:variant>
    </vt:vector>
  </HeadingPairs>
  <TitlesOfParts>
    <vt:vector size="87" baseType="lpstr">
      <vt:lpstr>-apple-system</vt:lpstr>
      <vt:lpstr>Aptos</vt:lpstr>
      <vt:lpstr>Aptos Display</vt:lpstr>
      <vt:lpstr>Arial</vt:lpstr>
      <vt:lpstr>Arial Unicode MS</vt:lpstr>
      <vt:lpstr>Nimbus Sans</vt:lpstr>
      <vt:lpstr>Roboto</vt:lpstr>
      <vt:lpstr>Segoe UI Light</vt:lpstr>
      <vt:lpstr>sfmono-regular</vt:lpstr>
      <vt:lpstr>sohne</vt:lpstr>
      <vt:lpstr>source-code-pro</vt:lpstr>
      <vt:lpstr>source-serif-pro</vt:lpstr>
      <vt:lpstr>Udemy Sans</vt:lpstr>
      <vt:lpstr>Office Theme</vt:lpstr>
      <vt:lpstr>Web Ontology Language </vt:lpstr>
      <vt:lpstr>Introduction</vt:lpstr>
      <vt:lpstr>How knowledge is represented in OWL?</vt:lpstr>
      <vt:lpstr>Having a closer look at statements in OWL Axioms</vt:lpstr>
      <vt:lpstr>Entities</vt:lpstr>
      <vt:lpstr>Expressions </vt:lpstr>
      <vt:lpstr>Classes and Instances </vt:lpstr>
      <vt:lpstr>Object Properties </vt:lpstr>
      <vt:lpstr>PowerPoint Presentation</vt:lpstr>
      <vt:lpstr>PowerPoint Presentation</vt:lpstr>
      <vt:lpstr>Understanding Linked Data Formats</vt:lpstr>
      <vt:lpstr>Introduction </vt:lpstr>
      <vt:lpstr>N-Triples </vt:lpstr>
      <vt:lpstr>N-Triples format </vt:lpstr>
      <vt:lpstr>Turtle </vt:lpstr>
      <vt:lpstr>RDF/XML </vt:lpstr>
      <vt:lpstr>What is SPARQL? </vt:lpstr>
      <vt:lpstr>PowerPoint Presentation</vt:lpstr>
      <vt:lpstr>Olympics RDF data Examples: </vt:lpstr>
      <vt:lpstr>Query </vt:lpstr>
      <vt:lpstr>PowerPoint Presentation</vt:lpstr>
      <vt:lpstr>Query</vt:lpstr>
      <vt:lpstr>PowerPoint Presentation</vt:lpstr>
      <vt:lpstr>Tools </vt:lpstr>
      <vt:lpstr>GraphDB </vt:lpstr>
      <vt:lpstr>GraphDB</vt:lpstr>
      <vt:lpstr>Creation of repository</vt:lpstr>
      <vt:lpstr>Import data </vt:lpstr>
      <vt:lpstr>PowerPoint Presentation</vt:lpstr>
      <vt:lpstr>PowerPoint Presentation</vt:lpstr>
      <vt:lpstr>Blazegraph (Udemy course recommended this one)</vt:lpstr>
      <vt:lpstr>PowerPoint Presentation</vt:lpstr>
      <vt:lpstr>PowerPoint Presentation</vt:lpstr>
      <vt:lpstr>Quick start with Blazegraph</vt:lpstr>
      <vt:lpstr>Load data  </vt:lpstr>
      <vt:lpstr>Specify the prefix for our graph</vt:lpstr>
      <vt:lpstr>Query </vt:lpstr>
      <vt:lpstr>Query</vt:lpstr>
      <vt:lpstr>Sum in the query</vt:lpstr>
      <vt:lpstr>IN and NOT IN filter</vt:lpstr>
      <vt:lpstr>IN and NOT IN filter</vt:lpstr>
      <vt:lpstr>IN and NOT IN filter</vt:lpstr>
      <vt:lpstr>Challenge</vt:lpstr>
      <vt:lpstr>Function STRENDS, STRSTARTS</vt:lpstr>
      <vt:lpstr>Functions</vt:lpstr>
      <vt:lpstr>Transposing data in tables with OPTIONAL</vt:lpstr>
      <vt:lpstr>Subquery</vt:lpstr>
      <vt:lpstr>Subquery</vt:lpstr>
      <vt:lpstr>Subquery</vt:lpstr>
      <vt:lpstr>Concatenating elements with GROUP_CONCAT</vt:lpstr>
      <vt:lpstr>PowerPoint Presentation</vt:lpstr>
      <vt:lpstr>Exercises </vt:lpstr>
      <vt:lpstr>Exercises</vt:lpstr>
      <vt:lpstr>Exercises</vt:lpstr>
      <vt:lpstr>RDFS classes</vt:lpstr>
      <vt:lpstr>Automating class creation with SPARQL INSERT</vt:lpstr>
      <vt:lpstr>PowerPoint Presentation</vt:lpstr>
      <vt:lpstr>RDFS classes</vt:lpstr>
      <vt:lpstr>PowerPoint Presentation</vt:lpstr>
      <vt:lpstr>Automating property creation with SPARQL INSERT</vt:lpstr>
      <vt:lpstr>Construct</vt:lpstr>
      <vt:lpstr>PowerPoint Presentation</vt:lpstr>
      <vt:lpstr>PowerPoint Presentation</vt:lpstr>
      <vt:lpstr>PowerPoint Presentation</vt:lpstr>
      <vt:lpstr>Constructing the graph schema</vt:lpstr>
      <vt:lpstr>PowerPoint Presentation</vt:lpstr>
      <vt:lpstr>PowerPoint Presentation</vt:lpstr>
      <vt:lpstr>Declaring and querying RDF Containers</vt:lpstr>
      <vt:lpstr>Compose and run a SPARQL query to retrieve from :Travel_Bucket_Lists graph and :General_Country_Info_Graph as the default graph, the names of all countries that start with an uppercase vowel in the container :My_Travel_Bucket_List Also display in the list of results the index of the countries in the container as an xsd:integer</vt:lpstr>
      <vt:lpstr>Some tutorial </vt:lpstr>
      <vt:lpstr>Python packages </vt:lpstr>
      <vt:lpstr>Useful to read </vt:lpstr>
      <vt:lpstr>PowerPoint Presentation</vt:lpstr>
    </vt:vector>
  </TitlesOfParts>
  <Company>Visma Connect 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Ontology Language </dc:title>
  <dc:creator>Elham Nour Ghassemi</dc:creator>
  <cp:lastModifiedBy>Elham NourGhassemi</cp:lastModifiedBy>
  <cp:revision>104</cp:revision>
  <dcterms:created xsi:type="dcterms:W3CDTF">2024-03-18T11:11:50Z</dcterms:created>
  <dcterms:modified xsi:type="dcterms:W3CDTF">2026-01-06T16:06:50Z</dcterms:modified>
</cp:coreProperties>
</file>